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4060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73" r:id="rId32"/>
    <p:sldId id="274" r:id="rId33"/>
    <p:sldId id="275" r:id="rId34"/>
    <p:sldId id="276" r:id="rId35"/>
    <p:sldId id="277" r:id="rId36"/>
    <p:sldId id="278" r:id="rId37"/>
    <p:sldId id="4059" r:id="rId38"/>
  </p:sldIdLst>
  <p:sldSz cx="12192000" cy="6858000"/>
  <p:notesSz cx="6858000" cy="9144000"/>
  <p:embeddedFontLst>
    <p:embeddedFont>
      <p:font typeface="Bahnschrift SemiCondensed" panose="020B0502040204020203" pitchFamily="34" charset="0"/>
      <p:regular r:id="rId40"/>
      <p:bold r:id="rId41"/>
    </p:embeddedFont>
    <p:embeddedFont>
      <p:font typeface="Arial Rounded MT Bold" panose="020F0704030504030204" pitchFamily="34" charset="0"/>
      <p:regular r:id="rId42"/>
    </p:embeddedFont>
    <p:embeddedFont>
      <p:font typeface="Calibri Light" panose="020F0302020204030204" pitchFamily="34" charset="0"/>
      <p:regular r:id="rId43"/>
      <p:italic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4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4FC"/>
    <a:srgbClr val="000099"/>
    <a:srgbClr val="EEE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41A64-CD73-0368-5049-09FDD3C31CF9}" v="7" dt="2026-07-15T09:04:32.761"/>
  </p1510:revLst>
</p1510:revInfo>
</file>

<file path=ppt/tableStyles.xml><?xml version="1.0" encoding="utf-8"?>
<a:tblStyleLst xmlns:a="http://schemas.openxmlformats.org/drawingml/2006/main" def="{93296810-A885-4BE3-A3E7-6D5BEEA58F35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02" autoAdjust="0"/>
  </p:normalViewPr>
  <p:slideViewPr>
    <p:cSldViewPr snapToGrid="0" showGuides="1">
      <p:cViewPr varScale="1">
        <p:scale>
          <a:sx n="83" d="100"/>
          <a:sy n="83" d="100"/>
        </p:scale>
        <p:origin x="49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B3E95C-D98F-45E4-979F-13F2EE6EB5EB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F86770-652B-4C3C-88D9-9D9274490915}">
      <dgm:prSet custT="1"/>
      <dgm:spPr/>
      <dgm:t>
        <a:bodyPr/>
        <a:lstStyle/>
        <a:p>
          <a:pPr algn="l"/>
          <a:r>
            <a:rPr lang="en-IN" sz="2800" dirty="0">
              <a:latin typeface="Aptos" panose="020B0004020202020204" pitchFamily="34" charset="0"/>
            </a:rPr>
            <a:t>Students apply through UMS/LMS</a:t>
          </a:r>
        </a:p>
      </dgm:t>
    </dgm:pt>
    <dgm:pt modelId="{3ABE9412-6CA1-4947-BFA8-18359DF64CFC}" type="parTrans" cxnId="{99FA4380-8F5D-4DAE-8D0C-687B9B045346}">
      <dgm:prSet/>
      <dgm:spPr/>
      <dgm:t>
        <a:bodyPr/>
        <a:lstStyle/>
        <a:p>
          <a:endParaRPr lang="en-IN"/>
        </a:p>
      </dgm:t>
    </dgm:pt>
    <dgm:pt modelId="{E2EBA6B0-8EBE-4FAB-A4CB-A0F2CFBC8F78}" type="sibTrans" cxnId="{99FA4380-8F5D-4DAE-8D0C-687B9B045346}">
      <dgm:prSet/>
      <dgm:spPr/>
      <dgm:t>
        <a:bodyPr/>
        <a:lstStyle/>
        <a:p>
          <a:endParaRPr lang="en-IN"/>
        </a:p>
      </dgm:t>
    </dgm:pt>
    <dgm:pt modelId="{573A1A33-B447-4490-B812-FA87290FE3CA}" type="pres">
      <dgm:prSet presAssocID="{63B3E95C-D98F-45E4-979F-13F2EE6EB5E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0C262B1-4527-4945-94F5-6BCABAA4D21F}" type="pres">
      <dgm:prSet presAssocID="{95F86770-652B-4C3C-88D9-9D9274490915}" presName="parentText" presStyleLbl="node1" presStyleIdx="0" presStyleCnt="1" custLinFactNeighborX="-2147" custLinFactNeighborY="-973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877FFA-75FC-4FB8-92E4-2376C7007115}" type="presOf" srcId="{63B3E95C-D98F-45E4-979F-13F2EE6EB5EB}" destId="{573A1A33-B447-4490-B812-FA87290FE3CA}" srcOrd="0" destOrd="0" presId="urn:microsoft.com/office/officeart/2005/8/layout/vList2"/>
    <dgm:cxn modelId="{578AB97B-B51F-4F6F-93AF-AE92E203BCC3}" type="presOf" srcId="{95F86770-652B-4C3C-88D9-9D9274490915}" destId="{D0C262B1-4527-4945-94F5-6BCABAA4D21F}" srcOrd="0" destOrd="0" presId="urn:microsoft.com/office/officeart/2005/8/layout/vList2"/>
    <dgm:cxn modelId="{99FA4380-8F5D-4DAE-8D0C-687B9B045346}" srcId="{63B3E95C-D98F-45E4-979F-13F2EE6EB5EB}" destId="{95F86770-652B-4C3C-88D9-9D9274490915}" srcOrd="0" destOrd="0" parTransId="{3ABE9412-6CA1-4947-BFA8-18359DF64CFC}" sibTransId="{E2EBA6B0-8EBE-4FAB-A4CB-A0F2CFBC8F78}"/>
    <dgm:cxn modelId="{CA7C17C4-163A-4705-AE7B-3748365B690C}" type="presParOf" srcId="{573A1A33-B447-4490-B812-FA87290FE3CA}" destId="{D0C262B1-4527-4945-94F5-6BCABAA4D21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6CADBC-FDE4-4CFC-9D4F-09C7FACDA0D5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BA5503-C2A8-4666-BD85-998EAEDA2E69}">
      <dgm:prSet custT="1"/>
      <dgm:spPr/>
      <dgm:t>
        <a:bodyPr/>
        <a:lstStyle/>
        <a:p>
          <a:r>
            <a:rPr lang="en-IN" sz="2800" dirty="0">
              <a:latin typeface="Aptos" panose="020B0004020202020204" pitchFamily="34" charset="0"/>
            </a:rPr>
            <a:t>Standing Committee verifies eligibility and supporting documents</a:t>
          </a:r>
        </a:p>
      </dgm:t>
    </dgm:pt>
    <dgm:pt modelId="{6B5714E0-954B-438B-8BEF-4A14080EC45D}" type="parTrans" cxnId="{D1648F8A-C698-45C2-89E0-9D9108304F73}">
      <dgm:prSet/>
      <dgm:spPr/>
      <dgm:t>
        <a:bodyPr/>
        <a:lstStyle/>
        <a:p>
          <a:endParaRPr lang="en-IN"/>
        </a:p>
      </dgm:t>
    </dgm:pt>
    <dgm:pt modelId="{6DF08AAA-4E23-4B48-8FBB-000C8883062F}" type="sibTrans" cxnId="{D1648F8A-C698-45C2-89E0-9D9108304F73}">
      <dgm:prSet/>
      <dgm:spPr/>
      <dgm:t>
        <a:bodyPr/>
        <a:lstStyle/>
        <a:p>
          <a:endParaRPr lang="en-IN"/>
        </a:p>
      </dgm:t>
    </dgm:pt>
    <dgm:pt modelId="{CB892914-EDDF-439C-979F-3C63F45FCB44}" type="pres">
      <dgm:prSet presAssocID="{836CADBC-FDE4-4CFC-9D4F-09C7FACDA0D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BEC4D7-F27D-481B-AEAA-CF36AEC2E1DE}" type="pres">
      <dgm:prSet presAssocID="{28BA5503-C2A8-4666-BD85-998EAEDA2E69}" presName="parentText" presStyleLbl="node1" presStyleIdx="0" presStyleCnt="1" custScaleY="308760" custLinFactNeighborX="-7765" custLinFactNeighborY="-5584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8D83EB-C0BD-4307-9B67-1BC0C0018782}" type="presOf" srcId="{836CADBC-FDE4-4CFC-9D4F-09C7FACDA0D5}" destId="{CB892914-EDDF-439C-979F-3C63F45FCB44}" srcOrd="0" destOrd="0" presId="urn:microsoft.com/office/officeart/2005/8/layout/vList2"/>
    <dgm:cxn modelId="{1E69B94C-B5BF-425D-A412-300CAF429FED}" type="presOf" srcId="{28BA5503-C2A8-4666-BD85-998EAEDA2E69}" destId="{66BEC4D7-F27D-481B-AEAA-CF36AEC2E1DE}" srcOrd="0" destOrd="0" presId="urn:microsoft.com/office/officeart/2005/8/layout/vList2"/>
    <dgm:cxn modelId="{D1648F8A-C698-45C2-89E0-9D9108304F73}" srcId="{836CADBC-FDE4-4CFC-9D4F-09C7FACDA0D5}" destId="{28BA5503-C2A8-4666-BD85-998EAEDA2E69}" srcOrd="0" destOrd="0" parTransId="{6B5714E0-954B-438B-8BEF-4A14080EC45D}" sibTransId="{6DF08AAA-4E23-4B48-8FBB-000C8883062F}"/>
    <dgm:cxn modelId="{C5996148-C803-4E05-BF3A-7F97D97F8377}" type="presParOf" srcId="{CB892914-EDDF-439C-979F-3C63F45FCB44}" destId="{66BEC4D7-F27D-481B-AEAA-CF36AEC2E1D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2333ED-89B8-413D-980E-00CEF2C5FF1D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404AD0-3E5A-417E-B7FA-8368D2AAC102}">
      <dgm:prSet custT="1"/>
      <dgm:spPr/>
      <dgm:t>
        <a:bodyPr/>
        <a:lstStyle/>
        <a:p>
          <a:r>
            <a:rPr lang="en-IN" sz="2800" dirty="0">
              <a:latin typeface="Aptos" panose="020B0004020202020204" pitchFamily="34" charset="0"/>
            </a:rPr>
            <a:t>Head of School approves course mapping and academic benefits</a:t>
          </a:r>
        </a:p>
      </dgm:t>
    </dgm:pt>
    <dgm:pt modelId="{DD8F1012-1BD6-4032-AFC8-C25B350B118E}" type="parTrans" cxnId="{38413CE1-BC9B-4431-9F9A-304322016287}">
      <dgm:prSet/>
      <dgm:spPr/>
      <dgm:t>
        <a:bodyPr/>
        <a:lstStyle/>
        <a:p>
          <a:endParaRPr lang="en-IN"/>
        </a:p>
      </dgm:t>
    </dgm:pt>
    <dgm:pt modelId="{E81C893D-82AE-4D05-BA81-7A44C43A8FF5}" type="sibTrans" cxnId="{38413CE1-BC9B-4431-9F9A-304322016287}">
      <dgm:prSet/>
      <dgm:spPr/>
      <dgm:t>
        <a:bodyPr/>
        <a:lstStyle/>
        <a:p>
          <a:endParaRPr lang="en-IN"/>
        </a:p>
      </dgm:t>
    </dgm:pt>
    <dgm:pt modelId="{48F1FCE7-55C6-475B-9D1A-7FDA7E338652}" type="pres">
      <dgm:prSet presAssocID="{DA2333ED-89B8-413D-980E-00CEF2C5FF1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1018F6-EDAA-46F8-8781-8C129F37088E}" type="pres">
      <dgm:prSet presAssocID="{D8404AD0-3E5A-417E-B7FA-8368D2AAC102}" presName="parentText" presStyleLbl="node1" presStyleIdx="0" presStyleCnt="1" custScaleY="267462" custLinFactNeighborX="0" custLinFactNeighborY="9582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413CE1-BC9B-4431-9F9A-304322016287}" srcId="{DA2333ED-89B8-413D-980E-00CEF2C5FF1D}" destId="{D8404AD0-3E5A-417E-B7FA-8368D2AAC102}" srcOrd="0" destOrd="0" parTransId="{DD8F1012-1BD6-4032-AFC8-C25B350B118E}" sibTransId="{E81C893D-82AE-4D05-BA81-7A44C43A8FF5}"/>
    <dgm:cxn modelId="{8CB4FAAE-4B66-4825-8163-F5CC05BAB0E4}" type="presOf" srcId="{DA2333ED-89B8-413D-980E-00CEF2C5FF1D}" destId="{48F1FCE7-55C6-475B-9D1A-7FDA7E338652}" srcOrd="0" destOrd="0" presId="urn:microsoft.com/office/officeart/2005/8/layout/vList2"/>
    <dgm:cxn modelId="{3059E6EB-49A2-4C49-AF0E-A3A899D93744}" type="presOf" srcId="{D8404AD0-3E5A-417E-B7FA-8368D2AAC102}" destId="{411018F6-EDAA-46F8-8781-8C129F37088E}" srcOrd="0" destOrd="0" presId="urn:microsoft.com/office/officeart/2005/8/layout/vList2"/>
    <dgm:cxn modelId="{BA175E4D-E740-4A9A-B21A-3EE536E5AB09}" type="presParOf" srcId="{48F1FCE7-55C6-475B-9D1A-7FDA7E338652}" destId="{411018F6-EDAA-46F8-8781-8C129F37088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B3C9D-F695-41CB-9875-C7ABFE7FAC61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B4F3E2-7D2E-4B2B-AC83-F1764C56FF5B}">
      <dgm:prSet custT="1"/>
      <dgm:spPr/>
      <dgm:t>
        <a:bodyPr/>
        <a:lstStyle/>
        <a:p>
          <a:r>
            <a:rPr lang="en-IN" sz="2800" dirty="0">
              <a:latin typeface="Aptos" panose="020B0004020202020204" pitchFamily="34" charset="0"/>
            </a:rPr>
            <a:t>Transparent, standardized and timely decision-making</a:t>
          </a:r>
        </a:p>
      </dgm:t>
    </dgm:pt>
    <dgm:pt modelId="{85F9E443-7C84-437B-9F9F-A5FE4E23AD75}" type="parTrans" cxnId="{E1577B53-E0B5-417D-B06B-05A67BD6DDC5}">
      <dgm:prSet/>
      <dgm:spPr/>
      <dgm:t>
        <a:bodyPr/>
        <a:lstStyle/>
        <a:p>
          <a:endParaRPr lang="en-IN" sz="2800">
            <a:latin typeface="Aptos" panose="020B0004020202020204" pitchFamily="34" charset="0"/>
          </a:endParaRPr>
        </a:p>
      </dgm:t>
    </dgm:pt>
    <dgm:pt modelId="{4AA6B2AC-EB2C-4D04-98F4-B7A17399CDBA}" type="sibTrans" cxnId="{E1577B53-E0B5-417D-B06B-05A67BD6DDC5}">
      <dgm:prSet/>
      <dgm:spPr/>
      <dgm:t>
        <a:bodyPr/>
        <a:lstStyle/>
        <a:p>
          <a:endParaRPr lang="en-IN" sz="2800">
            <a:latin typeface="Aptos" panose="020B0004020202020204" pitchFamily="34" charset="0"/>
          </a:endParaRPr>
        </a:p>
      </dgm:t>
    </dgm:pt>
    <dgm:pt modelId="{49AE3D0D-1C43-4541-ABD2-533B525DFEE3}" type="pres">
      <dgm:prSet presAssocID="{746B3C9D-F695-41CB-9875-C7ABFE7FAC6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1196B6-9C68-457C-951C-79C3F09583B2}" type="pres">
      <dgm:prSet presAssocID="{6EB4F3E2-7D2E-4B2B-AC83-F1764C56FF5B}" presName="parentText" presStyleLbl="node1" presStyleIdx="0" presStyleCnt="1" custLinFactNeighborX="-11479" custLinFactNeighborY="-232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1577B53-E0B5-417D-B06B-05A67BD6DDC5}" srcId="{746B3C9D-F695-41CB-9875-C7ABFE7FAC61}" destId="{6EB4F3E2-7D2E-4B2B-AC83-F1764C56FF5B}" srcOrd="0" destOrd="0" parTransId="{85F9E443-7C84-437B-9F9F-A5FE4E23AD75}" sibTransId="{4AA6B2AC-EB2C-4D04-98F4-B7A17399CDBA}"/>
    <dgm:cxn modelId="{773353FE-317E-4B48-B580-6B39BEDFA588}" type="presOf" srcId="{746B3C9D-F695-41CB-9875-C7ABFE7FAC61}" destId="{49AE3D0D-1C43-4541-ABD2-533B525DFEE3}" srcOrd="0" destOrd="0" presId="urn:microsoft.com/office/officeart/2005/8/layout/vList2"/>
    <dgm:cxn modelId="{D811619C-CC57-4395-A7AC-AFBA21557A9B}" type="presOf" srcId="{6EB4F3E2-7D2E-4B2B-AC83-F1764C56FF5B}" destId="{011196B6-9C68-457C-951C-79C3F09583B2}" srcOrd="0" destOrd="0" presId="urn:microsoft.com/office/officeart/2005/8/layout/vList2"/>
    <dgm:cxn modelId="{34983269-E78A-48AB-BF4C-7A7AF69E4A7D}" type="presParOf" srcId="{49AE3D0D-1C43-4541-ABD2-533B525DFEE3}" destId="{011196B6-9C68-457C-951C-79C3F09583B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262B1-4527-4945-94F5-6BCABAA4D21F}">
      <dsp:nvSpPr>
        <dsp:cNvPr id="0" name=""/>
        <dsp:cNvSpPr/>
      </dsp:nvSpPr>
      <dsp:spPr>
        <a:xfrm>
          <a:off x="0" y="0"/>
          <a:ext cx="8577222" cy="879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>
              <a:latin typeface="Aptos" panose="020B0004020202020204" pitchFamily="34" charset="0"/>
            </a:rPr>
            <a:t>Students apply through UMS/LMS</a:t>
          </a:r>
        </a:p>
      </dsp:txBody>
      <dsp:txXfrm>
        <a:off x="42950" y="42950"/>
        <a:ext cx="8491322" cy="7939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EC4D7-F27D-481B-AEAA-CF36AEC2E1DE}">
      <dsp:nvSpPr>
        <dsp:cNvPr id="0" name=""/>
        <dsp:cNvSpPr/>
      </dsp:nvSpPr>
      <dsp:spPr>
        <a:xfrm>
          <a:off x="0" y="0"/>
          <a:ext cx="8678822" cy="97346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>
              <a:latin typeface="Aptos" panose="020B0004020202020204" pitchFamily="34" charset="0"/>
            </a:rPr>
            <a:t>Standing Committee verifies eligibility and supporting documents</a:t>
          </a:r>
        </a:p>
      </dsp:txBody>
      <dsp:txXfrm>
        <a:off x="47521" y="47521"/>
        <a:ext cx="8583780" cy="8784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018F6-EDAA-46F8-8781-8C129F37088E}">
      <dsp:nvSpPr>
        <dsp:cNvPr id="0" name=""/>
        <dsp:cNvSpPr/>
      </dsp:nvSpPr>
      <dsp:spPr>
        <a:xfrm>
          <a:off x="0" y="170525"/>
          <a:ext cx="8678821" cy="84408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>
              <a:latin typeface="Aptos" panose="020B0004020202020204" pitchFamily="34" charset="0"/>
            </a:rPr>
            <a:t>Head of School approves course mapping and academic benefits</a:t>
          </a:r>
        </a:p>
      </dsp:txBody>
      <dsp:txXfrm>
        <a:off x="41205" y="211730"/>
        <a:ext cx="8596411" cy="7616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1196B6-9C68-457C-951C-79C3F09583B2}">
      <dsp:nvSpPr>
        <dsp:cNvPr id="0" name=""/>
        <dsp:cNvSpPr/>
      </dsp:nvSpPr>
      <dsp:spPr>
        <a:xfrm>
          <a:off x="0" y="0"/>
          <a:ext cx="8667939" cy="842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>
              <a:latin typeface="Aptos" panose="020B0004020202020204" pitchFamily="34" charset="0"/>
            </a:rPr>
            <a:t>Transparent, standardized and timely decision-making</a:t>
          </a:r>
        </a:p>
      </dsp:txBody>
      <dsp:txXfrm>
        <a:off x="41123" y="41123"/>
        <a:ext cx="8585693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873CDCC-F13A-C9FA-5751-ECDF9ED0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F84469DA-3C8C-3BEF-BE4A-1137B1A96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F3D4CB7D-176A-FB8A-D8A5-57BDE9DDD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5755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3B6320B3-1CC6-57CB-CD24-829E7EE8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9CC4C4BE-1F93-6B8E-CFB8-0645673EC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B88C8688-6B87-8F0B-61DC-DD8A5E0C4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7381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CA7B3E7-A584-0FCD-E176-4AEA8D45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D4F473B6-7DE8-245E-9A38-3FD703EC5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7B35B5E6-CA44-11BA-0C51-D3F8DE43C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0310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1FDB0B1-8021-A7BB-79CF-B44BC3B0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304CC7EC-F849-F804-CB0B-636E90171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F669D3CA-A6CF-30E0-9088-49ACC4413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199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2EF41E4-333F-E360-A7CF-6780A1DE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AB86E181-F59B-A13F-481B-A2FBE47D5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DDBDB4B8-DB9A-87EA-1BC9-1F69EDDDA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2276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383BF2D-AC16-1B18-A6D9-F6E7BF9F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ADB7390E-BD5C-4735-AE15-CD6FB8DD7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B8D4EC9A-9334-F615-F3FA-CE5D4C1D7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5977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F86F9C2-7EF8-8382-7883-5C2DCFFD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A8A0A4BE-FDEB-3086-621A-906018FDA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493E0300-B79D-CF88-E107-29A150B39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713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1FF3F6F-53A4-0C10-A382-E0D800E9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9F67AA41-20C2-FEE6-16E7-23EAC0A7B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6464EE9F-4712-DBA9-E761-1DFE31777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4960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52E9A5A-0E61-2743-D143-3A03005A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2E48EFF3-A5A5-9D21-981E-068FB6F5C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A0C8D430-8959-2C37-7D7A-8AB39B39F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9734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3405C3BE-E578-FF08-CB77-B9583B75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84243BD5-FAB6-865C-FF43-4AFE08960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5A45AB19-9E0A-0B9A-DF7E-AAE40AE8D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3371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1FF8E7A-24F9-0B2F-9E47-371DFCD8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4D78D661-0928-A449-2134-DDC33F83B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57EBA50D-ED3F-F9D6-FF01-D6570DC088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35503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E65EE3F-0B23-D4E0-F036-73140B6E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62d04a09b_0_7:notes">
            <a:extLst>
              <a:ext uri="{FF2B5EF4-FFF2-40B4-BE49-F238E27FC236}">
                <a16:creationId xmlns:a16="http://schemas.microsoft.com/office/drawing/2014/main" id="{0D52B140-7ED2-ADEA-5002-25F542868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462d04a09b_0_7:notes">
            <a:extLst>
              <a:ext uri="{FF2B5EF4-FFF2-40B4-BE49-F238E27FC236}">
                <a16:creationId xmlns:a16="http://schemas.microsoft.com/office/drawing/2014/main" id="{BEBF2F31-101C-F7D6-AF99-883F40B71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40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42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DE57-D139-46C7-B960-34B318E01165}" type="datetimeFigureOut">
              <a:rPr lang="en-IN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5F59-CC5D-4E20-8E81-520CF603EB0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2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DE57-D139-46C7-B960-34B318E01165}" type="datetimeFigureOut">
              <a:rPr lang="en-IN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5F59-CC5D-4E20-8E81-520CF603EB0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/>
              <a:t>‹#›</a:t>
            </a:fld>
            <a:endParaRPr lang="en-US"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9DE57-D139-46C7-B960-34B318E01165}" type="datetimeFigureOut">
              <a:rPr lang="en-IN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5F59-CC5D-4E20-8E81-520CF603EB0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9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learn" TargetMode="External"/><Relationship Id="rId5" Type="http://schemas.openxmlformats.org/officeDocument/2006/relationships/hyperlink" Target="https://www.cloudskillsboost.google" TargetMode="External"/><Relationship Id="rId4" Type="http://schemas.openxmlformats.org/officeDocument/2006/relationships/hyperlink" Target="https://cloud.google.com/compute/doc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docs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cloud.google.com/compute/docs" TargetMode="External"/><Relationship Id="rId4" Type="http://schemas.openxmlformats.org/officeDocument/2006/relationships/hyperlink" Target="https://cloud.google.com/docs/overvie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Academic%20benefits.pdf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676400" y="3555828"/>
            <a:ext cx="8534400" cy="2631449"/>
          </a:xfrm>
          <a:prstGeom prst="rect">
            <a:avLst/>
          </a:prstGeom>
          <a:solidFill>
            <a:srgbClr val="EBF1D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4484"/>
              </a:lnSpc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CSG221</a:t>
            </a:r>
          </a:p>
          <a:p>
            <a:pPr>
              <a:lnSpc>
                <a:spcPts val="4484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ARCHITECTING WITH GOOGLE COMPUTE ENGINE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4484"/>
              </a:lnSpc>
            </a:pPr>
            <a:r>
              <a:rPr lang="en-US" alt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Lecture_Zero</a:t>
            </a:r>
            <a:endParaRPr lang="en-US" alt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Google Shape;91;p1" descr="India's Best Private University in Punjab - LPU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74150" y="80645"/>
            <a:ext cx="27241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3"/>
          <p:cNvSpPr txBox="1"/>
          <p:nvPr/>
        </p:nvSpPr>
        <p:spPr>
          <a:xfrm>
            <a:off x="0" y="6396376"/>
            <a:ext cx="12192000" cy="45910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817" y="136524"/>
            <a:ext cx="5612130" cy="33889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5" name="Google Shape;155;p7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91469" y="74716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3">
            <a:extLst>
              <a:ext uri="{FF2B5EF4-FFF2-40B4-BE49-F238E27FC236}">
                <a16:creationId xmlns:a16="http://schemas.microsoft.com/office/drawing/2014/main" id="{71641D10-21E2-EA00-0AE6-353D24B2A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23901"/>
            <a:ext cx="10820400" cy="75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5867"/>
              </a:lnSpc>
            </a:pPr>
            <a:r>
              <a:rPr lang="en-US" altLang="en-US" sz="5334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T 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94557-3D21-02D1-02AC-ADAEB264B74E}"/>
              </a:ext>
            </a:extLst>
          </p:cNvPr>
          <p:cNvSpPr txBox="1"/>
          <p:nvPr/>
        </p:nvSpPr>
        <p:spPr>
          <a:xfrm>
            <a:off x="1767663" y="1762059"/>
            <a:ext cx="6214730" cy="621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4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- 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28139-56E7-EBF4-76BF-617D40CA778A}"/>
              </a:ext>
            </a:extLst>
          </p:cNvPr>
          <p:cNvSpPr txBox="1"/>
          <p:nvPr/>
        </p:nvSpPr>
        <p:spPr>
          <a:xfrm>
            <a:off x="1767663" y="2479887"/>
            <a:ext cx="6214730" cy="621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4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- 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34B57-0756-0BCD-82BA-7378C7E51711}"/>
              </a:ext>
            </a:extLst>
          </p:cNvPr>
          <p:cNvSpPr txBox="1"/>
          <p:nvPr/>
        </p:nvSpPr>
        <p:spPr>
          <a:xfrm>
            <a:off x="1767663" y="3126246"/>
            <a:ext cx="6214730" cy="621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4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- 2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4D553B-20E1-0BDC-6F3D-B8C7E0745ACE}"/>
              </a:ext>
            </a:extLst>
          </p:cNvPr>
          <p:cNvSpPr txBox="1"/>
          <p:nvPr/>
        </p:nvSpPr>
        <p:spPr>
          <a:xfrm>
            <a:off x="1767663" y="3678362"/>
            <a:ext cx="6214730" cy="621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4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Credits</a:t>
            </a:r>
            <a:r>
              <a:rPr lang="en-US" altLang="en-US" sz="3200" dirty="0">
                <a:solidFill>
                  <a:srgbClr val="222222"/>
                </a:solidFill>
                <a:latin typeface="Times Neue Roman" charset="0"/>
              </a:rPr>
              <a:t> -    3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0" y="186046"/>
            <a:ext cx="12192000" cy="7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COURSE WEIGHTAGE &amp; TEXTBOOKS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077200" y="6250229"/>
            <a:ext cx="2133600" cy="405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1" name="Google Shape;101;p2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324078" y="45491"/>
            <a:ext cx="704850" cy="7800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28600" y="1001484"/>
            <a:ext cx="4343400" cy="13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L-T-P: 2-0-2 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[Two Lectures and two practical per week]  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Credits: 03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[No Lab hours per week]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788" y="2109480"/>
            <a:ext cx="4343400" cy="2038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255" lvl="1" algn="just">
              <a:lnSpc>
                <a:spcPct val="150000"/>
              </a:lnSpc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 Model:</a:t>
            </a:r>
          </a:p>
          <a:p>
            <a:pPr marL="294005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		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marL="294005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   (</a:t>
            </a:r>
            <a:r>
              <a:rPr lang="en-US" alt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MCQs)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marL="294005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MTT (</a:t>
            </a:r>
            <a:r>
              <a:rPr lang="en-US" alt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MCQs)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: 20 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005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ETT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MCQs)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: 50 M</a:t>
            </a:r>
          </a:p>
          <a:p>
            <a:pPr marL="8255" lvl="1"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00181" y="3807398"/>
            <a:ext cx="3252865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75188" y="4668658"/>
            <a:ext cx="7353740" cy="16657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255" lvl="1" algn="just">
              <a:lnSpc>
                <a:spcPct val="114000"/>
              </a:lnSpc>
              <a:buClr>
                <a:srgbClr val="0070C0"/>
              </a:buClr>
            </a:pPr>
            <a:r>
              <a:rPr lang="en-US" sz="1600" b="1" dirty="0">
                <a:solidFill>
                  <a:srgbClr val="3324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Text Books (T):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Google Compute Engine Documentation</a:t>
            </a:r>
            <a:r>
              <a:rPr lang="en-IN" dirty="0"/>
              <a:t> – </a:t>
            </a:r>
            <a:r>
              <a:rPr lang="en-IN" dirty="0">
                <a:hlinkClick r:id="rId4"/>
              </a:rPr>
              <a:t>https://cloud.google.com/compute/docs</a:t>
            </a:r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Google Cloud Skills Boost Learning Path</a:t>
            </a:r>
            <a:r>
              <a:rPr lang="en-IN" dirty="0"/>
              <a:t> – </a:t>
            </a:r>
            <a:r>
              <a:rPr lang="en-IN" dirty="0">
                <a:hlinkClick r:id="rId5"/>
              </a:rPr>
              <a:t>https://www.cloudskillsboost.google</a:t>
            </a:r>
            <a:r>
              <a:rPr lang="en-IN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Google Cloud Training – Infrastructure &amp; Networking</a:t>
            </a:r>
            <a:r>
              <a:rPr lang="en-IN" dirty="0"/>
              <a:t> – </a:t>
            </a:r>
            <a:r>
              <a:rPr lang="en-IN" dirty="0">
                <a:hlinkClick r:id="rId6"/>
              </a:rPr>
              <a:t>https://cloud.google.com/learn</a:t>
            </a:r>
            <a:endParaRPr lang="en-IN" dirty="0"/>
          </a:p>
        </p:txBody>
      </p:sp>
      <p:sp>
        <p:nvSpPr>
          <p:cNvPr id="5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7" name="Picture 6" descr="LPUNEST 2024 - LPU Admission 2024 Entrace Exam, Apply Now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DB1A76-C994-60C2-9E44-65C3558B37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671" y="1001484"/>
            <a:ext cx="7233258" cy="34803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8" name="Google Shape;108;p3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91469" y="50828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0" y="147723"/>
            <a:ext cx="12192000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COURSE OUTCOMES</a:t>
            </a:r>
            <a:endParaRPr sz="3000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098879"/>
              </p:ext>
            </p:extLst>
          </p:nvPr>
        </p:nvGraphicFramePr>
        <p:xfrm>
          <a:off x="181349" y="906261"/>
          <a:ext cx="11800638" cy="532855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29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7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509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Outcome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68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1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 a deeper understanding of Google Compute Engine, including virtual machines, and how to configure and manage instances.</a:t>
                      </a:r>
                      <a:endParaRPr lang="en-US" altLang="en-US" sz="1400" b="1" spc="-60" dirty="0">
                        <a:solidFill>
                          <a:srgbClr val="000000"/>
                        </a:solidFill>
                        <a:latin typeface="Inter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10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2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 how to design and implement secure network architectures, manage firewalls, and set up private connectivity options.</a:t>
                      </a: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343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3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 various storage options on Google Cloud, such as persistent disks, cloud storage, and how to integrate them into your architecture.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07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4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 best practices for monitoring infrastructure performance, managing resources efficiently, and implementing logging and alerting systems using Google Cloud tools.</a:t>
                      </a: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6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5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principles of auto-scaling and load balancing to ensure high availability and reliability of applications.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62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I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6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 the use of tools like Terraform and Deployment Manager to automate infrastructure deployment and management.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4" name="Google Shape;144;p6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78899" y="81107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54028" y="793231"/>
            <a:ext cx="11820566" cy="552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lnSpc>
                <a:spcPct val="130000"/>
              </a:lnSpc>
              <a:buSzPts val="1800"/>
              <a:buFont typeface="Calibri" panose="020F0502020204030204"/>
              <a:buChar char="❖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Unit I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Google Cloud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Infrastructure: Introduction to Google Cloud, Interact with Google Cloud: Google Cloud Console, Cloud Shell, Cloud SDK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gcloud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CLI),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gcloud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Structure, Cloud APIs and REST Interface.</a:t>
            </a:r>
          </a:p>
          <a:p>
            <a:pPr marL="114300" algn="just">
              <a:lnSpc>
                <a:spcPct val="130000"/>
              </a:lnSpc>
              <a:buSzPts val="1800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</a:t>
            </a:r>
            <a:endParaRPr sz="16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457200" indent="-342900" algn="just">
              <a:lnSpc>
                <a:spcPct val="130000"/>
              </a:lnSpc>
              <a:buSzPts val="1800"/>
              <a:buFont typeface="Calibri" panose="020F0502020204030204"/>
              <a:buChar char="❖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Unit II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Engine, Virtual Machine, Hypervisor and Virtualization: concept of hypervisor, role in abstracting hardware, Types of Hypervisors: Type 1 (bare-metal) vs Type 2 (hosted) hypervisors, examples (KVM, VMware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ESXi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Hyper-V), VM Lifecycle Management: creating, starting, stopping, suspending, and deleting VM instances.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Virtual Networks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Private Cloud (VPC), Google's managed networking functionality, projects, networks, subnetworks, IP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addresses, routes, and firewall rules, along with network pricing.</a:t>
            </a:r>
          </a:p>
          <a:p>
            <a:pPr algn="just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Identity and Access Management (IAM)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IAM, components within IAM, which are organizations, roles, members, and service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accounts.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42900" algn="just">
              <a:lnSpc>
                <a:spcPct val="140000"/>
              </a:lnSpc>
              <a:buSzPts val="1800"/>
              <a:buFont typeface="Calibri" panose="020F0502020204030204"/>
              <a:buChar char="❖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Unit III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Services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database services, Types of Storage: object storage (Cloud Storage), block storage (Persistent Disks), file storage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Filestore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in-memory storage, Cloud Storage Classes: Standard, Nearline,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Coldline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Archive, use cases, and cost implications.</a:t>
            </a:r>
          </a:p>
          <a:p>
            <a:pPr marL="457200" indent="-342900" algn="just">
              <a:lnSpc>
                <a:spcPct val="140000"/>
              </a:lnSpc>
              <a:buSzPts val="1800"/>
              <a:buFont typeface="Calibri" panose="020F0502020204030204"/>
              <a:buChar char="❖"/>
            </a:pP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571500" lvl="1" algn="just">
              <a:lnSpc>
                <a:spcPct val="130000"/>
              </a:lnSpc>
              <a:buSzPts val="1800"/>
            </a:pPr>
            <a:endParaRPr lang="en-US" sz="16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-31689" y="31593"/>
            <a:ext cx="12192000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4" name="Google Shape;144;p6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91469" y="47600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81349" y="1055040"/>
            <a:ext cx="11800638" cy="451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49580" algn="just">
              <a:lnSpc>
                <a:spcPct val="140000"/>
              </a:lnSpc>
              <a:buSzPts val="1800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Unit IV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Manager, Quotas, Labels and Names, Billing, Resource Hierarchy: organization, folders, projects, and resources, Quota Management: understanding per-project and per-region quotas, requesting quota increases, Labels and Tags: using labels for cost allocation, filtering, and resource organization.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Resource Monitoring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Monitoring, Cloud Logging, Error Reporting, Cloud Trace, and Cloud Profiler services.</a:t>
            </a:r>
          </a:p>
          <a:p>
            <a:pPr marL="449580" algn="just">
              <a:lnSpc>
                <a:spcPct val="140000"/>
              </a:lnSpc>
              <a:buSzPts val="1800"/>
            </a:pP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457200" indent="-342900" algn="just">
              <a:lnSpc>
                <a:spcPct val="150000"/>
              </a:lnSpc>
              <a:buSzPts val="1800"/>
              <a:buFont typeface="Calibri" panose="020F0502020204030204"/>
              <a:buChar char="❖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Unit V   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Interconnecting Networks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VPN, Cloud Interconnect, and Peering, VPC Networks, Cloud VPN: HA VPN vs Classic VPN, IKEv2 tunnels, dynamic routing with Cloud Router, Cloud Interconnect: Dedicated vs Partner Interconnect — use cases, SLAs, and bandwidth options, VPC Peering: connecting VPC networks across projects and organizations, Shared VPC: centralized network management across multiple projects within an organization.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Load Balancing and Auto Scaling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and Regional load balancer, Types of Load Balancers: HTTP(S), SSL Proxy, TCP Proxy, 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Network (TCP/UDP), and Internal load balancers, Global vs Regional Load Balancing: anycast-based global LB vs regional backend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services.</a:t>
            </a:r>
          </a:p>
          <a:p>
            <a:pPr algn="just"/>
            <a:endParaRPr lang="en-US" sz="1600" b="1" u="sng" dirty="0">
              <a:latin typeface="Times New Roman" panose="02020603050405020304" pitchFamily="18" charset="0"/>
              <a:ea typeface="Open Sans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6;p6"/>
          <p:cNvSpPr txBox="1"/>
          <p:nvPr/>
        </p:nvSpPr>
        <p:spPr>
          <a:xfrm>
            <a:off x="15800" y="32610"/>
            <a:ext cx="12176199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4" name="Google Shape;144;p6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31510" y="64794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245805" y="752802"/>
            <a:ext cx="11690555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lvl="1" algn="just">
              <a:lnSpc>
                <a:spcPct val="150000"/>
              </a:lnSpc>
              <a:buSzPts val="18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41275" lvl="1" algn="just">
              <a:lnSpc>
                <a:spcPct val="150000"/>
              </a:lnSpc>
              <a:buSzPts val="1800"/>
            </a:pP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449580" lvl="1" indent="-408305" algn="just">
              <a:lnSpc>
                <a:spcPct val="150000"/>
              </a:lnSpc>
              <a:buSzPts val="1800"/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Unit VI 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Automation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Terraform, Infrastructure as Code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Concepts: declarative vs imperative approaches, idempotency, and state management, Terraform Basics: providers, resources, variables, outputs, and modules for GCP, Terraform State Management: local vs remote state (GCS backend), state locking, and workspaces.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Managed Services 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Dataflow,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Dataprep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Trifacta,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Dataproc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Architecture: columnar storage, serverless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query execution, slots, and partitioned/clustered tables,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ML: building and deploying ML models directly within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using SQL.</a:t>
            </a:r>
          </a:p>
          <a:p>
            <a:pPr marL="571500" lvl="1" algn="just">
              <a:lnSpc>
                <a:spcPct val="150000"/>
              </a:lnSpc>
              <a:buSzPts val="1800"/>
            </a:pPr>
            <a:endParaRPr lang="en-US" sz="16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sp>
        <p:nvSpPr>
          <p:cNvPr id="5" name="Google Shape;146;p6"/>
          <p:cNvSpPr txBox="1"/>
          <p:nvPr/>
        </p:nvSpPr>
        <p:spPr>
          <a:xfrm>
            <a:off x="15800" y="32610"/>
            <a:ext cx="12176200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8" name="Google Shape;108;p3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407515" y="74222"/>
            <a:ext cx="588804" cy="6047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210013" y="385240"/>
            <a:ext cx="11800638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VISION &amp; MISSION – SCHOOL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5681" y="1139252"/>
            <a:ext cx="11676529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be a globally recognized school through excellence in teaching, learning, and research for creating Computer Science professionals, leaders, and entrepreneurs of the future contributing to society and industry for sustainable growth.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95682" y="2428323"/>
            <a:ext cx="828429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MISSION: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build computational skills through hands-on and practice-based learning with measurable outcomes.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rgbClr val="3324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establish a strong connect with industry for in-demand technology driven curriculum.</a:t>
            </a:r>
            <a:endParaRPr lang="en-US" sz="1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build the infrastructure for meaningful research around societal problems.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nurture future leaders through research-infused education and lifelong learning.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M5: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To create smart and ethical professionals and entrepreneurs who are recognized globally.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973" y="2808514"/>
            <a:ext cx="3712028" cy="342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7" name="Google Shape;117;p4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36448" y="84617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0" y="338475"/>
            <a:ext cx="12192000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 OUTCOMES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349" y="1444153"/>
            <a:ext cx="11788399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PO1: 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Knowledge: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the knowledge of mathematics, science, engineering fundamentals, and an engineering specialization to the solution of complex engineering problems.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PO2: </a:t>
            </a:r>
            <a:r>
              <a:rPr lang="en-US" sz="1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Identify, formulate,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engineering problems, reaching substantiated conclusions with consideration for the holistic nature of the problem.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PO3: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Design/Development of solutions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creative solutions for complex engineering problems and design systems, components, or processes to meet identified needs — with consideration for public health and safety, and cultural, societal, and environmental factors. Sustainability is now intrinsic to design.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PO4: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investigations of complex problems: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investigations of complex engineering problems using research-based knowledge and research methods, including design of experiments, analysis and interpretation of data, and synthesis of information to provide valid conclusions.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PO5: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tool usage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select, and apply appropriate techniques, resources, and modern engineering and IT tools, including prediction and modelling — recognizing their limitations — to solve complex engineering problems. </a:t>
            </a:r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107;p3"/>
          <p:cNvSpPr txBox="1"/>
          <p:nvPr/>
        </p:nvSpPr>
        <p:spPr>
          <a:xfrm>
            <a:off x="0" y="6391845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2" name="Picture 1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6" name="Google Shape;126;p5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91468" y="56664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62949" y="1409016"/>
            <a:ext cx="11833369" cy="5341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PO6: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Engineer and the World: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evaluate societal and environmental aspects while solving complex engineering problems, considering their impact on sustainability with reference to economy, health, safety, legal frameworks, culture, and the environment. </a:t>
            </a:r>
          </a:p>
          <a:p>
            <a:pPr algn="just">
              <a:lnSpc>
                <a:spcPct val="150000"/>
              </a:lnSpc>
            </a:pPr>
            <a:r>
              <a:rPr lang="en-US" sz="1600" b="1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PO7: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ethical principles and commit to professional ethics, human values, diversity, and inclusion; and adhere to relevant national and international laws. (Diversity and inclusion are now explicit additions.)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PO8: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and Collaborative Team Work: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effectively as an individual, and as a member or leader in diverse and multi-disciplinary teams.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PO9:</a:t>
            </a:r>
            <a:r>
              <a:rPr lang="en-US" altLang="en-US" sz="1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ns" panose="020B0606030504020204" pitchFamily="34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effectively and inclusively within the engineering community and with society at large — comprehending and writing effective reports and design documentation, and making effective presentations — considering cultural, language, and learning differences.</a:t>
            </a: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PO10: 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and finance: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knowledge and understanding of engineering management principles and economic decision-making, and apply these to one's own work, as a member and leader in a team, to manage projects in multi-disciplinary environments. </a:t>
            </a:r>
          </a:p>
          <a:p>
            <a:pPr algn="just"/>
            <a:r>
              <a:rPr lang="en-US" sz="1600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PO11: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Life-Long Learning: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need for, and have the preparation and ability for, independent and life-long learning, adaptability to new and emerging technologies, and critical thinking in the broadest context of technological change.</a:t>
            </a:r>
          </a:p>
          <a:p>
            <a:pPr algn="just">
              <a:lnSpc>
                <a:spcPct val="150000"/>
              </a:lnSpc>
            </a:pPr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18;p4"/>
          <p:cNvSpPr txBox="1"/>
          <p:nvPr/>
        </p:nvSpPr>
        <p:spPr>
          <a:xfrm>
            <a:off x="0" y="320906"/>
            <a:ext cx="12191999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 OUTCOMES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2" name="Picture 1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07;p3">
            <a:extLst>
              <a:ext uri="{FF2B5EF4-FFF2-40B4-BE49-F238E27FC236}">
                <a16:creationId xmlns:a16="http://schemas.microsoft.com/office/drawing/2014/main" id="{18180AE3-0467-62C7-5B07-BA2DDD27B30E}"/>
              </a:ext>
            </a:extLst>
          </p:cNvPr>
          <p:cNvSpPr txBox="1"/>
          <p:nvPr/>
        </p:nvSpPr>
        <p:spPr>
          <a:xfrm>
            <a:off x="0" y="6391845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/>
          <p:cNvSpPr/>
          <p:nvPr/>
        </p:nvSpPr>
        <p:spPr>
          <a:xfrm>
            <a:off x="982056" y="1709056"/>
            <a:ext cx="9725210" cy="318951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Google Shape;115;p4"/>
          <p:cNvSpPr txBox="1"/>
          <p:nvPr/>
        </p:nvSpPr>
        <p:spPr>
          <a:xfrm>
            <a:off x="807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7" name="Google Shape;117;p4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236448" y="541814"/>
            <a:ext cx="70485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0" y="461728"/>
            <a:ext cx="12192000" cy="60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1000"/>
              </a:lnSpc>
              <a:buClr>
                <a:srgbClr val="1D242C"/>
              </a:buClr>
              <a:buSzPts val="42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 SPECIFIC OUTCOMES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21741" y="1948793"/>
            <a:ext cx="7617659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PSO 1: Cloud Infrastructure and Platform Engineering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principles of cloud computing, virtualization, networking, storage systems, distributed computing, and DevOps practices to design, deploy, secure, monitor, and optimize scalable cloud infrastructure and services across modern cloud platforms.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PSO 2: Cloud-Native Application Development and Data-Driven Solutions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manage cloud-native applications by integrating software engineering principles, databases, web technologies, data analytics, machine learning, automation, and site reliability practices to deliver efficient, secure, and business-oriented solutions</a:t>
            </a:r>
            <a:r>
              <a:rPr lang="en-US" b="1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2" name="Picture 1" descr="LPUNEST 2024 - LPU Admission 2024 Entrace Exam, Apply N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Chevron 8"/>
          <p:cNvSpPr/>
          <p:nvPr/>
        </p:nvSpPr>
        <p:spPr>
          <a:xfrm>
            <a:off x="1441186" y="2152379"/>
            <a:ext cx="1112689" cy="903514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Arrow: Chevron 9"/>
          <p:cNvSpPr/>
          <p:nvPr/>
        </p:nvSpPr>
        <p:spPr>
          <a:xfrm>
            <a:off x="1484734" y="3613766"/>
            <a:ext cx="1112689" cy="903514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62d04a09b_0_7"/>
          <p:cNvSpPr txBox="1"/>
          <p:nvPr/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5" name="Google Shape;135;g1462d04a09b_0_7" descr="Lovely Professional University - Wikipedia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1462d04a09b_0_7"/>
          <p:cNvSpPr txBox="1"/>
          <p:nvPr/>
        </p:nvSpPr>
        <p:spPr>
          <a:xfrm>
            <a:off x="0" y="29266"/>
            <a:ext cx="12192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  <a:buClr>
                <a:srgbClr val="222222"/>
              </a:buClr>
              <a:buSzPts val="8000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BLOOM’s TAXONOMY</a:t>
            </a:r>
            <a:endParaRPr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7" name="Google Shape;137;g1462d04a09b_0_7" descr="Melding Bloom's Taxonomy and Universal Design for Learning"/>
          <p:cNvPicPr preferRelativeResize="0"/>
          <p:nvPr/>
        </p:nvPicPr>
        <p:blipFill rotWithShape="1">
          <a:blip r:embed="rId4"/>
          <a:srcRect t="19309"/>
          <a:stretch>
            <a:fillRect/>
          </a:stretch>
        </p:blipFill>
        <p:spPr>
          <a:xfrm>
            <a:off x="210671" y="971535"/>
            <a:ext cx="11820566" cy="53146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3"/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D40499D-CC57-98AA-409A-234EAA71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62d04a09b_0_7">
            <a:extLst>
              <a:ext uri="{FF2B5EF4-FFF2-40B4-BE49-F238E27FC236}">
                <a16:creationId xmlns:a16="http://schemas.microsoft.com/office/drawing/2014/main" id="{40408D7A-AAA3-327C-6A35-EE9BA22D5E5E}"/>
              </a:ext>
            </a:extLst>
          </p:cNvPr>
          <p:cNvSpPr txBox="1"/>
          <p:nvPr/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1200"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fld>
            <a:endParaRPr lang="en-US" sz="120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5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96017407-C865-0E29-F6C0-DA92B95BC99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3">
            <a:extLst>
              <a:ext uri="{FF2B5EF4-FFF2-40B4-BE49-F238E27FC236}">
                <a16:creationId xmlns:a16="http://schemas.microsoft.com/office/drawing/2014/main" id="{EC9FF050-0C9E-0D87-364B-69A6C9C5B0E2}"/>
              </a:ext>
            </a:extLst>
          </p:cNvPr>
          <p:cNvSpPr txBox="1"/>
          <p:nvPr/>
        </p:nvSpPr>
        <p:spPr>
          <a:xfrm>
            <a:off x="0" y="6392019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3" name="Picture 2" descr="LPUNEST 2024 - LPU Admission 2024 Entrace Exam, Apply Now">
            <a:extLst>
              <a:ext uri="{FF2B5EF4-FFF2-40B4-BE49-F238E27FC236}">
                <a16:creationId xmlns:a16="http://schemas.microsoft.com/office/drawing/2014/main" id="{D5FEBCCC-2CC5-6475-17C3-84BDD8FE1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18">
            <a:extLst>
              <a:ext uri="{FF2B5EF4-FFF2-40B4-BE49-F238E27FC236}">
                <a16:creationId xmlns:a16="http://schemas.microsoft.com/office/drawing/2014/main" id="{A3975BEB-6CE5-7FCB-E8C0-C28B3461F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20" y="283181"/>
            <a:ext cx="10820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756827DD-0508-F27E-7291-4F6C0887F422}"/>
              </a:ext>
            </a:extLst>
          </p:cNvPr>
          <p:cNvSpPr txBox="1"/>
          <p:nvPr/>
        </p:nvSpPr>
        <p:spPr>
          <a:xfrm>
            <a:off x="8992471" y="4019261"/>
            <a:ext cx="2513729" cy="1502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986"/>
              </a:lnSpc>
              <a:defRPr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 test, </a:t>
            </a:r>
          </a:p>
          <a:p>
            <a:pPr algn="ctr">
              <a:lnSpc>
                <a:spcPts val="2986"/>
              </a:lnSpc>
              <a:defRPr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marks</a:t>
            </a:r>
          </a:p>
          <a:p>
            <a:pPr algn="ctr">
              <a:lnSpc>
                <a:spcPts val="2986"/>
              </a:lnSpc>
              <a:defRPr/>
            </a:pPr>
            <a:r>
              <a:rPr lang="en-IN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</a:p>
          <a:p>
            <a:pPr algn="ctr">
              <a:lnSpc>
                <a:spcPts val="2986"/>
              </a:lnSpc>
              <a:defRPr/>
            </a:pP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AC8696DD-9373-641E-54D5-D983A3262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438" y="4191711"/>
            <a:ext cx="1027033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4484"/>
              </a:lnSpc>
            </a:pPr>
            <a:r>
              <a:rPr lang="en-US" altLang="en-US" sz="3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 2</a:t>
            </a:r>
          </a:p>
        </p:txBody>
      </p:sp>
      <p:sp>
        <p:nvSpPr>
          <p:cNvPr id="11" name="TextBox 21">
            <a:extLst>
              <a:ext uri="{FF2B5EF4-FFF2-40B4-BE49-F238E27FC236}">
                <a16:creationId xmlns:a16="http://schemas.microsoft.com/office/drawing/2014/main" id="{8414187C-7A9A-4FFE-3895-67F06ED5F4F7}"/>
              </a:ext>
            </a:extLst>
          </p:cNvPr>
          <p:cNvSpPr txBox="1"/>
          <p:nvPr/>
        </p:nvSpPr>
        <p:spPr>
          <a:xfrm>
            <a:off x="2093094" y="4019261"/>
            <a:ext cx="2743461" cy="1554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1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 test, </a:t>
            </a:r>
          </a:p>
          <a:p>
            <a:pPr algn="ctr">
              <a:lnSpc>
                <a:spcPts val="3079"/>
              </a:lnSpc>
              <a:defRPr/>
            </a:pPr>
            <a:r>
              <a:rPr lang="en-US" sz="21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marks</a:t>
            </a:r>
          </a:p>
          <a:p>
            <a:pPr algn="ctr">
              <a:lnSpc>
                <a:spcPts val="3079"/>
              </a:lnSpc>
              <a:defRPr/>
            </a:pPr>
            <a:r>
              <a:rPr lang="en-IN" sz="21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</a:p>
          <a:p>
            <a:pPr algn="ctr">
              <a:lnSpc>
                <a:spcPts val="3079"/>
              </a:lnSpc>
              <a:defRPr/>
            </a:pPr>
            <a:endParaRPr lang="en-US" sz="2133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0D52951E-F7A5-FF77-AB3C-77DF9D7F3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443" y="4100878"/>
            <a:ext cx="1026585" cy="540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4484"/>
              </a:lnSpc>
            </a:pP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7">
            <a:extLst>
              <a:ext uri="{FF2B5EF4-FFF2-40B4-BE49-F238E27FC236}">
                <a16:creationId xmlns:a16="http://schemas.microsoft.com/office/drawing/2014/main" id="{FC2E407F-4984-E734-9857-61C4B036EA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5" y="1605558"/>
            <a:ext cx="2435058" cy="221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7291985C-275D-261E-2E77-622534F1F0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782" y="1704837"/>
            <a:ext cx="2294344" cy="209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DC7B793-A5A5-24E1-13A1-74B747FB8D64}"/>
              </a:ext>
            </a:extLst>
          </p:cNvPr>
          <p:cNvSpPr/>
          <p:nvPr/>
        </p:nvSpPr>
        <p:spPr>
          <a:xfrm>
            <a:off x="887355" y="4191711"/>
            <a:ext cx="1281698" cy="5107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altLang="en-US" sz="4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 1</a:t>
            </a:r>
          </a:p>
        </p:txBody>
      </p:sp>
      <p:sp>
        <p:nvSpPr>
          <p:cNvPr id="21" name="Down Arrow 2">
            <a:extLst>
              <a:ext uri="{FF2B5EF4-FFF2-40B4-BE49-F238E27FC236}">
                <a16:creationId xmlns:a16="http://schemas.microsoft.com/office/drawing/2014/main" id="{79D1992A-1B50-B6AA-F084-C5334C8CA11E}"/>
              </a:ext>
            </a:extLst>
          </p:cNvPr>
          <p:cNvSpPr/>
          <p:nvPr/>
        </p:nvSpPr>
        <p:spPr>
          <a:xfrm>
            <a:off x="2978687" y="1704837"/>
            <a:ext cx="972273" cy="209010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1">
            <a:extLst>
              <a:ext uri="{FF2B5EF4-FFF2-40B4-BE49-F238E27FC236}">
                <a16:creationId xmlns:a16="http://schemas.microsoft.com/office/drawing/2014/main" id="{1628E856-7503-B748-BBE8-0CA16AE4BD2C}"/>
              </a:ext>
            </a:extLst>
          </p:cNvPr>
          <p:cNvSpPr/>
          <p:nvPr/>
        </p:nvSpPr>
        <p:spPr>
          <a:xfrm>
            <a:off x="9763198" y="1704837"/>
            <a:ext cx="972273" cy="209010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EAC51E7-0104-EC82-8088-0CDE9DB16025}"/>
              </a:ext>
            </a:extLst>
          </p:cNvPr>
          <p:cNvSpPr/>
          <p:nvPr/>
        </p:nvSpPr>
        <p:spPr>
          <a:xfrm>
            <a:off x="4345005" y="2181303"/>
            <a:ext cx="2986777" cy="1066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Compulsory</a:t>
            </a:r>
          </a:p>
        </p:txBody>
      </p:sp>
    </p:spTree>
    <p:extLst>
      <p:ext uri="{BB962C8B-B14F-4D97-AF65-F5344CB8AC3E}">
        <p14:creationId xmlns:p14="http://schemas.microsoft.com/office/powerpoint/2010/main" val="335404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F176B7C-3944-4885-3CAF-2C0E7B04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F8958B57-2FF5-7352-C8F5-8DA597D9F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05" y="465068"/>
            <a:ext cx="10582469" cy="1432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5867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Education Resources</a:t>
            </a: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867"/>
              </a:lnSpc>
            </a:pP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9542BC-DD89-26D6-9582-11C1D3239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912795"/>
              </p:ext>
            </p:extLst>
          </p:nvPr>
        </p:nvGraphicFramePr>
        <p:xfrm>
          <a:off x="199839" y="1195570"/>
          <a:ext cx="11792321" cy="5528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3834">
                  <a:extLst>
                    <a:ext uri="{9D8B030D-6E8A-4147-A177-3AD203B41FA5}">
                      <a16:colId xmlns:a16="http://schemas.microsoft.com/office/drawing/2014/main" val="4023941724"/>
                    </a:ext>
                  </a:extLst>
                </a:gridCol>
                <a:gridCol w="2083834">
                  <a:extLst>
                    <a:ext uri="{9D8B030D-6E8A-4147-A177-3AD203B41FA5}">
                      <a16:colId xmlns:a16="http://schemas.microsoft.com/office/drawing/2014/main" val="3136758805"/>
                    </a:ext>
                  </a:extLst>
                </a:gridCol>
                <a:gridCol w="1610050">
                  <a:extLst>
                    <a:ext uri="{9D8B030D-6E8A-4147-A177-3AD203B41FA5}">
                      <a16:colId xmlns:a16="http://schemas.microsoft.com/office/drawing/2014/main" val="4079781721"/>
                    </a:ext>
                  </a:extLst>
                </a:gridCol>
                <a:gridCol w="1610050">
                  <a:extLst>
                    <a:ext uri="{9D8B030D-6E8A-4147-A177-3AD203B41FA5}">
                      <a16:colId xmlns:a16="http://schemas.microsoft.com/office/drawing/2014/main" val="3671608410"/>
                    </a:ext>
                  </a:extLst>
                </a:gridCol>
                <a:gridCol w="1407958">
                  <a:extLst>
                    <a:ext uri="{9D8B030D-6E8A-4147-A177-3AD203B41FA5}">
                      <a16:colId xmlns:a16="http://schemas.microsoft.com/office/drawing/2014/main" val="1449702834"/>
                    </a:ext>
                  </a:extLst>
                </a:gridCol>
                <a:gridCol w="2996595">
                  <a:extLst>
                    <a:ext uri="{9D8B030D-6E8A-4147-A177-3AD203B41FA5}">
                      <a16:colId xmlns:a16="http://schemas.microsoft.com/office/drawing/2014/main" val="2734593867"/>
                    </a:ext>
                  </a:extLst>
                </a:gridCol>
              </a:tblGrid>
              <a:tr h="86032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mapped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topic/Sub Topic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OER Type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OER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*%age unit mapped with OER (</a:t>
                      </a:r>
                      <a:r>
                        <a:rPr lang="en-US" sz="1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</a:t>
                      </a: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URL</a:t>
                      </a:r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42">
                <a:tc rowSpan="2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https://cloud.google.com/docs/overview</a:t>
                      </a:r>
                      <a:endParaRPr lang="en-US" sz="1400" u="sng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xmlns="" val="tx"/>
                            </a:ext>
                          </a:extLst>
                        </a:hlinkClick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5969">
                <a:tc v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Google Cloud: Google Cloud Infrastructure, Google Cloud Console, Cloud Shell, Cloud SDK (gcloud CLI), gcloud Command Structure, Cloud APIs and REST Interface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200" u="sng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3"/>
                      </a:endParaRPr>
                    </a:p>
                  </a:txBody>
                  <a:tcPr marL="50199" marR="5019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771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Machines &amp; Hypervisors, VM Lifecycle Management; Virtual Networks (VPC, subnetworks, IP addresses, routes &amp; firewall rules); Identity and Access Management (IAM) - organizations, roles, members, service accounts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5"/>
                        </a:rPr>
                        <a:t>https://cloud.google.com/compute/docs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99" marR="50199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8F697D0C-9597-22CC-0E0B-BA8E9321D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05F2E2B8-09FA-12D7-6F30-36C5D37B5DB7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917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291F479A-48F7-A3CD-02DA-79B598E6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1A3DE061-9D51-7F7A-332C-DE1C61532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05" y="465068"/>
            <a:ext cx="10582469" cy="1432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5867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Education Resources</a:t>
            </a: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867"/>
              </a:lnSpc>
            </a:pP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AD135768-DC45-C4CF-BD7D-F3797771E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4C8F5714-FB75-E877-1CF5-3EC1460080C1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593816-8CFC-838A-F31D-D75A66B7F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620326"/>
              </p:ext>
            </p:extLst>
          </p:nvPr>
        </p:nvGraphicFramePr>
        <p:xfrm>
          <a:off x="170121" y="1337533"/>
          <a:ext cx="11887200" cy="5383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2724">
                  <a:extLst>
                    <a:ext uri="{9D8B030D-6E8A-4147-A177-3AD203B41FA5}">
                      <a16:colId xmlns:a16="http://schemas.microsoft.com/office/drawing/2014/main" val="2557986305"/>
                    </a:ext>
                  </a:extLst>
                </a:gridCol>
                <a:gridCol w="2270385">
                  <a:extLst>
                    <a:ext uri="{9D8B030D-6E8A-4147-A177-3AD203B41FA5}">
                      <a16:colId xmlns:a16="http://schemas.microsoft.com/office/drawing/2014/main" val="977236143"/>
                    </a:ext>
                  </a:extLst>
                </a:gridCol>
                <a:gridCol w="1759796">
                  <a:extLst>
                    <a:ext uri="{9D8B030D-6E8A-4147-A177-3AD203B41FA5}">
                      <a16:colId xmlns:a16="http://schemas.microsoft.com/office/drawing/2014/main" val="2390568185"/>
                    </a:ext>
                  </a:extLst>
                </a:gridCol>
                <a:gridCol w="1551586">
                  <a:extLst>
                    <a:ext uri="{9D8B030D-6E8A-4147-A177-3AD203B41FA5}">
                      <a16:colId xmlns:a16="http://schemas.microsoft.com/office/drawing/2014/main" val="572343014"/>
                    </a:ext>
                  </a:extLst>
                </a:gridCol>
                <a:gridCol w="1544822">
                  <a:extLst>
                    <a:ext uri="{9D8B030D-6E8A-4147-A177-3AD203B41FA5}">
                      <a16:colId xmlns:a16="http://schemas.microsoft.com/office/drawing/2014/main" val="4185572907"/>
                    </a:ext>
                  </a:extLst>
                </a:gridCol>
                <a:gridCol w="3287887">
                  <a:extLst>
                    <a:ext uri="{9D8B030D-6E8A-4147-A177-3AD203B41FA5}">
                      <a16:colId xmlns:a16="http://schemas.microsoft.com/office/drawing/2014/main" val="3728532316"/>
                    </a:ext>
                  </a:extLst>
                </a:gridCol>
              </a:tblGrid>
              <a:tr h="2983686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 Services: object storage (Cloud Storage), block storage (Persistent Disks), file storage (Filestore), in-memory storage; Cloud Storage Classes (Standard, Nearline, Coldline, Archive), use cases &amp; cost implications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https://cloud.google.com/storage/docs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77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Management (Resource Manager, quotas, labels &amp; names, billing, resource hierarchy); Resource Monitoring (Cloud Monitoring, Cloud Logging, Error Reporting, Cloud Trace, Cloud Profiler)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https://cloud.google.com/monitoring/docs</a:t>
                      </a: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57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97F9C5B-E427-E093-AC03-63F22448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">
            <a:extLst>
              <a:ext uri="{FF2B5EF4-FFF2-40B4-BE49-F238E27FC236}">
                <a16:creationId xmlns:a16="http://schemas.microsoft.com/office/drawing/2014/main" id="{034CA9B7-BDEA-DD66-0FEE-C3AB66C8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805" y="465068"/>
            <a:ext cx="10582469" cy="1432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5867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Education Resources</a:t>
            </a: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867"/>
              </a:lnSpc>
            </a:pPr>
            <a:endParaRPr lang="en-US" altLang="en-US" sz="3600" b="1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FB3A11C8-40ED-E591-BF2B-3897089CD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32F0D1CD-8B70-B0F0-D179-3F96BB56CD09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448A76-3996-85AF-CA4C-AB6F9513C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10905"/>
              </p:ext>
            </p:extLst>
          </p:nvPr>
        </p:nvGraphicFramePr>
        <p:xfrm>
          <a:off x="152402" y="1286540"/>
          <a:ext cx="11887196" cy="5334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3811">
                  <a:extLst>
                    <a:ext uri="{9D8B030D-6E8A-4147-A177-3AD203B41FA5}">
                      <a16:colId xmlns:a16="http://schemas.microsoft.com/office/drawing/2014/main" val="734296115"/>
                    </a:ext>
                  </a:extLst>
                </a:gridCol>
                <a:gridCol w="2668772">
                  <a:extLst>
                    <a:ext uri="{9D8B030D-6E8A-4147-A177-3AD203B41FA5}">
                      <a16:colId xmlns:a16="http://schemas.microsoft.com/office/drawing/2014/main" val="4017526602"/>
                    </a:ext>
                  </a:extLst>
                </a:gridCol>
                <a:gridCol w="1509823">
                  <a:extLst>
                    <a:ext uri="{9D8B030D-6E8A-4147-A177-3AD203B41FA5}">
                      <a16:colId xmlns:a16="http://schemas.microsoft.com/office/drawing/2014/main" val="40099178"/>
                    </a:ext>
                  </a:extLst>
                </a:gridCol>
                <a:gridCol w="1722474">
                  <a:extLst>
                    <a:ext uri="{9D8B030D-6E8A-4147-A177-3AD203B41FA5}">
                      <a16:colId xmlns:a16="http://schemas.microsoft.com/office/drawing/2014/main" val="1190780685"/>
                    </a:ext>
                  </a:extLst>
                </a:gridCol>
                <a:gridCol w="1830240">
                  <a:extLst>
                    <a:ext uri="{9D8B030D-6E8A-4147-A177-3AD203B41FA5}">
                      <a16:colId xmlns:a16="http://schemas.microsoft.com/office/drawing/2014/main" val="2830778325"/>
                    </a:ext>
                  </a:extLst>
                </a:gridCol>
                <a:gridCol w="2662076">
                  <a:extLst>
                    <a:ext uri="{9D8B030D-6E8A-4147-A177-3AD203B41FA5}">
                      <a16:colId xmlns:a16="http://schemas.microsoft.com/office/drawing/2014/main" val="2199703267"/>
                    </a:ext>
                  </a:extLst>
                </a:gridCol>
              </a:tblGrid>
              <a:tr h="2033494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Interconnecting Networks (Cloud VPN - HA vs Classic, Cloud Interconnect, VPC Peering, Shared VPC); Load Balancing &amp; Auto Scaling (HTTP(S), SSL/TCP Proxy, Network &amp; Internal LB, Global vs Regional)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https://cloud.google.com/load-balancing/docs</a:t>
                      </a:r>
                    </a:p>
                  </a:txBody>
                  <a:tcPr marL="66695" marR="6669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Unit 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Infrastructure Automation: Terraform, Infrastructure as Code (IaC), providers, resources, variables, outputs, modules, and Terraform state management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Documentation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https://cloud.google.com/docs/terraform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Unit 6</a:t>
                      </a:r>
                    </a:p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en-IN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Managed Services: BigQuery, Dataflow, Dataprep by Trifacta, Dataproc, and BigQuery ML (building &amp; deploying ML models directly with SQL)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Skills Boost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ARCHITECTING WITH GOOGLE COMPUTE ENGINE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ct val="106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https://www.cloudskillsboost.google/catalog?keywords=compute+engine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95" marR="6669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321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C7A66E3-FB78-91F8-CAC7-5CB273B4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4E77C693-8DCA-55E3-EB33-4DB73BFF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2D110924-DF07-2977-FB78-3E0D164AD5FD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10EEA6-25AB-6AF4-23A2-C38FB093E9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IN" b="1">
                <a:latin typeface="Times New Roman" panose="02020603050405020304" pitchFamily="18" charset="0"/>
                <a:ea typeface="Open Sans" panose="020B0604020202020204" pitchFamily="34" charset="0"/>
                <a:cs typeface="Times New Roman" panose="02020603050405020304" pitchFamily="18" charset="0"/>
              </a:rPr>
              <a:t>Additional Tools / Activities</a:t>
            </a:r>
            <a:endParaRPr lang="en-US" b="1" dirty="0">
              <a:latin typeface="Times New Roman" panose="02020603050405020304" pitchFamily="18" charset="0"/>
              <a:ea typeface="Open Sans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C160D2-14D5-020C-46AA-1201028EB0CA}"/>
              </a:ext>
            </a:extLst>
          </p:cNvPr>
          <p:cNvSpPr txBox="1">
            <a:spLocks/>
          </p:cNvSpPr>
          <p:nvPr/>
        </p:nvSpPr>
        <p:spPr>
          <a:xfrm>
            <a:off x="279918" y="1436915"/>
            <a:ext cx="11635274" cy="471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2000" spc="-6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Since this is an industry-collaborative course aligned with official Google Cloud Documentation, all study material and hands-on lab resources are readily available to every student.</a:t>
            </a:r>
          </a:p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2000" spc="-6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Practical learning and Case-based learning is delivered through Google Cloud Skills Boost and hands-on labs covering Compute Engine, virtual networks, storage, resource monitoring, load balancing, and Terraform automation.</a:t>
            </a:r>
          </a:p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2000" spc="-6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course aligns with Google Cloud Skill Badges, which students can earn while completing their lab sessions.</a:t>
            </a:r>
          </a:p>
        </p:txBody>
      </p:sp>
      <p:sp>
        <p:nvSpPr>
          <p:cNvPr id="5" name="Google Shape;107;p3">
            <a:extLst>
              <a:ext uri="{FF2B5EF4-FFF2-40B4-BE49-F238E27FC236}">
                <a16:creationId xmlns:a16="http://schemas.microsoft.com/office/drawing/2014/main" id="{014B3DEE-DF69-2D7F-E59A-302E42B3E9A4}"/>
              </a:ext>
            </a:extLst>
          </p:cNvPr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2829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337037DF-2079-B562-0C64-E3440545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678F8977-758B-5D86-142F-EFC8D3D0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8787F0E2-D501-CEC1-DD4D-76BAB03A1721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F5FA52-4428-49F1-6909-A348B8913F6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ea typeface="Open Sans" panose="020B0604020202020204" pitchFamily="34" charset="0"/>
                <a:cs typeface="Times New Roman" panose="02020603050405020304" pitchFamily="18" charset="0"/>
              </a:rPr>
              <a:t>Industry Certifications &amp;Skill Development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67A11D-59E7-DBB5-972A-F2D877516746}"/>
              </a:ext>
            </a:extLst>
          </p:cNvPr>
          <p:cNvSpPr txBox="1">
            <a:spLocks/>
          </p:cNvSpPr>
          <p:nvPr/>
        </p:nvSpPr>
        <p:spPr>
          <a:xfrm>
            <a:off x="279918" y="1436915"/>
            <a:ext cx="11635274" cy="471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</a:rPr>
              <a:t>Preparation for Google Cloud Digital Leader Certification</a:t>
            </a:r>
            <a:r>
              <a:rPr lang="en-US" sz="1200" dirty="0">
                <a:solidFill>
                  <a:schemeClr val="tx1"/>
                </a:solidFill>
              </a:rPr>
              <a:t> by building a strong foundation in Google Cloud services, cloud concepts, and infrastructure management. </a:t>
            </a:r>
          </a:p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</a:rPr>
              <a:t>Readiness for Google Associate Cloud Engineer Certification</a:t>
            </a:r>
            <a:r>
              <a:rPr lang="en-US" sz="1200" dirty="0">
                <a:solidFill>
                  <a:schemeClr val="tx1"/>
                </a:solidFill>
              </a:rPr>
              <a:t> through practical experience in deploying, managing, and monitoring Google Cloud resources.</a:t>
            </a:r>
          </a:p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Infrastructure as Code (</a:t>
            </a:r>
            <a:r>
              <a:rPr lang="en-US" sz="1200" b="1" dirty="0" err="1">
                <a:solidFill>
                  <a:schemeClr val="tx1"/>
                </a:solidFill>
              </a:rPr>
              <a:t>IaC</a:t>
            </a:r>
            <a:r>
              <a:rPr lang="en-US" sz="1200" b="1" dirty="0">
                <a:solidFill>
                  <a:schemeClr val="tx1"/>
                </a:solidFill>
              </a:rPr>
              <a:t>) Skills</a:t>
            </a:r>
            <a:r>
              <a:rPr lang="en-US" sz="1200" dirty="0">
                <a:solidFill>
                  <a:schemeClr val="tx1"/>
                </a:solidFill>
              </a:rPr>
              <a:t> using </a:t>
            </a:r>
            <a:r>
              <a:rPr lang="en-US" sz="1200" b="1" dirty="0">
                <a:solidFill>
                  <a:schemeClr val="tx1"/>
                </a:solidFill>
              </a:rPr>
              <a:t>Terraform</a:t>
            </a:r>
            <a:r>
              <a:rPr lang="en-US" sz="1200" dirty="0">
                <a:solidFill>
                  <a:schemeClr val="tx1"/>
                </a:solidFill>
              </a:rPr>
              <a:t>, enabling students to automate cloud infrastructure provisioning and configuration.</a:t>
            </a:r>
            <a:endParaRPr lang="en-US" sz="1200" b="1" dirty="0">
              <a:solidFill>
                <a:schemeClr val="tx1"/>
              </a:solidFill>
            </a:endParaRPr>
          </a:p>
          <a:p>
            <a:pPr algn="just">
              <a:lnSpc>
                <a:spcPts val="5952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</a:rPr>
              <a:t>Career Readiness for Cloud Computing Roles</a:t>
            </a:r>
            <a:r>
              <a:rPr lang="en-US" sz="1200" dirty="0">
                <a:solidFill>
                  <a:schemeClr val="tx1"/>
                </a:solidFill>
              </a:rPr>
              <a:t> such as Cloud Engineer, Cloud Administrator, DevOps Engineer, Site Reliability Engineer (SRE), Infrastructure Engineer, and Cloud Support Associate by integrating theoretical concepts with practical laboratory exercises.</a:t>
            </a:r>
            <a:endParaRPr lang="en-US" sz="1200" spc="-62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Google Shape;107;p3">
            <a:extLst>
              <a:ext uri="{FF2B5EF4-FFF2-40B4-BE49-F238E27FC236}">
                <a16:creationId xmlns:a16="http://schemas.microsoft.com/office/drawing/2014/main" id="{731EED8A-DABF-CAD9-FFD3-1E7D60D4CAE5}"/>
              </a:ext>
            </a:extLst>
          </p:cNvPr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297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EDU Revolution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Learning Beyond the Classroom</a:t>
            </a:r>
            <a:br/>
            <a:r>
              <a:t>Division of Academic Affairs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BFD40-5826-1731-FA59-0D45F6201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65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3215680" y="983407"/>
            <a:ext cx="5760639" cy="1008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  <a:cs typeface="Bahnschrift SemiCondensed" panose="020B0502040204020203" charset="0"/>
              </a:rPr>
              <a:t>Why EDU-Revolution!!!</a:t>
            </a: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008380" y="1805305"/>
            <a:ext cx="10175240" cy="50526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835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" panose="020B0004020202020204" pitchFamily="34" charset="0"/>
                <a:cs typeface="Arial Rounded MT Bold" panose="020F0704030504030204" charset="0"/>
              </a:rPr>
              <a:t>Supports the 'Earn Your Fee' vision through real-world achievements</a:t>
            </a:r>
          </a:p>
          <a:p>
            <a:pPr marL="457835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" panose="020B0004020202020204" pitchFamily="34" charset="0"/>
                <a:cs typeface="Arial Rounded MT Bold" panose="020F0704030504030204" charset="0"/>
              </a:rPr>
              <a:t>Career Readiness</a:t>
            </a:r>
          </a:p>
          <a:p>
            <a:pPr marL="457835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" panose="020B0004020202020204" pitchFamily="34" charset="0"/>
                <a:cs typeface="Arial Rounded MT Bold" panose="020F0704030504030204" charset="0"/>
              </a:rPr>
              <a:t>Enhance Real World Skills</a:t>
            </a:r>
          </a:p>
          <a:p>
            <a:pPr marL="457835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" panose="020B0004020202020204" pitchFamily="34" charset="0"/>
                <a:cs typeface="Arial Rounded MT Bold" panose="020F0704030504030204" charset="0"/>
              </a:rPr>
              <a:t>Promote Innovation and Creativity</a:t>
            </a:r>
          </a:p>
          <a:p>
            <a:pPr marL="457835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Aptos" panose="020B0004020202020204" pitchFamily="34" charset="0"/>
                <a:cs typeface="Arial Rounded MT Bold" panose="020F0704030504030204" charset="0"/>
              </a:rPr>
              <a:t>Promote Lifelong Learning</a:t>
            </a:r>
          </a:p>
        </p:txBody>
      </p:sp>
    </p:spTree>
    <p:extLst>
      <p:ext uri="{BB962C8B-B14F-4D97-AF65-F5344CB8AC3E}">
        <p14:creationId xmlns:p14="http://schemas.microsoft.com/office/powerpoint/2010/main" val="1503281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3F33A-D662-9594-A24B-BB2C53876EF9}"/>
              </a:ext>
            </a:extLst>
          </p:cNvPr>
          <p:cNvSpPr txBox="1"/>
          <p:nvPr/>
        </p:nvSpPr>
        <p:spPr>
          <a:xfrm>
            <a:off x="2449286" y="0"/>
            <a:ext cx="7881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Academic initiatives under EDU Revolution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22217-FF14-4C55-B001-AF887E05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694155"/>
            <a:ext cx="9933602" cy="546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9843" y="146745"/>
            <a:ext cx="33275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sz="3200" dirty="0">
                <a:solidFill>
                  <a:schemeClr val="accent4">
                    <a:lumMod val="75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Academic Benefits</a:t>
            </a:r>
            <a:endParaRPr sz="32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CF904-66F6-DBDE-51D3-F8B7F06C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086" y="904996"/>
            <a:ext cx="10011737" cy="53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20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6DEB0-171F-BC24-D16C-4CFDC2DA3D2C}"/>
              </a:ext>
            </a:extLst>
          </p:cNvPr>
          <p:cNvSpPr txBox="1"/>
          <p:nvPr/>
        </p:nvSpPr>
        <p:spPr>
          <a:xfrm>
            <a:off x="1001487" y="2263676"/>
            <a:ext cx="105700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Aptos" panose="020B0004020202020204" pitchFamily="34" charset="0"/>
              </a:rPr>
              <a:t>Criteria Sheet- </a:t>
            </a:r>
            <a:r>
              <a:rPr lang="en-IN" sz="2400" dirty="0">
                <a:latin typeface="Aptos" panose="020B0004020202020204" pitchFamily="34" charset="0"/>
              </a:rPr>
              <a:t>it is a structured framework for evaluating EDU Revolution submissions to ensure </a:t>
            </a:r>
            <a:r>
              <a:rPr lang="en-IN" sz="2400" b="1" dirty="0">
                <a:latin typeface="Aptos" panose="020B0004020202020204" pitchFamily="34" charset="0"/>
              </a:rPr>
              <a:t>transparency, consistency, and standardization</a:t>
            </a:r>
            <a:r>
              <a:rPr lang="en-IN" sz="2400" dirty="0">
                <a:latin typeface="Aptos" panose="020B0004020202020204" pitchFamily="34" charset="0"/>
              </a:rPr>
              <a:t> in assessment. It defines: </a:t>
            </a:r>
          </a:p>
          <a:p>
            <a:pPr algn="just"/>
            <a:endParaRPr lang="en-IN" sz="2400" dirty="0"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" panose="020B0004020202020204" pitchFamily="34" charset="0"/>
              </a:rPr>
              <a:t>Eligibility criteria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" panose="020B0004020202020204" pitchFamily="34" charset="0"/>
              </a:rPr>
              <a:t>Required evidence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" panose="020B0004020202020204" pitchFamily="34" charset="0"/>
              </a:rPr>
              <a:t>Evaluation parameters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Aptos" panose="020B0004020202020204" pitchFamily="34" charset="0"/>
              </a:rPr>
              <a:t>Academic benefits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  <a:p>
            <a:pPr algn="just"/>
            <a:endParaRPr lang="en-IN" sz="2400" dirty="0">
              <a:latin typeface="Aptos" panose="020B0004020202020204" pitchFamily="34" charset="0"/>
            </a:endParaRPr>
          </a:p>
          <a:p>
            <a:pPr algn="just"/>
            <a:r>
              <a:rPr lang="en-IN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9308F-ED37-853D-8DE2-2A9484D79A94}"/>
              </a:ext>
            </a:extLst>
          </p:cNvPr>
          <p:cNvSpPr txBox="1"/>
          <p:nvPr/>
        </p:nvSpPr>
        <p:spPr>
          <a:xfrm>
            <a:off x="1001487" y="8059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ptos" panose="020B0004020202020204" pitchFamily="34" charset="0"/>
              </a:rPr>
              <a:t>Review &amp; Approval Process</a:t>
            </a:r>
          </a:p>
        </p:txBody>
      </p:sp>
    </p:spTree>
    <p:extLst>
      <p:ext uri="{BB962C8B-B14F-4D97-AF65-F5344CB8AC3E}">
        <p14:creationId xmlns:p14="http://schemas.microsoft.com/office/powerpoint/2010/main" val="924304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2AC04-FD20-841F-CF3B-36185F2AFFAA}"/>
              </a:ext>
            </a:extLst>
          </p:cNvPr>
          <p:cNvSpPr txBox="1"/>
          <p:nvPr/>
        </p:nvSpPr>
        <p:spPr>
          <a:xfrm>
            <a:off x="1142999" y="2029323"/>
            <a:ext cx="1036320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Aptos" panose="020B0004020202020204" pitchFamily="34" charset="0"/>
              </a:rPr>
              <a:t>Standing Committee- </a:t>
            </a:r>
            <a:r>
              <a:rPr lang="en-IN" sz="2200" dirty="0">
                <a:latin typeface="Aptos" panose="020B0004020202020204" pitchFamily="34" charset="0"/>
              </a:rPr>
              <a:t>it</a:t>
            </a:r>
            <a:r>
              <a:rPr lang="en-IN" sz="2200" b="1" dirty="0">
                <a:latin typeface="Aptos" panose="020B0004020202020204" pitchFamily="34" charset="0"/>
              </a:rPr>
              <a:t> r</a:t>
            </a:r>
            <a:r>
              <a:rPr lang="en-IN" sz="2200" dirty="0">
                <a:latin typeface="Aptos" panose="020B0004020202020204" pitchFamily="34" charset="0"/>
              </a:rPr>
              <a:t>eviews EDU Revolution nominations and recommends eligible academic benefits. </a:t>
            </a:r>
          </a:p>
          <a:p>
            <a:endParaRPr lang="en-IN" sz="2200" dirty="0">
              <a:latin typeface="Aptos" panose="020B0004020202020204" pitchFamily="34" charset="0"/>
            </a:endParaRPr>
          </a:p>
          <a:p>
            <a:r>
              <a:rPr lang="en-IN" sz="2200" dirty="0">
                <a:latin typeface="Aptos" panose="020B0004020202020204" pitchFamily="34" charset="0"/>
              </a:rPr>
              <a:t>Composition-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b="1" dirty="0">
                <a:latin typeface="Aptos" panose="020B0004020202020204" pitchFamily="34" charset="0"/>
              </a:rPr>
              <a:t>5–7 members</a:t>
            </a:r>
            <a:r>
              <a:rPr lang="en-IN" sz="2200" dirty="0">
                <a:latin typeface="Aptos" panose="020B0004020202020204" pitchFamily="34" charset="0"/>
              </a:rPr>
              <a:t> constituted by the </a:t>
            </a:r>
            <a:r>
              <a:rPr lang="en-IN" sz="2200" dirty="0" err="1">
                <a:latin typeface="Aptos" panose="020B0004020202020204" pitchFamily="34" charset="0"/>
              </a:rPr>
              <a:t>HoS.</a:t>
            </a:r>
            <a:r>
              <a:rPr lang="en-IN" sz="2200" dirty="0">
                <a:latin typeface="Aptos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Aptos" panose="020B0004020202020204" pitchFamily="34" charset="0"/>
              </a:rPr>
              <a:t>Additional members may be nominated by the </a:t>
            </a:r>
            <a:r>
              <a:rPr lang="en-IN" sz="2200" dirty="0" err="1">
                <a:latin typeface="Aptos" panose="020B0004020202020204" pitchFamily="34" charset="0"/>
              </a:rPr>
              <a:t>HoS.</a:t>
            </a:r>
            <a:r>
              <a:rPr lang="en-IN" sz="2200" dirty="0">
                <a:latin typeface="Aptos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Aptos" panose="020B0004020202020204" pitchFamily="34" charset="0"/>
              </a:rPr>
              <a:t>All relevant committee coordinators are members.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6AD0E-6AD7-6B91-A0CD-2B8991518B16}"/>
              </a:ext>
            </a:extLst>
          </p:cNvPr>
          <p:cNvSpPr txBox="1"/>
          <p:nvPr/>
        </p:nvSpPr>
        <p:spPr>
          <a:xfrm>
            <a:off x="1230086" y="1001877"/>
            <a:ext cx="8817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Standing Committee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20476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1184" y="221017"/>
            <a:ext cx="75795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sz="3600" dirty="0">
                <a:latin typeface="Aptos" panose="020B0004020202020204" pitchFamily="34" charset="0"/>
              </a:rPr>
              <a:t>Processing of Student Nominations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6A99EDE-67E1-DC48-2280-56C07B1C1AC3}"/>
              </a:ext>
            </a:extLst>
          </p:cNvPr>
          <p:cNvGraphicFramePr/>
          <p:nvPr/>
        </p:nvGraphicFramePr>
        <p:xfrm>
          <a:off x="1658978" y="1024838"/>
          <a:ext cx="8577222" cy="885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A331C09-B5DA-29FB-49E3-2326DD78AA33}"/>
              </a:ext>
            </a:extLst>
          </p:cNvPr>
          <p:cNvGraphicFramePr/>
          <p:nvPr/>
        </p:nvGraphicFramePr>
        <p:xfrm>
          <a:off x="1658978" y="2607831"/>
          <a:ext cx="8678822" cy="974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8540A4D-56CC-7781-19E2-55419998BF26}"/>
              </a:ext>
            </a:extLst>
          </p:cNvPr>
          <p:cNvGraphicFramePr/>
          <p:nvPr/>
        </p:nvGraphicFramePr>
        <p:xfrm>
          <a:off x="1680752" y="4103937"/>
          <a:ext cx="8678821" cy="1014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4E04888-4D94-227B-DAA6-DAFF27AE39CF}"/>
              </a:ext>
            </a:extLst>
          </p:cNvPr>
          <p:cNvGraphicFramePr/>
          <p:nvPr/>
        </p:nvGraphicFramePr>
        <p:xfrm>
          <a:off x="1691633" y="5686930"/>
          <a:ext cx="8667939" cy="844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6241E865-9D5B-3E99-D259-5F62526B058B}"/>
              </a:ext>
            </a:extLst>
          </p:cNvPr>
          <p:cNvSpPr/>
          <p:nvPr/>
        </p:nvSpPr>
        <p:spPr>
          <a:xfrm>
            <a:off x="5497283" y="2068023"/>
            <a:ext cx="413657" cy="5029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EF27A64-DF70-B3D4-2179-2746CE032DF7}"/>
              </a:ext>
            </a:extLst>
          </p:cNvPr>
          <p:cNvSpPr/>
          <p:nvPr/>
        </p:nvSpPr>
        <p:spPr>
          <a:xfrm>
            <a:off x="5524494" y="3651016"/>
            <a:ext cx="413657" cy="5029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86EB70D2-1077-31EE-7238-19CC56B36243}"/>
              </a:ext>
            </a:extLst>
          </p:cNvPr>
          <p:cNvSpPr/>
          <p:nvPr/>
        </p:nvSpPr>
        <p:spPr>
          <a:xfrm>
            <a:off x="5540823" y="5184010"/>
            <a:ext cx="413657" cy="5029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84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604962"/>
            <a:ext cx="101060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2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18" y="662668"/>
            <a:ext cx="9902871" cy="561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7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6" y="823876"/>
            <a:ext cx="10270535" cy="55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2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99393"/>
            <a:ext cx="10403068" cy="565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74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A0CDBB5F-F793-5D91-6711-44A941B2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BE51F9AA-F4A4-E114-246D-61A74895F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6876DB03-9900-365E-8F4D-7DBCB02B2712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CAAE2-8F1E-84E2-716C-56B415C73C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298"/>
          <a:stretch>
            <a:fillRect/>
          </a:stretch>
        </p:blipFill>
        <p:spPr>
          <a:xfrm>
            <a:off x="457200" y="1041990"/>
            <a:ext cx="11277600" cy="535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42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A8B944B-1175-E72E-52C3-920BB118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92AB869C-211D-D8E1-BEDB-AB28FFF2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CDD2D9B0-2687-9C8B-B11E-052E62DACAD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A295E3-9FBA-6133-A824-67F63ADE4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30" y="643467"/>
            <a:ext cx="1022213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7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154F526-DA55-F9F0-397E-8209700E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33FB8955-E892-0268-4AC5-02FCB3BBF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BBEE037B-33A2-1D39-DCA2-FDDBB56A23A1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4096B2-DD09-5488-2DBC-A8CA335C8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56" y="1063256"/>
            <a:ext cx="10905687" cy="53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83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0D84C644-FA79-743B-D38C-43C7DC1B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2A5B0-BD4B-CFBA-960D-7614FF61C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2" r="1342" b="1"/>
          <a:stretch>
            <a:fillRect/>
          </a:stretch>
        </p:blipFill>
        <p:spPr>
          <a:xfrm>
            <a:off x="818706" y="1063256"/>
            <a:ext cx="10845209" cy="5794744"/>
          </a:xfrm>
          <a:prstGeom prst="rect">
            <a:avLst/>
          </a:prstGeom>
        </p:spPr>
      </p:pic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1AE64028-C1DA-E41E-874B-6EED72AF2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95594AEB-25A5-F900-7BA1-4F7A33FF2D11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7296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B838B80-9D4E-A113-AD09-87636CC81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D7DF7F07-3ACB-90AC-7276-E7DD9B49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3997B595-24C5-2B39-2F82-31A6A021313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6CD546-8E5A-838A-19D6-3ECEAA830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56" y="1137684"/>
            <a:ext cx="10905687" cy="526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81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C901A95-9BB1-C931-124B-3BB6E9DF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PUNEST 2024 - LPU Admission 2024 Entrace Exam, Apply Now">
            <a:extLst>
              <a:ext uri="{FF2B5EF4-FFF2-40B4-BE49-F238E27FC236}">
                <a16:creationId xmlns:a16="http://schemas.microsoft.com/office/drawing/2014/main" id="{B4CACD9F-BE93-2AE9-07C0-25183C52F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80516"/>
            <a:ext cx="1336040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oogle Shape;135;g1462d04a09b_0_7" descr="Lovely Professional University - Wikipedia">
            <a:extLst>
              <a:ext uri="{FF2B5EF4-FFF2-40B4-BE49-F238E27FC236}">
                <a16:creationId xmlns:a16="http://schemas.microsoft.com/office/drawing/2014/main" id="{C23A1641-15A8-9FB2-3EDE-AD5B7C62766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77533" y="131166"/>
            <a:ext cx="603795" cy="620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D82AA7-6A32-CAC1-9509-C564FDC809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298"/>
          <a:stretch>
            <a:fillRect/>
          </a:stretch>
        </p:blipFill>
        <p:spPr>
          <a:xfrm>
            <a:off x="457200" y="1010092"/>
            <a:ext cx="11277600" cy="539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40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/>
          <p:nvPr/>
        </p:nvSpPr>
        <p:spPr>
          <a:xfrm>
            <a:off x="2672640" y="2274838"/>
            <a:ext cx="7111304" cy="2308324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THANKS</a:t>
            </a:r>
          </a:p>
          <a:p>
            <a:pPr algn="ctr"/>
            <a:r>
              <a:rPr lang="en-IN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Any Queries!</a:t>
            </a:r>
            <a:endParaRPr lang="en-US" sz="72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18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1988</Words>
  <Application>Microsoft Office PowerPoint</Application>
  <PresentationFormat>Widescreen</PresentationFormat>
  <Paragraphs>325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Bahnschrift SemiCondensed</vt:lpstr>
      <vt:lpstr>Arial Rounded MT Bold</vt:lpstr>
      <vt:lpstr>Inter</vt:lpstr>
      <vt:lpstr>Aptos</vt:lpstr>
      <vt:lpstr>Times Neue Roman</vt:lpstr>
      <vt:lpstr>Calibri Light</vt:lpstr>
      <vt:lpstr>Open Sans</vt:lpstr>
      <vt:lpstr>Times New Roman</vt:lpstr>
      <vt:lpstr>Wingdings</vt:lpstr>
      <vt:lpstr>Calibri</vt:lpstr>
      <vt:lpstr>Office Theme</vt:lpstr>
      <vt:lpstr>Office Theme</vt:lpstr>
      <vt:lpstr>PowerPoint Presentation</vt:lpstr>
      <vt:lpstr>PowerPoint Presentation</vt:lpstr>
      <vt:lpstr>COURSE WEIGHTAGE &amp; TEXTBOOKS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</dc:creator>
  <cp:lastModifiedBy>Preet</cp:lastModifiedBy>
  <cp:revision>342</cp:revision>
  <dcterms:created xsi:type="dcterms:W3CDTF">2006-08-16T00:00:00Z</dcterms:created>
  <dcterms:modified xsi:type="dcterms:W3CDTF">2026-07-16T03:41:33Z</dcterms:modified>
</cp:coreProperties>
</file>