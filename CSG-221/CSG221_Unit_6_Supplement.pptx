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41e80874264d2d" /><Relationship Type="http://schemas.openxmlformats.org/officeDocument/2006/relationships/extended-properties" Target="/docProps/app.xml" Id="R0db49df6d40d4aa0" /><Relationship Type="http://schemas.openxmlformats.org/officeDocument/2006/relationships/officeDocument" Target="/ppt/presentation.xml" Id="R29a65b8b3adc4df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7c057edd5194c07"/>
  </p:sldMasterIdLst>
  <p:notesMasterIdLst>
    <p:notesMasterId xmlns:r="http://schemas.openxmlformats.org/officeDocument/2006/relationships" r:id="R404cafa4fd0b48c0"/>
  </p:notesMasterIdLst>
  <p:sldIdLst>
    <p:sldId xmlns:r="http://schemas.openxmlformats.org/officeDocument/2006/relationships" id="256" r:id="R0697b8269b194fd9"/>
    <p:sldId xmlns:r="http://schemas.openxmlformats.org/officeDocument/2006/relationships" id="257" r:id="Rd15b8a8f887f4783"/>
    <p:sldId xmlns:r="http://schemas.openxmlformats.org/officeDocument/2006/relationships" id="258" r:id="R073b2f6848fb4ddb"/>
    <p:sldId xmlns:r="http://schemas.openxmlformats.org/officeDocument/2006/relationships" id="259" r:id="R35157cff63ef4253"/>
    <p:sldId xmlns:r="http://schemas.openxmlformats.org/officeDocument/2006/relationships" id="260" r:id="Rb2994f4038c44216"/>
    <p:sldId xmlns:r="http://schemas.openxmlformats.org/officeDocument/2006/relationships" id="261" r:id="Rcd11fa288a5b4407"/>
    <p:sldId xmlns:r="http://schemas.openxmlformats.org/officeDocument/2006/relationships" id="262" r:id="Ref90fd1f451a4afc"/>
    <p:sldId xmlns:r="http://schemas.openxmlformats.org/officeDocument/2006/relationships" id="263" r:id="Re860afd02025493a"/>
    <p:sldId xmlns:r="http://schemas.openxmlformats.org/officeDocument/2006/relationships" id="264" r:id="R90ad16b1082a4935"/>
    <p:sldId xmlns:r="http://schemas.openxmlformats.org/officeDocument/2006/relationships" id="265" r:id="R898de98fac9c4ecf"/>
    <p:sldId xmlns:r="http://schemas.openxmlformats.org/officeDocument/2006/relationships" id="266" r:id="R1fa74d8373d845dc"/>
    <p:sldId xmlns:r="http://schemas.openxmlformats.org/officeDocument/2006/relationships" id="267" r:id="R0c6d2992542942ec"/>
    <p:sldId xmlns:r="http://schemas.openxmlformats.org/officeDocument/2006/relationships" id="268" r:id="R27d0dab7509440bf"/>
    <p:sldId xmlns:r="http://schemas.openxmlformats.org/officeDocument/2006/relationships" id="269" r:id="R20175e0adef24273"/>
    <p:sldId xmlns:r="http://schemas.openxmlformats.org/officeDocument/2006/relationships" id="270" r:id="Rc7c8fa51c6de4ac8"/>
    <p:sldId xmlns:r="http://schemas.openxmlformats.org/officeDocument/2006/relationships" id="271" r:id="R031622056ec34908"/>
    <p:sldId xmlns:r="http://schemas.openxmlformats.org/officeDocument/2006/relationships" id="272" r:id="R3d96eba0169146f3"/>
    <p:sldId xmlns:r="http://schemas.openxmlformats.org/officeDocument/2006/relationships" id="273" r:id="Rb02998974d694b9e"/>
    <p:sldId xmlns:r="http://schemas.openxmlformats.org/officeDocument/2006/relationships" id="274" r:id="R6eab556ac7864a41"/>
    <p:sldId xmlns:r="http://schemas.openxmlformats.org/officeDocument/2006/relationships" id="275" r:id="R7bb1d9a2334f46f4"/>
    <p:sldId xmlns:r="http://schemas.openxmlformats.org/officeDocument/2006/relationships" id="276" r:id="Rd0100b6b97584c13"/>
    <p:sldId xmlns:r="http://schemas.openxmlformats.org/officeDocument/2006/relationships" id="277" r:id="R92c0a88fba894530"/>
    <p:sldId xmlns:r="http://schemas.openxmlformats.org/officeDocument/2006/relationships" id="278" r:id="R35d598c856b347c6"/>
    <p:sldId xmlns:r="http://schemas.openxmlformats.org/officeDocument/2006/relationships" id="279" r:id="Rfb97b49a60904310"/>
    <p:sldId xmlns:r="http://schemas.openxmlformats.org/officeDocument/2006/relationships" id="280" r:id="Rd175f211ce5e47d7"/>
    <p:sldId xmlns:r="http://schemas.openxmlformats.org/officeDocument/2006/relationships" id="281" r:id="R41d066a652524d8e"/>
    <p:sldId xmlns:r="http://schemas.openxmlformats.org/officeDocument/2006/relationships" id="282" r:id="R0c043fd6e2214fd6"/>
  </p:sldIdLst>
  <p:sldSz cx="13716000" cy="7715250"/>
  <p:notesSz cx="6858000" cy="9144000"/>
  <p:embeddedFontLst>
    <p:embeddedFont>
      <p:font typeface="Google Sans Medium"/>
      <p:regular xmlns:r="http://schemas.openxmlformats.org/officeDocument/2006/relationships" r:id="R2fce1aa43e75423d"/>
      <p:bold xmlns:r="http://schemas.openxmlformats.org/officeDocument/2006/relationships" r:id="R6b8b9f5bc75245b8"/>
      <p:italic xmlns:r="http://schemas.openxmlformats.org/officeDocument/2006/relationships" r:id="R5dace38760e04d1b"/>
      <p:boldItalic xmlns:r="http://schemas.openxmlformats.org/officeDocument/2006/relationships" r:id="R3ced689cdb304eea"/>
    </p:embeddedFont>
    <p:embeddedFont>
      <p:font typeface="Google Sans Text"/>
      <p:regular xmlns:r="http://schemas.openxmlformats.org/officeDocument/2006/relationships" r:id="Re34eb04772724674"/>
      <p:bold xmlns:r="http://schemas.openxmlformats.org/officeDocument/2006/relationships" r:id="R8df5519eafaa4110"/>
      <p:italic xmlns:r="http://schemas.openxmlformats.org/officeDocument/2006/relationships" r:id="R042e8f90df0045da"/>
      <p:boldItalic xmlns:r="http://schemas.openxmlformats.org/officeDocument/2006/relationships" r:id="Rbd4cc526b8ed4a47"/>
    </p:embeddedFont>
    <p:embeddedFont>
      <p:font typeface="Roboto Mono"/>
      <p:regular xmlns:r="http://schemas.openxmlformats.org/officeDocument/2006/relationships" r:id="R36d031f6d8d1409c"/>
      <p:bold xmlns:r="http://schemas.openxmlformats.org/officeDocument/2006/relationships" r:id="Rfb6649a1457342ee"/>
      <p:italic xmlns:r="http://schemas.openxmlformats.org/officeDocument/2006/relationships" r:id="Rf095eae5631d49c3"/>
      <p:boldItalic xmlns:r="http://schemas.openxmlformats.org/officeDocument/2006/relationships" r:id="R17f6092c44b643a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73135536a04127" /><Relationship Type="http://schemas.openxmlformats.org/officeDocument/2006/relationships/slideMaster" Target="/ppt/slideMasters/slideMaster1.xml" Id="Ra7c057edd5194c07" /><Relationship Type="http://schemas.openxmlformats.org/officeDocument/2006/relationships/notesMaster" Target="/ppt/notesMasters/notesMaster1.xml" Id="R404cafa4fd0b48c0" /><Relationship Type="http://schemas.openxmlformats.org/officeDocument/2006/relationships/presProps" Target="/ppt/presProps.xml" Id="Rac1d052db19845d6" /><Relationship Type="http://schemas.openxmlformats.org/officeDocument/2006/relationships/tableStyles" Target="/ppt/tableStyles.xml" Id="Rfbe4d505661f47ee" /><Relationship Type="http://schemas.openxmlformats.org/officeDocument/2006/relationships/font" Target="/ppt/fonts/font.dat" Id="R2fce1aa43e75423d" /><Relationship Type="http://schemas.openxmlformats.org/officeDocument/2006/relationships/font" Target="/ppt/fonts/font2.dat" Id="R6b8b9f5bc75245b8" /><Relationship Type="http://schemas.openxmlformats.org/officeDocument/2006/relationships/font" Target="/ppt/fonts/font3.dat" Id="R5dace38760e04d1b" /><Relationship Type="http://schemas.openxmlformats.org/officeDocument/2006/relationships/font" Target="/ppt/fonts/font4.dat" Id="R3ced689cdb304eea" /><Relationship Type="http://schemas.openxmlformats.org/officeDocument/2006/relationships/font" Target="/ppt/fonts/font5.dat" Id="Re34eb04772724674" /><Relationship Type="http://schemas.openxmlformats.org/officeDocument/2006/relationships/font" Target="/ppt/fonts/font6.dat" Id="R8df5519eafaa4110" /><Relationship Type="http://schemas.openxmlformats.org/officeDocument/2006/relationships/font" Target="/ppt/fonts/font7.dat" Id="R042e8f90df0045da" /><Relationship Type="http://schemas.openxmlformats.org/officeDocument/2006/relationships/font" Target="/ppt/fonts/font8.dat" Id="Rbd4cc526b8ed4a47" /><Relationship Type="http://schemas.openxmlformats.org/officeDocument/2006/relationships/font" Target="/ppt/fonts/font9.dat" Id="R36d031f6d8d1409c" /><Relationship Type="http://schemas.openxmlformats.org/officeDocument/2006/relationships/font" Target="/ppt/fonts/font10.dat" Id="Rfb6649a1457342ee" /><Relationship Type="http://schemas.openxmlformats.org/officeDocument/2006/relationships/font" Target="/ppt/fonts/font11.dat" Id="Rf095eae5631d49c3" /><Relationship Type="http://schemas.openxmlformats.org/officeDocument/2006/relationships/font" Target="/ppt/fonts/font12.dat" Id="R17f6092c44b643ac" /><Relationship Type="http://schemas.openxmlformats.org/officeDocument/2006/relationships/slide" Target="/ppt/slides/slide1.xml" Id="R0697b8269b194fd9" /><Relationship Type="http://schemas.openxmlformats.org/officeDocument/2006/relationships/slide" Target="/ppt/slides/slide2.xml" Id="Rd15b8a8f887f4783" /><Relationship Type="http://schemas.openxmlformats.org/officeDocument/2006/relationships/slide" Target="/ppt/slides/slide3.xml" Id="R073b2f6848fb4ddb" /><Relationship Type="http://schemas.openxmlformats.org/officeDocument/2006/relationships/slide" Target="/ppt/slides/slide4.xml" Id="R35157cff63ef4253" /><Relationship Type="http://schemas.openxmlformats.org/officeDocument/2006/relationships/slide" Target="/ppt/slides/slide5.xml" Id="Rb2994f4038c44216" /><Relationship Type="http://schemas.openxmlformats.org/officeDocument/2006/relationships/slide" Target="/ppt/slides/slide6.xml" Id="Rcd11fa288a5b4407" /><Relationship Type="http://schemas.openxmlformats.org/officeDocument/2006/relationships/slide" Target="/ppt/slides/slide7.xml" Id="Ref90fd1f451a4afc" /><Relationship Type="http://schemas.openxmlformats.org/officeDocument/2006/relationships/slide" Target="/ppt/slides/slide8.xml" Id="Re860afd02025493a" /><Relationship Type="http://schemas.openxmlformats.org/officeDocument/2006/relationships/slide" Target="/ppt/slides/slide9.xml" Id="R90ad16b1082a4935" /><Relationship Type="http://schemas.openxmlformats.org/officeDocument/2006/relationships/slide" Target="/ppt/slides/slide10.xml" Id="R898de98fac9c4ecf" /><Relationship Type="http://schemas.openxmlformats.org/officeDocument/2006/relationships/slide" Target="/ppt/slides/slide11.xml" Id="R1fa74d8373d845dc" /><Relationship Type="http://schemas.openxmlformats.org/officeDocument/2006/relationships/slide" Target="/ppt/slides/slide12.xml" Id="R0c6d2992542942ec" /><Relationship Type="http://schemas.openxmlformats.org/officeDocument/2006/relationships/slide" Target="/ppt/slides/slide13.xml" Id="R27d0dab7509440bf" /><Relationship Type="http://schemas.openxmlformats.org/officeDocument/2006/relationships/slide" Target="/ppt/slides/slide14.xml" Id="R20175e0adef24273" /><Relationship Type="http://schemas.openxmlformats.org/officeDocument/2006/relationships/slide" Target="/ppt/slides/slide15.xml" Id="Rc7c8fa51c6de4ac8" /><Relationship Type="http://schemas.openxmlformats.org/officeDocument/2006/relationships/slide" Target="/ppt/slides/slide16.xml" Id="R031622056ec34908" /><Relationship Type="http://schemas.openxmlformats.org/officeDocument/2006/relationships/slide" Target="/ppt/slides/slide17.xml" Id="R3d96eba0169146f3" /><Relationship Type="http://schemas.openxmlformats.org/officeDocument/2006/relationships/slide" Target="/ppt/slides/slide18.xml" Id="Rb02998974d694b9e" /><Relationship Type="http://schemas.openxmlformats.org/officeDocument/2006/relationships/slide" Target="/ppt/slides/slide19.xml" Id="R6eab556ac7864a41" /><Relationship Type="http://schemas.openxmlformats.org/officeDocument/2006/relationships/slide" Target="/ppt/slides/slide20.xml" Id="R7bb1d9a2334f46f4" /><Relationship Type="http://schemas.openxmlformats.org/officeDocument/2006/relationships/slide" Target="/ppt/slides/slide21.xml" Id="Rd0100b6b97584c13" /><Relationship Type="http://schemas.openxmlformats.org/officeDocument/2006/relationships/slide" Target="/ppt/slides/slide22.xml" Id="R92c0a88fba894530" /><Relationship Type="http://schemas.openxmlformats.org/officeDocument/2006/relationships/slide" Target="/ppt/slides/slide23.xml" Id="R35d598c856b347c6" /><Relationship Type="http://schemas.openxmlformats.org/officeDocument/2006/relationships/slide" Target="/ppt/slides/slide24.xml" Id="Rfb97b49a60904310" /><Relationship Type="http://schemas.openxmlformats.org/officeDocument/2006/relationships/slide" Target="/ppt/slides/slide25.xml" Id="Rd175f211ce5e47d7" /><Relationship Type="http://schemas.openxmlformats.org/officeDocument/2006/relationships/slide" Target="/ppt/slides/slide26.xml" Id="R41d066a652524d8e" /><Relationship Type="http://schemas.openxmlformats.org/officeDocument/2006/relationships/slide" Target="/ppt/slides/slide27.xml" Id="R0c043fd6e2214f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c809b5acf649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Google Sans Text"/>
        <a:ea typeface=""/>
        <a:cs typeface=""/>
      </a:majorFont>
      <a:minorFont>
        <a:latin typeface="Google Sans Text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4ab46702ee4eb1" /><Relationship Type="http://schemas.openxmlformats.org/officeDocument/2006/relationships/notesMaster" Target="/ppt/notesMasters/notesMaster1.xml" Id="Rf50c849409cf47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1a95822c78498d" /><Relationship Type="http://schemas.openxmlformats.org/officeDocument/2006/relationships/notesMaster" Target="/ppt/notesMasters/notesMaster1.xml" Id="R8b6cbf0e37e34c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4826378cdd409d" /><Relationship Type="http://schemas.openxmlformats.org/officeDocument/2006/relationships/notesMaster" Target="/ppt/notesMasters/notesMaster1.xml" Id="R3521889cfb7446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94bd8a2b624d0d" /><Relationship Type="http://schemas.openxmlformats.org/officeDocument/2006/relationships/notesMaster" Target="/ppt/notesMasters/notesMaster1.xml" Id="R2975f592dcba44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b0d6511ee9425c" /><Relationship Type="http://schemas.openxmlformats.org/officeDocument/2006/relationships/notesMaster" Target="/ppt/notesMasters/notesMaster1.xml" Id="R3eb2657ca3c741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f0cef8b653474f" /><Relationship Type="http://schemas.openxmlformats.org/officeDocument/2006/relationships/notesMaster" Target="/ppt/notesMasters/notesMaster1.xml" Id="R4d172ac5279f4a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45ba55a5d34262" /><Relationship Type="http://schemas.openxmlformats.org/officeDocument/2006/relationships/notesMaster" Target="/ppt/notesMasters/notesMaster1.xml" Id="Rb9a6c9d6f5dd4b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62aef60d15496b" /><Relationship Type="http://schemas.openxmlformats.org/officeDocument/2006/relationships/notesMaster" Target="/ppt/notesMasters/notesMaster1.xml" Id="R10292fb39cf446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8d0a5da2384a38" /><Relationship Type="http://schemas.openxmlformats.org/officeDocument/2006/relationships/notesMaster" Target="/ppt/notesMasters/notesMaster1.xml" Id="R4a24db72ab3943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a3a553414d4d93" /><Relationship Type="http://schemas.openxmlformats.org/officeDocument/2006/relationships/notesMaster" Target="/ppt/notesMasters/notesMaster1.xml" Id="R1f73c780a7a945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c51dfb51e574bb1" /><Relationship Type="http://schemas.openxmlformats.org/officeDocument/2006/relationships/notesMaster" Target="/ppt/notesMasters/notesMaster1.xml" Id="R340ff4a4f0d94d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0ebc3289b34a3f" /><Relationship Type="http://schemas.openxmlformats.org/officeDocument/2006/relationships/notesMaster" Target="/ppt/notesMasters/notesMaster1.xml" Id="Rf41fed4732f0492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6f0d7a3b784574" /><Relationship Type="http://schemas.openxmlformats.org/officeDocument/2006/relationships/notesMaster" Target="/ppt/notesMasters/notesMaster1.xml" Id="Rd11b23c0286046b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590055a374747b2" /><Relationship Type="http://schemas.openxmlformats.org/officeDocument/2006/relationships/notesMaster" Target="/ppt/notesMasters/notesMaster1.xml" Id="Rb7aba211174e4fa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c4652deb7b448c" /><Relationship Type="http://schemas.openxmlformats.org/officeDocument/2006/relationships/notesMaster" Target="/ppt/notesMasters/notesMaster1.xml" Id="R8a7dc7783e2349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1b3f4c5f646462b" /><Relationship Type="http://schemas.openxmlformats.org/officeDocument/2006/relationships/notesMaster" Target="/ppt/notesMasters/notesMaster1.xml" Id="R6b3d0da7b3fc46e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5e9f3eb08164b2d" /><Relationship Type="http://schemas.openxmlformats.org/officeDocument/2006/relationships/notesMaster" Target="/ppt/notesMasters/notesMaster1.xml" Id="R7d012dbbe25a4f1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7c1c39631a94973" /><Relationship Type="http://schemas.openxmlformats.org/officeDocument/2006/relationships/notesMaster" Target="/ppt/notesMasters/notesMaster1.xml" Id="R692d22e20a4d47b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64a6b8830fb4cfd" /><Relationship Type="http://schemas.openxmlformats.org/officeDocument/2006/relationships/notesMaster" Target="/ppt/notesMasters/notesMaster1.xml" Id="R7cddf3f27c5c4a5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f526de770574041" /><Relationship Type="http://schemas.openxmlformats.org/officeDocument/2006/relationships/notesMaster" Target="/ppt/notesMasters/notesMaster1.xml" Id="R0dab6c2df6d9465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0a6ead761b747d0" /><Relationship Type="http://schemas.openxmlformats.org/officeDocument/2006/relationships/notesMaster" Target="/ppt/notesMasters/notesMaster1.xml" Id="Rc4af672ab6f7408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37197c9183c4f1b" /><Relationship Type="http://schemas.openxmlformats.org/officeDocument/2006/relationships/notesMaster" Target="/ppt/notesMasters/notesMaster1.xml" Id="R28f7a981b1984a6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0617826deac439f" /><Relationship Type="http://schemas.openxmlformats.org/officeDocument/2006/relationships/notesMaster" Target="/ppt/notesMasters/notesMaster1.xml" Id="R050f38b6ac9144a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3afeeb772704cc6" /><Relationship Type="http://schemas.openxmlformats.org/officeDocument/2006/relationships/notesMaster" Target="/ppt/notesMasters/notesMaster1.xml" Id="Rb498824fe9e147f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2728266aea84757" /><Relationship Type="http://schemas.openxmlformats.org/officeDocument/2006/relationships/notesMaster" Target="/ppt/notesMasters/notesMaster1.xml" Id="Rfd5095401f78440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ebc970a75054d63" /><Relationship Type="http://schemas.openxmlformats.org/officeDocument/2006/relationships/notesMaster" Target="/ppt/notesMasters/notesMaster1.xml" Id="R2f542b37a86a479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9525c8a42d14ec7" /><Relationship Type="http://schemas.openxmlformats.org/officeDocument/2006/relationships/notesMaster" Target="/ppt/notesMasters/notesMaster1.xml" Id="R7bb118bad84440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221 Architecting with Google Compute Engine/Course Materials/10_Infrastructure_Automation 1.pdf, slide 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221 Architecting with Google Compute Engine/Course Materials/02_Virtual_Networks 1.pdf, slide 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221 Architecting with Google Compute Engine/Course Materials/02_Virtual_Networks 1.pdf, slide 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GCP/M1_T-TFGC-B_Introduction to Terraform for Google Cloud.pdf; C:/sahil/gcp - lpu/gcp cloud engineer associate/ODD SEM/CSG 221 Architecting with Google Compute Engine/Course Materials/10_Infrastructure_Automation 1.pdf, slide 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GCP/M1_T-TFGC-B_Introduction to Terraform for Google Cloud.pdf, slide 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GCP/M1_T-TFGC-B_Introduction to Terraform for Google Cloud.pdf; illustrative VPC example</a:t>
            </a:r>
          </a:p>
          <a:p xmlns:a="http://schemas.openxmlformats.org/drawingml/2006/main">
            <a:r>
              <a:t>Illustrative plan summaries, not output from a real deployment. Repeated apply proposes no changes when configuration and managed infrastructure already match. External changes can produce a different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GCP/M2_T-TFGC-B_Terms and Concepts.pdf, slides 13–20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GCP/M3_T-TFGC-B_Writing Infrastructure Code for Google Cloud.pdf; illustrative VPC configuration</a:t>
            </a:r>
          </a:p>
          <a:p xmlns:a="http://schemas.openxmlformats.org/drawingml/2006/main">
            <a:r>
              <a:t>Illustrative excerpt. No resources were deployed. Use the provider configuration introduced on the preceding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GCP/M4_T-TFGC-B_Organizing and Reusing Configuration with Terraform Modules.pdf, slides 5, 8–10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GCP/M4_T-TFGC-B_Organizing and Reusing Configuration with Terraform Modules.pdf, slides 25–27; adapted local module example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GCP/M5_T-TFGC-B_Introduction to the Terraform State.pdf, slide 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GCP/M5_T-TFGC-B_Introduction to the Terraform State.pdf, slides 7, 9–10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GCP/M5_T-TFGC-B_Introduction to the Terraform State.pdf, slides 12–13</a:t>
            </a:r>
          </a:p>
          <a:p xmlns:a="http://schemas.openxmlformats.org/drawingml/2006/main">
            <a:r>
              <a:t>Illustrative bucket name. Authentication and access to a pre-existing bucket are prerequisites. Migrating existing local state requires following the backend migration prompts. Enable bucket versioning for recovery.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GCP/M5_T-TFGC-B_Introduction to the Terraform State.pdf, slides 9–10; illustrative team scenario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401Getting Started with Terraform in GCP/M5_T-TFGC-B_Introduction to the Terraform State.pdf; CSG221 Unit VI syllabus: workspaces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221 Architecting with Google Compute Engine/Course Materials/02_Virtual_Networks 1.pdf, slide 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Materials/M01 - BigQuery Architecture Fundamentals.pptx, slide 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Materials/M01 - BigQuery Architecture Fundamentals.pptx, slides 27–28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Materials/M07 - Workload Management and Pricing.pptx, slides 4–5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Materials/M02 - Storage and Schema Optimizations.pptx, slides 9–12, 30–35, 41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Materials/M02 - Storage and Schema Optimizations.pptx, slide 31; illustrative query consistent with the source diagram</a:t>
            </a:r>
          </a:p>
          <a:p xmlns:a="http://schemas.openxmlformats.org/drawingml/2006/main">
            <a:r>
              <a:t>The diagram uses eventDate and userId. The SQL assumes eventDate is a DATE column and userId is numeric.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Materials/M11 - BigQuery ML.pptx, slides 9–13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Materials/M11 - BigQuery ML.pptx, slide 18; adapted SQL example</a:t>
            </a:r>
          </a:p>
          <a:p xmlns:a="http://schemas.openxmlformats.org/drawingml/2006/main">
            <a:r>
              <a:t>Prerequisites: dataset demo and training_sales table with numeric ad_spend and sales columns, plus appropriate permissions. Illustrative SQL only. No model results are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222 Data Warehousing with BigQuery/Course Materials/M11 - BigQuery ML.pptx, slides 19–20; adapted SQL examples</a:t>
            </a:r>
          </a:p>
          <a:p xmlns:a="http://schemas.openxmlformats.org/drawingml/2006/main">
            <a:r>
              <a:t>The test_sales table must contain held-out data with the same feature and label columns. This example uses SQL prediction, not a deployed web endpoint.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221 Architecting with Google Compute Engine/Course Materials/10_Infrastructure_Automation 1.pdf, question and answer slide 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221 Architecting with Google Compute Engine/Course Materials/10_Infrastructure_Automation 1.pdf, question and answer slide 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C:/sahil/gcp - lpu/gcp cloud engineer associate/ODD SEM/CSG 221 Architecting with Google Compute Engine/Course Materials/11_Managed_Services 1.pdf, slide 20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61473ed85a4c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41c06aa4e44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573e3cba1c4d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257fcbc53a499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4e6e435d64ae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1e019b877d47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5E5BA7-BA9B-4EB7-B5AB-5FE2333437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71600" y="2914650"/>
            <a:ext cx="109728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4CD7755-8959-4685-90CC-7222C0BF5A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57400" y="4243388"/>
            <a:ext cx="960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F43DD9B-A5BE-49BD-B274-02C5258C2B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71600" y="3214688"/>
            <a:ext cx="109728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03205B7-5CBE-431E-8530-6E52C48A78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97132C-3D1D-41C8-877F-F6A609AD8D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121729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AA6962-6280-4F4E-B31E-07E06C4267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C419FCD-7798-46E8-A941-4A376124A2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3A53342-9644-435B-91DC-D69854E29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2866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C95F4C-D02A-4C0B-820F-6B14B17437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D91C1F-E030-4657-B7F1-19AED8D2F0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1b9f4756484785" /><Relationship Type="http://schemas.openxmlformats.org/officeDocument/2006/relationships/slideLayout" Target="/ppt/slideLayouts/slideLayout1.xml" Id="R3c79e69d3d124de7" /><Relationship Type="http://schemas.openxmlformats.org/officeDocument/2006/relationships/slideLayout" Target="/ppt/slideLayouts/slideLayout2.xml" Id="R3e73fcb1ddf740ea" /><Relationship Type="http://schemas.openxmlformats.org/officeDocument/2006/relationships/slideLayout" Target="/ppt/slideLayouts/slideLayout3.xml" Id="R0ad3d0497f724d07" /><Relationship Type="http://schemas.openxmlformats.org/officeDocument/2006/relationships/slideLayout" Target="/ppt/slideLayouts/slideLayout4.xml" Id="R5b7cc95a35554772" /><Relationship Type="http://schemas.openxmlformats.org/officeDocument/2006/relationships/slideLayout" Target="/ppt/slideLayouts/slideLayout5.xml" Id="Rc992b07ef79343b0" /><Relationship Type="http://schemas.openxmlformats.org/officeDocument/2006/relationships/slideLayout" Target="/ppt/slideLayouts/slideLayout6.xml" Id="Rb8b355b931ce4c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79e69d3d124de7"/>
    <p:sldLayoutId xmlns:r="http://schemas.openxmlformats.org/officeDocument/2006/relationships" id="2147483650" r:id="R3e73fcb1ddf740ea"/>
    <p:sldLayoutId xmlns:r="http://schemas.openxmlformats.org/officeDocument/2006/relationships" id="2147483651" r:id="R0ad3d0497f724d07"/>
    <p:sldLayoutId xmlns:r="http://schemas.openxmlformats.org/officeDocument/2006/relationships" id="2147483652" r:id="R5b7cc95a35554772"/>
    <p:sldLayoutId xmlns:r="http://schemas.openxmlformats.org/officeDocument/2006/relationships" id="2147483653" r:id="Rc992b07ef79343b0"/>
    <p:sldLayoutId xmlns:r="http://schemas.openxmlformats.org/officeDocument/2006/relationships" id="2147483654" r:id="Rb8b355b931ce4c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Google Sans Text"/>
        <a:ea typeface=""/>
        <a:cs typeface=""/>
      </a:majorFont>
      <a:minorFont>
        <a:latin typeface="Google Sans Text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11d77ef97d47a9" /><Relationship Type="http://schemas.openxmlformats.org/officeDocument/2006/relationships/image" Target="/ppt/media/image.png" Id="R06e4b25be68446d0" /><Relationship Type="http://schemas.openxmlformats.org/officeDocument/2006/relationships/image" Target="/ppt/media/image2.png" Id="R8eaf27b5ebf9478e" /><Relationship Type="http://schemas.openxmlformats.org/officeDocument/2006/relationships/notesSlide" Target="/ppt/notesSlides/notesSlide1.xml" Id="R07666cbea28e4e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391a27aad54d30" /><Relationship Type="http://schemas.openxmlformats.org/officeDocument/2006/relationships/image" Target="/ppt/media/image3.png" Id="R957faf9510304375" /><Relationship Type="http://schemas.openxmlformats.org/officeDocument/2006/relationships/image" Target="/ppt/media/image4.png" Id="Ra2896c5d6f644007" /><Relationship Type="http://schemas.openxmlformats.org/officeDocument/2006/relationships/notesSlide" Target="/ppt/notesSlides/notesSlide2.xml" Id="R8dab55b7099a4b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74e2b7feba47bb" /><Relationship Type="http://schemas.openxmlformats.org/officeDocument/2006/relationships/image" Target="/ppt/media/image5.png" Id="R0557f76a5ec142fc" /><Relationship Type="http://schemas.openxmlformats.org/officeDocument/2006/relationships/image" Target="/ppt/media/image6.png" Id="Rda1559da5a0e4343" /><Relationship Type="http://schemas.openxmlformats.org/officeDocument/2006/relationships/notesSlide" Target="/ppt/notesSlides/notesSlide3.xml" Id="R9350dc6fc07f4c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5c352a6ead45fd" /><Relationship Type="http://schemas.openxmlformats.org/officeDocument/2006/relationships/image" Target="/ppt/media/image7.png" Id="R6a3d41a314ce43be" /><Relationship Type="http://schemas.openxmlformats.org/officeDocument/2006/relationships/image" Target="/ppt/media/image8.png" Id="R5cd08098bcfb40cc" /><Relationship Type="http://schemas.openxmlformats.org/officeDocument/2006/relationships/notesSlide" Target="/ppt/notesSlides/notesSlide4.xml" Id="Rdc92b3cacf0c4f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edd8df0eb4cb5" /><Relationship Type="http://schemas.openxmlformats.org/officeDocument/2006/relationships/image" Target="/ppt/media/image9.png" Id="R2ec35e570ed34c78" /><Relationship Type="http://schemas.openxmlformats.org/officeDocument/2006/relationships/notesSlide" Target="/ppt/notesSlides/notesSlide5.xml" Id="R029124ef5f3844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bd662c33fe4d49" /><Relationship Type="http://schemas.openxmlformats.org/officeDocument/2006/relationships/image" Target="/ppt/media/image10.png" Id="R91cbe0eb346541b3" /><Relationship Type="http://schemas.openxmlformats.org/officeDocument/2006/relationships/notesSlide" Target="/ppt/notesSlides/notesSlide6.xml" Id="Rcc586c7225054b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02f0bf37a949d4" /><Relationship Type="http://schemas.openxmlformats.org/officeDocument/2006/relationships/image" Target="/ppt/media/image11.png" Id="R838868d67f8e4a8f" /><Relationship Type="http://schemas.openxmlformats.org/officeDocument/2006/relationships/notesSlide" Target="/ppt/notesSlides/notesSlide7.xml" Id="Rd9113d878a1042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dc13a0cd9d4183" /><Relationship Type="http://schemas.openxmlformats.org/officeDocument/2006/relationships/image" Target="/ppt/media/image12.png" Id="Re792c004ebdd4f22" /><Relationship Type="http://schemas.openxmlformats.org/officeDocument/2006/relationships/notesSlide" Target="/ppt/notesSlides/notesSlide8.xml" Id="R7a491b1470a54f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34ae42b21647dc" /><Relationship Type="http://schemas.openxmlformats.org/officeDocument/2006/relationships/image" Target="/ppt/media/image13.png" Id="R32356d8551514228" /><Relationship Type="http://schemas.openxmlformats.org/officeDocument/2006/relationships/image" Target="/ppt/media/image14.png" Id="R6cb2183bc22e4220" /><Relationship Type="http://schemas.openxmlformats.org/officeDocument/2006/relationships/notesSlide" Target="/ppt/notesSlides/notesSlide9.xml" Id="Rb6090dba05cb41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95d78c5bc34a5b" /><Relationship Type="http://schemas.openxmlformats.org/officeDocument/2006/relationships/image" Target="/ppt/media/image15.png" Id="Rebf16ca931bc4a8e" /><Relationship Type="http://schemas.openxmlformats.org/officeDocument/2006/relationships/notesSlide" Target="/ppt/notesSlides/notesSlide10.xml" Id="R7b4d900c7e9949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afec6964d7492f" /><Relationship Type="http://schemas.openxmlformats.org/officeDocument/2006/relationships/image" Target="/ppt/media/image16.png" Id="R8600d02292db4f50" /><Relationship Type="http://schemas.openxmlformats.org/officeDocument/2006/relationships/notesSlide" Target="/ppt/notesSlides/notesSlide11.xml" Id="R87533f7d016b43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36ec05fe4d4c80" /><Relationship Type="http://schemas.openxmlformats.org/officeDocument/2006/relationships/image" Target="/ppt/media/image17.png" Id="R968dfe6189a54966" /><Relationship Type="http://schemas.openxmlformats.org/officeDocument/2006/relationships/image" Target="/ppt/media/image18.png" Id="Re28ea48de7f14d88" /><Relationship Type="http://schemas.openxmlformats.org/officeDocument/2006/relationships/image" Target="/ppt/media/image19.png" Id="R45a03c47bb8342d4" /><Relationship Type="http://schemas.openxmlformats.org/officeDocument/2006/relationships/notesSlide" Target="/ppt/notesSlides/notesSlide12.xml" Id="R9295f4ab1f844f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a1d99f4f9c4185" /><Relationship Type="http://schemas.openxmlformats.org/officeDocument/2006/relationships/image" Target="/ppt/media/image20.png" Id="R8e52fdad46c949ab" /><Relationship Type="http://schemas.openxmlformats.org/officeDocument/2006/relationships/notesSlide" Target="/ppt/notesSlides/notesSlide13.xml" Id="R9cc28ece94c1478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5828465f154250" /><Relationship Type="http://schemas.openxmlformats.org/officeDocument/2006/relationships/image" Target="/ppt/media/image21.png" Id="Rc503e93a69bc4dbf" /><Relationship Type="http://schemas.openxmlformats.org/officeDocument/2006/relationships/notesSlide" Target="/ppt/notesSlides/notesSlide14.xml" Id="R44f717889e3b45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b44724542942e9" /><Relationship Type="http://schemas.openxmlformats.org/officeDocument/2006/relationships/image" Target="/ppt/media/image22.png" Id="R7097437491d24086" /><Relationship Type="http://schemas.openxmlformats.org/officeDocument/2006/relationships/notesSlide" Target="/ppt/notesSlides/notesSlide15.xml" Id="R9b226323454d45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197c2ddc764bfb" /><Relationship Type="http://schemas.openxmlformats.org/officeDocument/2006/relationships/image" Target="/ppt/media/image23.png" Id="Rcacf7c4833894555" /><Relationship Type="http://schemas.openxmlformats.org/officeDocument/2006/relationships/image" Target="/ppt/media/image24.png" Id="R2243e9c94a7c4a6a" /><Relationship Type="http://schemas.openxmlformats.org/officeDocument/2006/relationships/notesSlide" Target="/ppt/notesSlides/notesSlide16.xml" Id="R9ab2d4a31290428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b5de43375e4635" /><Relationship Type="http://schemas.openxmlformats.org/officeDocument/2006/relationships/image" Target="/ppt/media/image25.png" Id="R717b12f389214eb0" /><Relationship Type="http://schemas.openxmlformats.org/officeDocument/2006/relationships/image" Target="/ppt/media/image26.png" Id="R7b659f5a7a47431a" /><Relationship Type="http://schemas.openxmlformats.org/officeDocument/2006/relationships/notesSlide" Target="/ppt/notesSlides/notesSlide17.xml" Id="Rb58c47d3c94c4b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1e867b1964424a" /><Relationship Type="http://schemas.openxmlformats.org/officeDocument/2006/relationships/image" Target="/ppt/media/image27.png" Id="R0f878a425f7f4ed1" /><Relationship Type="http://schemas.openxmlformats.org/officeDocument/2006/relationships/image" Target="/ppt/media/image28.png" Id="R5ab631438b4b4782" /><Relationship Type="http://schemas.openxmlformats.org/officeDocument/2006/relationships/notesSlide" Target="/ppt/notesSlides/notesSlide18.xml" Id="R532c8212ce734e4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d2840708724da7" /><Relationship Type="http://schemas.openxmlformats.org/officeDocument/2006/relationships/image" Target="/ppt/media/image29.png" Id="R3357cd54db514797" /><Relationship Type="http://schemas.openxmlformats.org/officeDocument/2006/relationships/image" Target="/ppt/media/image30.png" Id="Rf67ba3f687194df7" /><Relationship Type="http://schemas.openxmlformats.org/officeDocument/2006/relationships/notesSlide" Target="/ppt/notesSlides/notesSlide19.xml" Id="R34d798b94faf4f0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29d43097d64b08" /><Relationship Type="http://schemas.openxmlformats.org/officeDocument/2006/relationships/image" Target="/ppt/media/image31.png" Id="Rb6b886f1335c420b" /><Relationship Type="http://schemas.openxmlformats.org/officeDocument/2006/relationships/notesSlide" Target="/ppt/notesSlides/notesSlide20.xml" Id="R525c4219c2f84c1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ffa115f55d42bd" /><Relationship Type="http://schemas.openxmlformats.org/officeDocument/2006/relationships/image" Target="/ppt/media/image32.png" Id="Ra6087b8907f041c9" /><Relationship Type="http://schemas.openxmlformats.org/officeDocument/2006/relationships/image" Target="/ppt/media/image33.png" Id="R7c6104875f9a4b4b" /><Relationship Type="http://schemas.openxmlformats.org/officeDocument/2006/relationships/notesSlide" Target="/ppt/notesSlides/notesSlide21.xml" Id="R23f2ce53018e45a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01df4e1c464231" /><Relationship Type="http://schemas.openxmlformats.org/officeDocument/2006/relationships/image" Target="/ppt/media/image34.png" Id="Reb79317d1112472c" /><Relationship Type="http://schemas.openxmlformats.org/officeDocument/2006/relationships/image" Target="/ppt/media/image35.png" Id="R7d122de6402c4f79" /><Relationship Type="http://schemas.openxmlformats.org/officeDocument/2006/relationships/notesSlide" Target="/ppt/notesSlides/notesSlide22.xml" Id="R6891623e3df24df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e8b86609434fd8" /><Relationship Type="http://schemas.openxmlformats.org/officeDocument/2006/relationships/image" Target="/ppt/media/image36.png" Id="R6f1a3754049344fa" /><Relationship Type="http://schemas.openxmlformats.org/officeDocument/2006/relationships/notesSlide" Target="/ppt/notesSlides/notesSlide23.xml" Id="Rd9b35aa7de4f413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36468518da4c7f" /><Relationship Type="http://schemas.openxmlformats.org/officeDocument/2006/relationships/image" Target="/ppt/media/image37.png" Id="R4b1eecd8c6694c29" /><Relationship Type="http://schemas.openxmlformats.org/officeDocument/2006/relationships/notesSlide" Target="/ppt/notesSlides/notesSlide24.xml" Id="Rc3ae8d1e98de447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f421fa821e4bc9" /><Relationship Type="http://schemas.openxmlformats.org/officeDocument/2006/relationships/image" Target="/ppt/media/image38.png" Id="R635f855a6d334733" /><Relationship Type="http://schemas.openxmlformats.org/officeDocument/2006/relationships/notesSlide" Target="/ppt/notesSlides/notesSlide25.xml" Id="Rc6152ad5beff41e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234b548b24427e" /><Relationship Type="http://schemas.openxmlformats.org/officeDocument/2006/relationships/image" Target="/ppt/media/image39.png" Id="Rf13d0e738b304bb0" /><Relationship Type="http://schemas.openxmlformats.org/officeDocument/2006/relationships/notesSlide" Target="/ppt/notesSlides/notesSlide26.xml" Id="Rc9aed9d384c64d3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0a926c1922418d" /><Relationship Type="http://schemas.openxmlformats.org/officeDocument/2006/relationships/image" Target="/ppt/media/image40.png" Id="Re7a7f0a0c5054823" /><Relationship Type="http://schemas.openxmlformats.org/officeDocument/2006/relationships/image" Target="/ppt/media/image41.png" Id="R78594d6480c24193" /><Relationship Type="http://schemas.openxmlformats.org/officeDocument/2006/relationships/notesSlide" Target="/ppt/notesSlides/notesSlide27.xml" Id="R0d9788c6921f47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AF210-3D3E-4B74-99C6-C9F42F40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55769-FA45-4A6F-9520-BA0A805435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4b25be68446d0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87EB3-C7E8-4669-B670-258FEEC0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Unit VI Supplement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28576-7AE9-4FD6-8917-3160D249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781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Infrastructure Automation</a:t>
            </a:r>
          </a:p>
          <a:p xmlns:a="http://schemas.openxmlformats.org/drawingml/2006/main">
            <a:pPr>
              <a:buNone/>
              <a:def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43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and Managed Services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8C425-C7E2-4227-9555-AF0960AF27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f27b5ebf9478e"/>
          <a:stretch xmlns:a="http://schemas.openxmlformats.org/drawingml/2006/main"/>
        </p:blipFill>
        <p:spPr>
          <a:xfrm xmlns:a="http://schemas.openxmlformats.org/drawingml/2006/main">
            <a:off x="8858250" y="2623263"/>
            <a:ext cx="4286250" cy="380222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55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4407E-9A5A-4C83-B2AB-F9F7D257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44B1E-C11F-445B-B699-20835E7C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A8F78-A2B0-4CE4-A3E0-CE05B6C4EF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faf9510304375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044884-4EDE-4DF2-B43E-746040C5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86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pPr>
            <a:r>
              <a:rPr sz="2250" b="0">
                <a:solidFill>
                  <a:srgbClr val="4285F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74252-F545-4736-B16A-F427095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28600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Infrastructure as code and Terraform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2B53A-7924-4D19-BE83-52CD550E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B773B-A261-4902-BFC6-CC1D0FF9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385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pPr>
            <a:r>
              <a:rPr sz="2250" b="0">
                <a:solidFill>
                  <a:srgbClr val="4285F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181CEA-C5AE-4FDA-9634-F125ADF6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23850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Modules and state management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2DCDA-15B7-4ACF-8C3C-A0EC1E1C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600913-007F-4B96-AFA6-64DEE492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91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pPr>
            <a:r>
              <a:rPr sz="2250" b="0">
                <a:solidFill>
                  <a:srgbClr val="4285F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0DF4F-7203-49D7-92EB-228F3EA2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19100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BigQuery architecture and table design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43219-FBCD-4778-8BA9-03B25CF1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77789-101F-4C6F-A357-214DEABB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435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pPr>
            <a:r>
              <a:rPr sz="2250" b="0">
                <a:solidFill>
                  <a:srgbClr val="4285F4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52591-872E-4750-9484-AF79433B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14350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BigQuery ML with SQL examples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AECEB4-035A-462A-8005-1408C670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noFill/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7C5536-7F4F-441A-B50E-017D2EADB0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896c5d6f644007"/>
          <a:stretch xmlns:a="http://schemas.openxmlformats.org/drawingml/2006/main"/>
        </p:blipFill>
        <p:spPr>
          <a:xfrm xmlns:a="http://schemas.openxmlformats.org/drawingml/2006/main">
            <a:off x="9810750" y="2349026"/>
            <a:ext cx="3048000" cy="358869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637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3BBEC-C20A-4E15-B284-12B3E356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81D430-49A8-482B-A60D-12CC2F9D6D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7f76a5ec142fc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CFF971-29D0-433D-B78D-35CDF54DD8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559da5a0e4343"/>
          <a:stretch xmlns:a="http://schemas.openxmlformats.org/drawingml/2006/main"/>
        </p:blipFill>
        <p:spPr>
          <a:xfrm xmlns:a="http://schemas.openxmlformats.org/drawingml/2006/main">
            <a:off x="1000125" y="2347385"/>
            <a:ext cx="4953000" cy="416348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E41A7-49B7-41D2-B2D5-341F3285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5905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Infrastructure</a:t>
            </a:r>
          </a:p>
          <a:p xmlns:a="http://schemas.openxmlformats.org/drawingml/2006/main">
            <a:pPr>
              <a:buNone/>
              <a:def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40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Automation</a:t>
            </a:r>
          </a:p>
        </p:txBody>
      </p:sp>
    </p:spTree>
    <p:extLst>
      <p:ext uri="{BB962C8B-B14F-4D97-AF65-F5344CB8AC3E}">
        <p14:creationId xmlns:p14="http://schemas.microsoft.com/office/powerpoint/2010/main" val="1540841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AE9A3-F2DA-47C5-81C5-4710EB05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Terraform describes the desired infrastructure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E2EE1-DFE8-4897-9109-D61CADEA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45A6E-EBF1-4CED-A47F-76A58375E2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d41a314ce43be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70DB1-04FA-4A2E-9931-19238F21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61912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Configuration declares the resources a project needs.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Terraform compares that configuration with the current infrastructure.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plan shows the changes before apply creates or updates resources.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C301C-66D3-4CCC-96E4-12A2956C9D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08098bcfb40cc"/>
          <a:stretch xmlns:a="http://schemas.openxmlformats.org/drawingml/2006/main"/>
        </p:blipFill>
        <p:spPr>
          <a:xfrm xmlns:a="http://schemas.openxmlformats.org/drawingml/2006/main">
            <a:off x="7719219" y="2095500"/>
            <a:ext cx="5326063" cy="471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4591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0649A-FE6C-4066-B47C-D1B636CB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Declarative and imperative approaches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021AE1-79B9-4631-BD22-E882A828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9DB52-6643-4A13-8820-A9F1448B92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c35e570ed34c78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6526C-0D02-4ED0-BA91-267139E342F9}"/>
              </a:ext>
            </a:extLst>
          </p:cNvPr>
          <p:cNvGraphicFramePr/>
          <p:nvPr/>
        </p:nvGraphicFramePr>
        <p:xfrm>
          <a:off xmlns:a="http://schemas.openxmlformats.org/drawingml/2006/main" x="762000" y="2238375"/>
          <a:ext xmlns:a="http://schemas.openxmlformats.org/drawingml/2006/main" cx="12192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96000"/>
                <a:gridCol w="6096000"/>
              </a:tblGrid>
              <a:tr h="60960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Imperative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Declarative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34A853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Describes the commands to run.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Describes the result to maintain.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Example: run a command to create a VPC.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Example: declare a VPC resource in Terraform.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The script author controls the sequence of operations.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Terraform works out the required resource actions.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E03F3E-7B4D-41FD-9D4C-BA3D03EE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29375"/>
            <a:ext cx="1190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Terraform uses a declarative configuration language.</a:t>
            </a:r>
          </a:p>
        </p:txBody>
      </p:sp>
    </p:spTree>
    <p:extLst>
      <p:ext uri="{BB962C8B-B14F-4D97-AF65-F5344CB8AC3E}">
        <p14:creationId xmlns:p14="http://schemas.microsoft.com/office/powerpoint/2010/main" val="9925922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DC94D5-8B8F-47FB-9EA2-931C8827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Idempotency across repeated Terraform runs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38F0D-F90C-464D-94DC-D5206F25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F50546-8226-45BE-8813-57028C0C25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be0eb346541b3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F3DE0-81CF-4AE4-99B1-00E69E00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pPr>
            <a:r>
              <a:rPr sz="3150" b="0">
                <a:solidFill>
                  <a:srgbClr val="4285F4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230E4-D913-4349-A3F7-D053394C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114550"/>
            <a:ext cx="542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First apply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90675-9263-400A-B400-8E3AFD6D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619375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The declared VPC does not exist.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16F9E-76A6-4E93-BDEA-AC966895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43125"/>
            <a:ext cx="4762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733AC5-0BEE-4114-8D58-8D801216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52675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Plan: 1 to add, 0 to change, 0 to destroy.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5C5E91-1EC3-40E0-A85C-964FABFB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909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pPr>
            <a:r>
              <a:rPr sz="3150" b="0">
                <a:solidFill>
                  <a:srgbClr val="4285F4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30334-B1CF-4601-B337-925E66B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542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Second apply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49FB3-F2AC-476A-BAF6-468233FA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067175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The configuration and infrastructure match.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274DA-A0B7-4545-A4E1-8E604F3A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590925"/>
            <a:ext cx="4762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05D19-000A-40A3-9BEC-D175503E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800475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No changes.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C62F14-4877-4CA0-B522-00167571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387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3150" b="0">
                <a:solidFill>
                  <a:srgbClr val="4285F4"/>
                </a:solidFill>
                <a:latin typeface="Consolas"/>
                <a:ea typeface="Consolas"/>
                <a:cs typeface="Consolas"/>
              </a:defRPr>
            </a:pPr>
            <a:r>
              <a:rPr sz="3150" b="0">
                <a:solidFill>
                  <a:srgbClr val="4285F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98FF3F-F335-4C47-B5CE-4451DA6E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010150"/>
            <a:ext cx="542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Add a subnet resource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752B2-71FB-4A9F-BA3B-54FBB618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14975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The configuration now describes another resource.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C341C9-43B6-4A69-A56F-F3AAA840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38725"/>
            <a:ext cx="4762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C4669-D564-4DF7-9766-AFC7A2EA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48275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Plan: 1 to add, 0 to change, 0 to destroy.</a:t>
            </a:r>
          </a:p>
        </p:txBody>
      </p:sp>
    </p:spTree>
    <p:extLst>
      <p:ext uri="{BB962C8B-B14F-4D97-AF65-F5344CB8AC3E}">
        <p14:creationId xmlns:p14="http://schemas.microsoft.com/office/powerpoint/2010/main" val="8174875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ADC30-05EF-4AD3-9D0A-8439FD8F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Terraform configuration building blocks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B8AB6-8BFE-4AAA-94FD-FDADC80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098BA-B277-4DA1-8978-8B1F7D1361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868d67f8e4a8f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4EC42-0264-4F44-8258-15087570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5524500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Provider: connects Terraform to Google Cloud APIs.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Resource: declares a VPC, VM or another cloud object.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Variable: supplies an input such as the project ID.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Output: exposes a result after the deployment.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1F6D67-C18B-47F9-A319-985E1E8C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047875"/>
            <a:ext cx="60960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0DECE-F1EA-4537-BF11-2FE66AEA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181225"/>
            <a:ext cx="575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main.tf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42574-F7E8-456A-B82E-3741510E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62225"/>
            <a:ext cx="571500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variable "project_id" {</a:t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type = string</a:t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provider "google" {</a:t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project = var.project_id</a:t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resource "google_compute_network" "demo" {</a:t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name = "csg221-demo"</a:t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auto_create_subnetworks = false</a:t>
            </a:r>
          </a:p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557143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35440-CF79-4DFF-A2B3-385EB8BD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Example: resource inputs and outputs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67A0D-5333-4B25-86F1-9742F7D9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4C268E-AF81-4DB2-9DF9-A261A2CCB7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2c004ebdd4f22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61B599-1FD1-400E-A99C-6E26C10D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785812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96890A-317D-4B7D-BF6F-24C7484A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76475"/>
            <a:ext cx="7515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main.tf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16E19-87AE-4A5D-95C2-DEE46E1C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57475"/>
            <a:ext cx="7477125" cy="2828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resource "google_compute_network" "demo" {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name = "csg221-demo"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auto_create_subnetworks = false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output "network_id" {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value = google_compute_network.demo.id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AE5F0-2E16-4241-9F48-14B7A06B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376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A custom-mode VPC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61036-1B8E-4A79-B45C-AD6CFEA8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95625"/>
            <a:ext cx="376237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name identifies the VPC in Google Cloud.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resource address is google_compute_network.demo.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output returns the ID of that VPC.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99F91-5890-43A2-B567-EF580EEC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1190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19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Provider setup, authentication and the project input are prerequisites.</a:t>
            </a:r>
          </a:p>
        </p:txBody>
      </p:sp>
    </p:spTree>
    <p:extLst>
      <p:ext uri="{BB962C8B-B14F-4D97-AF65-F5344CB8AC3E}">
        <p14:creationId xmlns:p14="http://schemas.microsoft.com/office/powerpoint/2010/main" val="21321166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9EAA41-1B09-4264-BFEA-62038D9A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Modules organize reusable configuration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6DDC8-367A-4EB0-9EDC-90F0AE16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F37BF5-4106-4964-AF64-27681BB652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56d8551514228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831BD-B07E-425F-A489-CB9D3472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191125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module is a directory of Terraform configuration files.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working directory is the root module.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root module can call child modules.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Inputs let one module serve different deployments.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DA4B90-BADC-4DF2-A844-0F525F8DAF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2183bc22e4220"/>
          <a:stretch xmlns:a="http://schemas.openxmlformats.org/drawingml/2006/main"/>
        </p:blipFill>
        <p:spPr>
          <a:xfrm xmlns:a="http://schemas.openxmlformats.org/drawingml/2006/main">
            <a:off x="6429375" y="2262080"/>
            <a:ext cx="6572250" cy="409596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C89BF-1399-46F3-95C2-B9F150CF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524625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18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Modules reduce manual copying of repeated resource definitions.</a:t>
            </a:r>
          </a:p>
        </p:txBody>
      </p:sp>
    </p:spTree>
    <p:extLst>
      <p:ext uri="{BB962C8B-B14F-4D97-AF65-F5344CB8AC3E}">
        <p14:creationId xmlns:p14="http://schemas.microsoft.com/office/powerpoint/2010/main" val="3109515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805BE-4612-4992-9444-5890E000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Example: a reusable network module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A5CA6-6CA2-414C-B0BE-A7BD72E6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C5B89-5197-4910-8787-F6A240CA9E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16ca931bc4a8e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66916-EE90-428C-8D85-E74C841E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766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EDE9B-9ABB-4670-87C9-D3C0CEEE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76475"/>
            <a:ext cx="7324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Root configuration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1860A-F47F-44B7-8DA8-73295E89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57475"/>
            <a:ext cx="7286625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module "lab_network" {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source       = "./modules/network"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project_id   = var.project_id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network_name = "student-lab-vpc"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B8664-D8BC-4CBD-B8A0-43B85B83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43125"/>
            <a:ext cx="385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5C281-D047-4F61-8EE6-B7A34B5A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76475"/>
            <a:ext cx="3514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Module directory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27F3B-8675-4762-BC08-0980B894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57475"/>
            <a:ext cx="3476625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modules/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network/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  main.tf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  variables.tf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  outputs.tf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3F67D-A1EF-4EA5-84CC-01FB338C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72125"/>
            <a:ext cx="1200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child module declares project_id and network_name as input variables.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Another class can call the same module with a different network_name.</a:t>
            </a:r>
          </a:p>
        </p:txBody>
      </p:sp>
    </p:spTree>
    <p:extLst>
      <p:ext uri="{BB962C8B-B14F-4D97-AF65-F5344CB8AC3E}">
        <p14:creationId xmlns:p14="http://schemas.microsoft.com/office/powerpoint/2010/main" val="12510329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19763-C9A6-469C-981E-DE675F95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State links configuration to real resources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2C594-C2B5-456C-BE9D-7FDEC0F7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481639-C6E8-4F9A-B0CA-48BF59CC1F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0d02292db4f50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75B7A-A876-4E0C-989C-43E9A3BC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7048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State records the binding between a resource address and its cloud object.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Terraform uses state with configuration and refreshed cloud information to plan changes.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default local filename is terraform.tfstate.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9D5BB-1ADF-4AA9-B55E-AC15163D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333625"/>
            <a:ext cx="4095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C3FAF-9759-4C55-AB89-01B24597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543175"/>
            <a:ext cx="3714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course-lab/</a:t>
            </a:r>
          </a:p>
          <a:p xmlns:a="http://schemas.openxmlformats.org/drawingml/2006/main">
            <a: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main.tf</a:t>
            </a:r>
          </a:p>
          <a:p xmlns:a="http://schemas.openxmlformats.org/drawingml/2006/main">
            <a: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variables.tf</a:t>
            </a:r>
          </a:p>
          <a:p xmlns:a="http://schemas.openxmlformats.org/drawingml/2006/main">
            <a: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outputs.tf</a:t>
            </a:r>
          </a:p>
          <a:p xmlns:a="http://schemas.openxmlformats.org/drawingml/2006/main">
            <a:pPr>
              <a:buNone/>
              <a:defRPr sz="20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terraform.tfstate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F42F9-3710-4155-A528-831D9356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rPr>
              <a:t>Example binding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910A8D-ECAD-45BB-A4FB-AB5C89E5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19125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google_compute_network.demo identifies the existing csg221-demo VPC.</a:t>
            </a:r>
          </a:p>
        </p:txBody>
      </p:sp>
    </p:spTree>
    <p:extLst>
      <p:ext uri="{BB962C8B-B14F-4D97-AF65-F5344CB8AC3E}">
        <p14:creationId xmlns:p14="http://schemas.microsoft.com/office/powerpoint/2010/main" val="48554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B467D-8522-4034-9DD9-1E3BCEB3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Local state and remote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65497C-3FF8-4584-938C-D51FB340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507DB-6B33-45B2-BA42-6D9355944F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dfe6189a54966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5C11B-454C-413D-BA15-A2B326D4C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ea48de7f14d88"/>
          <a:stretch xmlns:a="http://schemas.openxmlformats.org/drawingml/2006/main"/>
        </p:blipFill>
        <p:spPr>
          <a:xfrm xmlns:a="http://schemas.openxmlformats.org/drawingml/2006/main">
            <a:off x="1900980" y="2095500"/>
            <a:ext cx="1484416" cy="19050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58070-46C5-4BB2-BE80-4F0224D092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03c47bb8342d4"/>
          <a:stretch xmlns:a="http://schemas.openxmlformats.org/drawingml/2006/main"/>
        </p:blipFill>
        <p:spPr>
          <a:xfrm xmlns:a="http://schemas.openxmlformats.org/drawingml/2006/main">
            <a:off x="8873403" y="2095500"/>
            <a:ext cx="1541318" cy="190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83B69-51ED-4FE7-A775-0633F430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81250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Local file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2A236-8EC0-47F4-94BA-6FF85A83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219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5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Remote backend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DBD7C9-14A5-4F35-9B4C-933EEB3C25A7}"/>
              </a:ext>
            </a:extLst>
          </p:cNvPr>
          <p:cNvGraphicFramePr/>
          <p:nvPr/>
        </p:nvGraphicFramePr>
        <p:xfrm>
          <a:off xmlns:a="http://schemas.openxmlformats.org/drawingml/2006/main" x="762000" y="4286250"/>
          <a:ext xmlns:a="http://schemas.openxmlformats.org/drawingml/2006/main" cx="12192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96000"/>
                <a:gridCol w="6096000"/>
              </a:tblGrid>
              <a:tr h="60960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Local file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GCS backend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34A853"/>
                    </a:solidFill>
                  </a:tcPr>
                </a:tc>
              </a:tr>
              <a:tr h="62230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Stored in a local working directory.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Stored in a Cloud Storage bucket.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62230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Simple for individual learning.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Shared state supports team deployments.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30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The user manages sharing and backups.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IAM controls access. Versioning helps recovery.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63136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BA1FF-713C-4636-A6FF-44CEEE2D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GCS stores Terraform state remotely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13184C-BF17-4A64-9139-BF5A6F23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DC89BD-94E9-491A-8B81-EB93B9AEBF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2fdad46c949ab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2FF86-F879-48A8-806E-4AF9C201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572125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backend bucket must already exist.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prefix groups the state objects for this configuration.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Terraform’s GCS backend supports state locking.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State can contain sensitive values. Restrict bucket access.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CED71-7BF0-4E62-B2A9-4E9C9F37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238375"/>
            <a:ext cx="58578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FE69D-7E40-40AF-A54D-2CF0F86C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371725"/>
            <a:ext cx="551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Backend configuration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6BA3B-B7FB-43C2-AB31-9A5F332B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52725"/>
            <a:ext cx="5476875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terraform {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backend "gcs" {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  bucket = "example-terraform-state"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  prefix = "csg221/network"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FEED8-AF83-40D1-94B7-AC106BE9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5667375"/>
            <a:ext cx="5857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94E6D-40BF-45CB-A59A-41678542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876925"/>
            <a:ext cx="5476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terraform init</a:t>
            </a:r>
          </a:p>
        </p:txBody>
      </p:sp>
    </p:spTree>
    <p:extLst>
      <p:ext uri="{BB962C8B-B14F-4D97-AF65-F5344CB8AC3E}">
        <p14:creationId xmlns:p14="http://schemas.microsoft.com/office/powerpoint/2010/main" val="3591054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071039-E197-47E6-97B5-7C775E25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State locking prevents conflicting updates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0D536-B2B6-491F-A244-DC5E329A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0E0FAB-CCA9-4DEF-BFAD-1DF4C37360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3e93a69bc4dbf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7AD94-0EF0-4D28-A2E1-2D011714AA29}"/>
              </a:ext>
            </a:extLst>
          </p:cNvPr>
          <p:cNvGraphicFramePr/>
          <p:nvPr/>
        </p:nvGraphicFramePr>
        <p:xfrm>
          <a:off xmlns:a="http://schemas.openxmlformats.org/drawingml/2006/main" x="762000" y="2190750"/>
          <a:ext xmlns:a="http://schemas.openxmlformats.org/drawingml/2006/main" cx="12192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5476875"/>
                <a:gridCol w="5476875"/>
              </a:tblGrid>
              <a:tr h="60960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Step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Asha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Ravi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34A853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Starts apply and acquires the lock.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Starts an apply against the same state.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Terraform updates resources and state.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Cannot acquire the same lock. Waits or retries.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The operation ends and releases the lock.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Runs a fresh plan using the updated state.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1E8EA-0419-4342-B294-F097B6EE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1190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The lock protects state-changing operations against concurrent writers.</a:t>
            </a:r>
          </a:p>
        </p:txBody>
      </p:sp>
    </p:spTree>
    <p:extLst>
      <p:ext uri="{BB962C8B-B14F-4D97-AF65-F5344CB8AC3E}">
        <p14:creationId xmlns:p14="http://schemas.microsoft.com/office/powerpoint/2010/main" val="19720927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FCF799-421F-47EE-9AF9-52651787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Workspaces keep separate state instances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E9B78-901E-43E3-AD3C-9FB5DABB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3D99A-9120-48D9-A097-CEED22333C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7437491d24086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8C24D-A511-491C-87E1-B71A5A41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5953125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same configuration can have a dev state and a test state.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Inputs or resource names must distinguish each environment.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workspace alone does not isolate credentials, permissions or projects.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E68AB7-A1D6-491F-9095-A39E6C37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33625"/>
            <a:ext cx="5524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322D3-378D-404C-A008-6FC6405E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669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Select a state instance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236CF-6ABF-4E81-9332-C102B0DD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47975"/>
            <a:ext cx="5143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terraform workspace new dev</a:t>
            </a:r>
          </a:p>
          <a:p xmlns:a="http://schemas.openxmlformats.org/drawingml/2006/main">
            <a:pPr>
              <a:buNone/>
              <a:defRPr sz="18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terraform workspace select dev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7AAB9-6B8F-456C-B01D-E9F99C3A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5524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F39CA-B296-4041-83A4-9F374DBF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46722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Example input for dev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E6FF5-CF10-4CC4-8FE6-5A9ECF81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48225"/>
            <a:ext cx="5143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network_name = "student-dev-vpc"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EE92C-7FD6-4EA4-94AD-8EADE005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953125"/>
            <a:ext cx="5429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Each selected workspace tracks its own managed resources.</a:t>
            </a:r>
          </a:p>
        </p:txBody>
      </p:sp>
    </p:spTree>
    <p:extLst>
      <p:ext uri="{BB962C8B-B14F-4D97-AF65-F5344CB8AC3E}">
        <p14:creationId xmlns:p14="http://schemas.microsoft.com/office/powerpoint/2010/main" val="2304396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3FAC1-41C1-478C-BF1F-FB68AD55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2BE44-76AA-4C53-B709-8918B3C85B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f7c4833894555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BF9EF-52CE-47E9-AB78-767EF391D6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3e9c94a7c4a6a"/>
          <a:stretch xmlns:a="http://schemas.openxmlformats.org/drawingml/2006/main"/>
        </p:blipFill>
        <p:spPr>
          <a:xfrm xmlns:a="http://schemas.openxmlformats.org/drawingml/2006/main">
            <a:off x="1001060" y="1428750"/>
            <a:ext cx="5141629" cy="52863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BC69E-05D4-4511-A48B-CC73BA86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57500"/>
            <a:ext cx="619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Managed Services</a:t>
            </a:r>
          </a:p>
          <a:p xmlns:a="http://schemas.openxmlformats.org/drawingml/2006/main">
            <a:pPr>
              <a:buNone/>
              <a:def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9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BigQuery fundamentals</a:t>
            </a:r>
          </a:p>
        </p:txBody>
      </p:sp>
    </p:spTree>
    <p:extLst>
      <p:ext uri="{BB962C8B-B14F-4D97-AF65-F5344CB8AC3E}">
        <p14:creationId xmlns:p14="http://schemas.microsoft.com/office/powerpoint/2010/main" val="11061058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91563-21ED-443F-98C2-55A3B8B1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BigQuery separates storage and compute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22724-2520-4996-B231-41E9A4BA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55513-F4DA-49E4-903E-AAD224FF09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7b12f389214eb0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810D9-B087-4411-B62A-01DDE9A650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59f5a7a47431a"/>
          <a:stretch xmlns:a="http://schemas.openxmlformats.org/drawingml/2006/main"/>
        </p:blipFill>
        <p:spPr>
          <a:xfrm xmlns:a="http://schemas.openxmlformats.org/drawingml/2006/main">
            <a:off x="714375" y="2197332"/>
            <a:ext cx="8810625" cy="393971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CE23B-DB0E-43A5-ADEC-CE697A5A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33625"/>
            <a:ext cx="3048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Storage holds the table data.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Compute executes SQL queries.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Google manages the underlying infrastructure.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FB504B-D7B3-4678-847B-A2371863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572250"/>
            <a:ext cx="1200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Storage and query processing can scale independently.</a:t>
            </a:r>
          </a:p>
        </p:txBody>
      </p:sp>
    </p:spTree>
    <p:extLst>
      <p:ext uri="{BB962C8B-B14F-4D97-AF65-F5344CB8AC3E}">
        <p14:creationId xmlns:p14="http://schemas.microsoft.com/office/powerpoint/2010/main" val="18870979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87C58-30FC-459C-AA84-F2B32365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Columnar storage skips unused columns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C033F-D98F-4B8E-896E-995B5262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9107FC-105D-405D-B894-F6FCAC42DB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78a425f7f4ed1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86BC5-A250-4271-80FD-3345F30EFB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b631438b4b4782"/>
          <a:stretch xmlns:a="http://schemas.openxmlformats.org/drawingml/2006/main"/>
        </p:blipFill>
        <p:spPr>
          <a:xfrm xmlns:a="http://schemas.openxmlformats.org/drawingml/2006/main">
            <a:off x="783332" y="2047875"/>
            <a:ext cx="12149336" cy="37623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74821-E86F-4368-A82D-A1B8B1CE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48375"/>
            <a:ext cx="7429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4CF40-EA14-4FF1-8EDC-6C306635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257925"/>
            <a:ext cx="704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SELECT customer_id, total_amount</a:t>
            </a:r>
          </a:p>
          <a:p xmlns:a="http://schemas.openxmlformats.org/drawingml/2006/main">
            <a:pPr>
              <a:buNone/>
              <a:defRPr sz="195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FROM `demo.orders`;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A7193-B501-42F2-A4B3-35B69C7C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096000"/>
            <a:ext cx="409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This report needs only two columns.</a:t>
            </a:r>
          </a:p>
          <a:p xmlns:a="http://schemas.openxmlformats.org/drawingml/2006/main">
            <a:pPr>
              <a:buNone/>
              <a:def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02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BigQuery can skip other columns.</a:t>
            </a:r>
          </a:p>
        </p:txBody>
      </p:sp>
    </p:spTree>
    <p:extLst>
      <p:ext uri="{BB962C8B-B14F-4D97-AF65-F5344CB8AC3E}">
        <p14:creationId xmlns:p14="http://schemas.microsoft.com/office/powerpoint/2010/main" val="4080359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008B67-A89C-434C-9E55-9A6FBB4C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Slots provide query processing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4EE26-914A-425A-970E-7B5EF255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918AE-6977-42A2-A09A-6B91B54581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7cd54db514797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086DC-B310-4DE1-9FA7-FD2D9D7E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7524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slot is a virtual unit of compute capacity for SQL execution.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query can use many slots to process work in parallel.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BigQuery schedules the work across available slots.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Query complexity and concurrent work affect slot demand.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3BB59-FBAF-4849-AE79-D57D9443F3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ba3f687194df7"/>
          <a:stretch xmlns:a="http://schemas.openxmlformats.org/drawingml/2006/main"/>
        </p:blipFill>
        <p:spPr>
          <a:xfrm xmlns:a="http://schemas.openxmlformats.org/drawingml/2006/main">
            <a:off x="10002412" y="2524125"/>
            <a:ext cx="2236052" cy="2619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F4B08-3DCA-4AD9-B743-4F352040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524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25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Query compute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75EB0-962E-4073-9901-322EA2C5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19875"/>
            <a:ext cx="1190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Columnar storage affects data read. Slots provide processing capacity.</a:t>
            </a:r>
          </a:p>
        </p:txBody>
      </p:sp>
    </p:spTree>
    <p:extLst>
      <p:ext uri="{BB962C8B-B14F-4D97-AF65-F5344CB8AC3E}">
        <p14:creationId xmlns:p14="http://schemas.microsoft.com/office/powerpoint/2010/main" val="14684197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49DF8F-E8FD-4D3C-8EAE-A15062EF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Partitioning and clustering reduce data scans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55688-5F17-4FFD-BAAE-25FED859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628BAB-8A72-4996-AA98-330FA44DDB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886f1335c420b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61DCB-825B-4DF6-9E61-CD1A8F46F90C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2192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953000"/>
                <a:gridCol w="4953000"/>
              </a:tblGrid>
              <a:tr h="60960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/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Partitioning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Clustering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T w="19050">
                      <a:solidFill>
                        <a:srgbClr val="FFFFFF"/>
                      </a:solidFill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34A853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Organizes data by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A partition key, such as eventDate.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Selected columns, such as userId.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A suitable filter skips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Unrelated partitions.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Unrelated storage blocks.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5050"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Example</a:t>
                      </a:r>
                    </a:p>
                  </a:txBody>
                  <a:tcPr marL="91440" marR="91440" marT="45720" marB="45720" anchor="ctr">
                    <a:lnL w="19050">
                      <a:solidFill>
                        <a:srgbClr val="FFFFFF"/>
                      </a:solidFill>
                    </a:lnL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Only the selected day.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lIns="133350" tIns="133350" rIns="133350" bIns="13335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C4043"/>
                          </a:solidFill>
                          <a:latin typeface="Google Sans Text"/>
                          <a:ea typeface="Google Sans Text"/>
                          <a:cs typeface="Google Sans Text"/>
                        </a:rPr>
                        <a:t>Only relevant user ranges within that day.</a:t>
                      </a:r>
                    </a:p>
                  </a:txBody>
                  <a:tcPr marL="91440" marR="91440" marT="45720" marB="45720" anchor="ctr">
                    <a:lnR w="19050">
                      <a:solidFill>
                        <a:srgbClr val="FFFFFF"/>
                      </a:solidFill>
                    </a:lnR>
                    <a:lnB w="19050">
                      <a:solidFill>
                        <a:srgbClr val="FFFFFF"/>
                      </a:solidFill>
                    </a:lnB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58FC1-21CA-4CE1-A864-66F8F153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29375"/>
            <a:ext cx="1190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A table can use both: partition by eventDate and cluster by userId.</a:t>
            </a:r>
          </a:p>
        </p:txBody>
      </p:sp>
    </p:spTree>
    <p:extLst>
      <p:ext uri="{BB962C8B-B14F-4D97-AF65-F5344CB8AC3E}">
        <p14:creationId xmlns:p14="http://schemas.microsoft.com/office/powerpoint/2010/main" val="6020341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3CAA3-7A46-4A95-9D38-4E9A92CB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Example: a date filter and a user filter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09984-FEAC-496B-A4BD-F1EB4CEA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253DE-2108-4AE8-98F0-7CCFC9938B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87b8907f041c9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40314D-3369-4D80-AC95-8325A87D8C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104875f9a4b4b"/>
          <a:stretch xmlns:a="http://schemas.openxmlformats.org/drawingml/2006/main"/>
        </p:blipFill>
        <p:spPr>
          <a:xfrm xmlns:a="http://schemas.openxmlformats.org/drawingml/2006/main">
            <a:off x="762000" y="2460899"/>
            <a:ext cx="7239000" cy="274582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AFC1F-168B-4C4D-B968-8BC2E7AE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33625"/>
            <a:ext cx="4572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9D314-F4A0-4B23-B170-F1162D69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66975"/>
            <a:ext cx="422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Query example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49797-2E43-4DB0-8872-4A24D6C9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47975"/>
            <a:ext cx="419100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SELECT c1, c3</a:t>
            </a:r>
          </a:p>
          <a:p xmlns:a="http://schemas.openxmlformats.org/drawingml/2006/main">
            <a: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FROM `demo.events`</a:t>
            </a:r>
          </a:p>
          <a:p xmlns:a="http://schemas.openxmlformats.org/drawingml/2006/main">
            <a: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WHERE eventDate =</a:t>
            </a:r>
          </a:p>
          <a:p xmlns:a="http://schemas.openxmlformats.org/drawingml/2006/main">
            <a: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DATE '2019-01-03'</a:t>
            </a:r>
          </a:p>
          <a:p xmlns:a="http://schemas.openxmlformats.org/drawingml/2006/main">
            <a:pPr>
              <a:buNone/>
              <a:defRPr sz="15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AND userId BETWEEN 21 AND 30;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6B466-C558-46A7-ACCF-E7BA4AD9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00750"/>
            <a:ext cx="12001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date filter selects the relevant partition.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user filter can skip unrelated blocks within that partition.</a:t>
            </a:r>
          </a:p>
        </p:txBody>
      </p:sp>
    </p:spTree>
    <p:extLst>
      <p:ext uri="{BB962C8B-B14F-4D97-AF65-F5344CB8AC3E}">
        <p14:creationId xmlns:p14="http://schemas.microsoft.com/office/powerpoint/2010/main" val="146723123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D4B52-78A2-4CFB-B2AF-CFAC1ED8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BigQuery ML trains models with 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4AD59-3832-4D1D-A0F4-3CED7400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AB583-4E02-44C7-8E7E-75F68EB37C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9317d1112472c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02B647-5609-4AE7-98DB-48D4996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12192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BigQuery ML supports model training and prediction using SQL.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trained model remains available in BigQuery for later SQL inference.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DFE42-FA65-4D16-921E-F260A2CA58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22de6402c4f79"/>
          <a:stretch xmlns:a="http://schemas.openxmlformats.org/drawingml/2006/main"/>
        </p:blipFill>
        <p:spPr>
          <a:xfrm xmlns:a="http://schemas.openxmlformats.org/drawingml/2006/main">
            <a:off x="714375" y="4151606"/>
            <a:ext cx="12287250" cy="217428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2345F-4823-4272-9F8A-9D6397D4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0"/>
            <a:ext cx="1171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Example: use advertising spend to predict sales.</a:t>
            </a:r>
          </a:p>
        </p:txBody>
      </p:sp>
    </p:spTree>
    <p:extLst>
      <p:ext uri="{BB962C8B-B14F-4D97-AF65-F5344CB8AC3E}">
        <p14:creationId xmlns:p14="http://schemas.microsoft.com/office/powerpoint/2010/main" val="16222288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A4AC5-E220-49A0-8D91-3ADD4AB2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Example: train a sales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60545-F3DB-4BEA-A198-2BDB06F6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93126-1432-49E5-A816-ADA2D178C4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a3754049344fa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0D7DF-F9DC-4CEE-9F03-B46ABC74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80962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BBD40-3CC0-4752-9D20-95788A64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76475"/>
            <a:ext cx="775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C404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3C4043"/>
                </a:solidFill>
                <a:latin typeface="Consolas"/>
                <a:ea typeface="Consolas"/>
                <a:cs typeface="Consolas"/>
              </a:rPr>
              <a:t>GoogleSQL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5C207-4037-4A2E-8B18-611C12E3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57475"/>
            <a:ext cx="7715250" cy="2828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CREATE MODEL `demo.sales_model`</a:t>
            </a:r>
          </a:p>
          <a:p xmlns:a="http://schemas.openxmlformats.org/drawingml/2006/main">
            <a: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OPTIONS(</a:t>
            </a:r>
          </a:p>
          <a:p xmlns:a="http://schemas.openxmlformats.org/drawingml/2006/main">
            <a: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model_type = 'linear_reg',</a:t>
            </a:r>
          </a:p>
          <a:p xmlns:a="http://schemas.openxmlformats.org/drawingml/2006/main">
            <a: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input_label_cols = ['sales']</a:t>
            </a:r>
          </a:p>
          <a:p xmlns:a="http://schemas.openxmlformats.org/drawingml/2006/main">
            <a: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) AS</a:t>
            </a:r>
          </a:p>
          <a:p xmlns:a="http://schemas.openxmlformats.org/drawingml/2006/main">
            <a: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SELECT ad_spend, sales</a:t>
            </a:r>
          </a:p>
          <a:p xmlns:a="http://schemas.openxmlformats.org/drawingml/2006/main">
            <a:pPr>
              <a:buNone/>
              <a:defRPr sz="2100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FROM `demo.training_sales`;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0A2FD-D8BF-4455-9D14-AD77E85F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86000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Training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4B952-3F7D-47BA-9C14-781FC146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34290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ad_spend is the input feature.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sales is the label the model learns to predict.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table contains historical examples.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279DC-A822-4A43-842D-D47A7A25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29375"/>
            <a:ext cx="1209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The model learns a relationship between advertising spend and sales.</a:t>
            </a:r>
          </a:p>
        </p:txBody>
      </p:sp>
    </p:spTree>
    <p:extLst>
      <p:ext uri="{BB962C8B-B14F-4D97-AF65-F5344CB8AC3E}">
        <p14:creationId xmlns:p14="http://schemas.microsoft.com/office/powerpoint/2010/main" val="77235691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8C75FD-15B9-48FF-97B1-49EC559D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Example: evaluate, then predict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9CA42-8415-4F5E-91F5-83BFC99E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1D99B-E765-4F21-919A-B1493A4349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eecd8c6694c29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7EC763-1C39-45E6-A828-E4977B15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Evaluation with held-out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3496F-930B-499B-9F4A-FDBB87D5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Prediction for a new 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076792-26F0-4766-9915-33E650E7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5905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8C00A1-6297-4E2B-86B7-FDDE5BF9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5524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SELECT *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FROM ML.EVALUATE(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MODEL `demo.sales_model`,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(SELECT ad_spend, sales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 FROM `demo.test_sales`)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8961C3-0317-433A-895F-F46B64BD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05125"/>
            <a:ext cx="5715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DC691-7C2D-448A-8C07-977DAB33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14675"/>
            <a:ext cx="5334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SELECT *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FROM ML.PREDICT(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MODEL `demo.sales_model`,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  (SELECT 500.0 AS ad_spend)</a:t>
            </a:r>
          </a:p>
          <a:p xmlns:a="http://schemas.openxmlformats.org/drawingml/2006/main">
            <a:pPr>
              <a:buNone/>
              <a:defRPr sz="1875" b="0">
                <a:solidFill>
                  <a:srgbClr val="20212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0212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2BA887-CB15-4965-922F-0D7A61BB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Error metrics compare predictions with actual sales on separate test rows.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A6A751-02A3-468C-82A2-06E27587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53125"/>
            <a:ext cx="571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1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The output includes predicted_sales for the supplied ad_spend value.</a:t>
            </a:r>
          </a:p>
        </p:txBody>
      </p:sp>
    </p:spTree>
    <p:extLst>
      <p:ext uri="{BB962C8B-B14F-4D97-AF65-F5344CB8AC3E}">
        <p14:creationId xmlns:p14="http://schemas.microsoft.com/office/powerpoint/2010/main" val="19604143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4869A-FB29-45EE-9705-369E8FF0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Knowledge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B3EAA5-4620-403D-8FF6-F5A1C84E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E37CC1-D3D9-45AB-BFB7-25EA237F74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f855a6d334733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E5BF2-E5AD-407B-BB9C-9C42E520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1143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250" b="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</a:rPr>
              <a:t>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F7DB6-EC94-4612-9D61-BF1B8F83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200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700" b="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</a:rPr>
              <a:t>A team shares Terraform state in GCS. Which mechanism prevents two operations from writing that state at the same time?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7DCAC-116D-4EDF-91F7-376A938A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143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A.  Output values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D9E27-9D9B-423D-B226-852CE2D3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24450"/>
            <a:ext cx="1143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B.  State locking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27B4D-2D76-43EE-B15C-EF291848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76900"/>
            <a:ext cx="1143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C.  BigQuery slots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D00E0-6E54-473B-B4F1-371FFD74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29350"/>
            <a:ext cx="1143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225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rPr>
              <a:t>D.  Input variables</a:t>
            </a:r>
          </a:p>
        </p:txBody>
      </p:sp>
    </p:spTree>
    <p:extLst>
      <p:ext uri="{BB962C8B-B14F-4D97-AF65-F5344CB8AC3E}">
        <p14:creationId xmlns:p14="http://schemas.microsoft.com/office/powerpoint/2010/main" val="79038769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2C481-2614-4C6E-A960-973F96FD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209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Knowledge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704C7-7E74-4F9F-83E7-5FA2D85E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BBE7F-30B4-47DB-85F5-736481C1D6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3d0e738b304bb0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AA56B2-6011-48D2-A5B3-6A4F6490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1143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2250" b="0">
                <a:solidFill>
                  <a:srgbClr val="34A853"/>
                </a:solidFill>
                <a:latin typeface="Google Sans Medium"/>
                <a:ea typeface="Google Sans Medium"/>
                <a:cs typeface="Google Sans Medium"/>
              </a:rPr>
              <a:t>Answer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1F69B-2574-4CA2-84E5-79ECC957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190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3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B. State locking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05797-3F6E-43E3-859F-45A4B3D9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1525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The backend lock allows one state-changing operation at a time.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A second operation waits or fails to acquire that same lock.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400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Remote storage and IAM also help teams share state with controlled access.</a:t>
            </a:r>
          </a:p>
        </p:txBody>
      </p:sp>
    </p:spTree>
    <p:extLst>
      <p:ext uri="{BB962C8B-B14F-4D97-AF65-F5344CB8AC3E}">
        <p14:creationId xmlns:p14="http://schemas.microsoft.com/office/powerpoint/2010/main" val="111942097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DF0FB3-5EEC-47F7-8121-BB9C9945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defRPr>
            </a:pPr>
            <a:r>
              <a:rPr sz="900" b="0">
                <a:solidFill>
                  <a:srgbClr val="BDC1C6"/>
                </a:solidFill>
                <a:latin typeface="Google Sans Text"/>
                <a:ea typeface="Google Sans Text"/>
                <a:cs typeface="Google Sans Text"/>
              </a:rPr>
              <a:t>CSG221 Unit VI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6151F3-9E32-4BBC-9381-691E0D64C8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7f0a0c5054823"/>
          <a:stretch xmlns:a="http://schemas.openxmlformats.org/drawingml/2006/main"/>
        </p:blipFill>
        <p:spPr>
          <a:xfrm xmlns:a="http://schemas.openxmlformats.org/drawingml/2006/main">
            <a:off x="11620500" y="7165975"/>
            <a:ext cx="1524000" cy="279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DE2F5-B0FF-42CC-8EFC-22085F00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defPPr>
            <a:lvl1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1pPr>
            <a:lvl2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2pPr>
            <a:lvl3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3pPr>
            <a:lvl4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4pPr>
            <a:lvl5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5pPr>
            <a:lvl6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6pPr>
            <a:lvl7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7pPr>
            <a:lvl8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8pPr>
            <a:lvl9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lvl9pPr>
          </a:lstStyle>
          <a:p xmlns:a="http://schemas.openxmlformats.org/drawingml/2006/main">
            <a:pPr>
              <a:buNone/>
              <a:def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defRPr>
            </a:pPr>
            <a:r>
              <a:rPr sz="36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</a:rPr>
              <a:t>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B4550-DF83-4287-994E-0A46F9A1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8239125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defPPr>
            <a:lvl1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1pPr>
            <a:lvl2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2pPr>
            <a:lvl3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3pPr>
            <a:lvl4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4pPr>
            <a:lvl5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5pPr>
            <a:lvl6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6pPr>
            <a:lvl7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7pPr>
            <a:lvl8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8pPr>
            <a:lvl9pPr>
              <a:buNone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lvl9pPr>
          </a:lstStyle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Terraform declares infrastructure and tracks resource identities in state.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Modules reuse configuration. GCS supports shared state and locking.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BigQuery separates storage and compute.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Partitioning and clustering help queries skip data.</a:t>
            </a:r>
          </a:p>
          <a:p xmlns:a="http://schemas.openxmlformats.org/drawingml/2006/main">
            <a:pPr marL="228600" indent="-127000">
              <a:spcAft>
                <a:spcPts val="1200"/>
              </a:spcAft>
              <a:buChar char="•"/>
              <a:defRPr sz="2175" b="0">
                <a:solidFill>
                  <a:srgbClr val="3C4043"/>
                </a:solidFill>
                <a:latin typeface="Google Sans Text"/>
                <a:ea typeface="Google Sans Text"/>
                <a:cs typeface="Google Sans Text"/>
              </a:defRPr>
            </a:pPr>
            <a:r>
              <a:t>BigQuery ML trains, evaluates and predicts with SQL.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CF6A2-3025-43C5-9C54-72B0DD86D0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594d6480c24193"/>
          <a:stretch xmlns:a="http://schemas.openxmlformats.org/drawingml/2006/main"/>
        </p:blipFill>
        <p:spPr>
          <a:xfrm xmlns:a="http://schemas.openxmlformats.org/drawingml/2006/main">
            <a:off x="9953625" y="2715226"/>
            <a:ext cx="3048000" cy="314204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7067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Google Sans Text"/>
        <a:ea typeface=""/>
        <a:cs typeface=""/>
      </a:majorFont>
      <a:minorFont>
        <a:latin typeface="Google Sans Text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2026-10-28T04:10:52.9170000Z</dcterms:created>
  <dcterms:modified xsi:type="dcterms:W3CDTF">2026-10-28T04:10:52.9170000Z</dcterms:modified>
</coreProperties>
</file>