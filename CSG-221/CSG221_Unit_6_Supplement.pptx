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ca11f311bd04594" /><Relationship Type="http://schemas.openxmlformats.org/officeDocument/2006/relationships/extended-properties" Target="/docProps/app.xml" Id="R471382ff5c0646e5" /><Relationship Type="http://schemas.openxmlformats.org/officeDocument/2006/relationships/officeDocument" Target="/ppt/presentation.xml" Id="R7f2ae73e837d41b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76fafc6f5844f8c"/>
  </p:sldMasterIdLst>
  <p:notesMasterIdLst>
    <p:notesMasterId xmlns:r="http://schemas.openxmlformats.org/officeDocument/2006/relationships" r:id="R110392723f4e4933"/>
  </p:notesMasterIdLst>
  <p:sldIdLst>
    <p:sldId xmlns:r="http://schemas.openxmlformats.org/officeDocument/2006/relationships" id="256" r:id="Rc29704c85d634f2f"/>
    <p:sldId xmlns:r="http://schemas.openxmlformats.org/officeDocument/2006/relationships" id="257" r:id="Rbec405def32041c5"/>
    <p:sldId xmlns:r="http://schemas.openxmlformats.org/officeDocument/2006/relationships" id="258" r:id="Rdc9fb8233a6f4a7a"/>
    <p:sldId xmlns:r="http://schemas.openxmlformats.org/officeDocument/2006/relationships" id="259" r:id="R0366dbc5f2994691"/>
    <p:sldId xmlns:r="http://schemas.openxmlformats.org/officeDocument/2006/relationships" id="260" r:id="Rf2bec504cebf441e"/>
    <p:sldId xmlns:r="http://schemas.openxmlformats.org/officeDocument/2006/relationships" id="261" r:id="Rf05988376f644811"/>
    <p:sldId xmlns:r="http://schemas.openxmlformats.org/officeDocument/2006/relationships" id="262" r:id="Raa7467cc33a54293"/>
    <p:sldId xmlns:r="http://schemas.openxmlformats.org/officeDocument/2006/relationships" id="263" r:id="Rf964c80c76844930"/>
    <p:sldId xmlns:r="http://schemas.openxmlformats.org/officeDocument/2006/relationships" id="264" r:id="Rc0f7f6c9ce4a4a92"/>
    <p:sldId xmlns:r="http://schemas.openxmlformats.org/officeDocument/2006/relationships" id="265" r:id="R36709be50e024398"/>
    <p:sldId xmlns:r="http://schemas.openxmlformats.org/officeDocument/2006/relationships" id="266" r:id="R2f6db5ac3c834b3f"/>
    <p:sldId xmlns:r="http://schemas.openxmlformats.org/officeDocument/2006/relationships" id="267" r:id="Ra49a8b4607424636"/>
    <p:sldId xmlns:r="http://schemas.openxmlformats.org/officeDocument/2006/relationships" id="268" r:id="R013900750a7c4034"/>
    <p:sldId xmlns:r="http://schemas.openxmlformats.org/officeDocument/2006/relationships" id="269" r:id="R2e5f476452df4180"/>
    <p:sldId xmlns:r="http://schemas.openxmlformats.org/officeDocument/2006/relationships" id="270" r:id="R6e6c64c3c45149df"/>
    <p:sldId xmlns:r="http://schemas.openxmlformats.org/officeDocument/2006/relationships" id="271" r:id="Rdd9c8df89d3f4b9a"/>
    <p:sldId xmlns:r="http://schemas.openxmlformats.org/officeDocument/2006/relationships" id="272" r:id="R63e48b87c759475f"/>
    <p:sldId xmlns:r="http://schemas.openxmlformats.org/officeDocument/2006/relationships" id="273" r:id="Rd5ced32995134d44"/>
    <p:sldId xmlns:r="http://schemas.openxmlformats.org/officeDocument/2006/relationships" id="274" r:id="R2d2138ee4f374aee"/>
    <p:sldId xmlns:r="http://schemas.openxmlformats.org/officeDocument/2006/relationships" id="275" r:id="R66c6a162b64a474d"/>
  </p:sldIdLst>
  <p:sldSz cx="13716000" cy="77152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2bba0101c694ab5" /><Relationship Type="http://schemas.openxmlformats.org/officeDocument/2006/relationships/slideMaster" Target="/ppt/slideMasters/slideMaster1.xml" Id="Rc76fafc6f5844f8c" /><Relationship Type="http://schemas.openxmlformats.org/officeDocument/2006/relationships/notesMaster" Target="/ppt/notesMasters/notesMaster1.xml" Id="R110392723f4e4933" /><Relationship Type="http://schemas.openxmlformats.org/officeDocument/2006/relationships/presProps" Target="/ppt/presProps.xml" Id="Rcb321022cb074544" /><Relationship Type="http://schemas.openxmlformats.org/officeDocument/2006/relationships/tableStyles" Target="/ppt/tableStyles.xml" Id="Raf92ba67311e48ee" /><Relationship Type="http://schemas.openxmlformats.org/officeDocument/2006/relationships/slide" Target="/ppt/slides/slide1.xml" Id="Rc29704c85d634f2f" /><Relationship Type="http://schemas.openxmlformats.org/officeDocument/2006/relationships/slide" Target="/ppt/slides/slide2.xml" Id="Rbec405def32041c5" /><Relationship Type="http://schemas.openxmlformats.org/officeDocument/2006/relationships/slide" Target="/ppt/slides/slide3.xml" Id="Rdc9fb8233a6f4a7a" /><Relationship Type="http://schemas.openxmlformats.org/officeDocument/2006/relationships/slide" Target="/ppt/slides/slide4.xml" Id="R0366dbc5f2994691" /><Relationship Type="http://schemas.openxmlformats.org/officeDocument/2006/relationships/slide" Target="/ppt/slides/slide5.xml" Id="Rf2bec504cebf441e" /><Relationship Type="http://schemas.openxmlformats.org/officeDocument/2006/relationships/slide" Target="/ppt/slides/slide6.xml" Id="Rf05988376f644811" /><Relationship Type="http://schemas.openxmlformats.org/officeDocument/2006/relationships/slide" Target="/ppt/slides/slide7.xml" Id="Raa7467cc33a54293" /><Relationship Type="http://schemas.openxmlformats.org/officeDocument/2006/relationships/slide" Target="/ppt/slides/slide8.xml" Id="Rf964c80c76844930" /><Relationship Type="http://schemas.openxmlformats.org/officeDocument/2006/relationships/slide" Target="/ppt/slides/slide9.xml" Id="Rc0f7f6c9ce4a4a92" /><Relationship Type="http://schemas.openxmlformats.org/officeDocument/2006/relationships/slide" Target="/ppt/slides/slide10.xml" Id="R36709be50e024398" /><Relationship Type="http://schemas.openxmlformats.org/officeDocument/2006/relationships/slide" Target="/ppt/slides/slide11.xml" Id="R2f6db5ac3c834b3f" /><Relationship Type="http://schemas.openxmlformats.org/officeDocument/2006/relationships/slide" Target="/ppt/slides/slide12.xml" Id="Ra49a8b4607424636" /><Relationship Type="http://schemas.openxmlformats.org/officeDocument/2006/relationships/slide" Target="/ppt/slides/slide13.xml" Id="R013900750a7c4034" /><Relationship Type="http://schemas.openxmlformats.org/officeDocument/2006/relationships/slide" Target="/ppt/slides/slide14.xml" Id="R2e5f476452df4180" /><Relationship Type="http://schemas.openxmlformats.org/officeDocument/2006/relationships/slide" Target="/ppt/slides/slide15.xml" Id="R6e6c64c3c45149df" /><Relationship Type="http://schemas.openxmlformats.org/officeDocument/2006/relationships/slide" Target="/ppt/slides/slide16.xml" Id="Rdd9c8df89d3f4b9a" /><Relationship Type="http://schemas.openxmlformats.org/officeDocument/2006/relationships/slide" Target="/ppt/slides/slide17.xml" Id="R63e48b87c759475f" /><Relationship Type="http://schemas.openxmlformats.org/officeDocument/2006/relationships/slide" Target="/ppt/slides/slide18.xml" Id="Rd5ced32995134d44" /><Relationship Type="http://schemas.openxmlformats.org/officeDocument/2006/relationships/slide" Target="/ppt/slides/slide19.xml" Id="R2d2138ee4f374aee" /><Relationship Type="http://schemas.openxmlformats.org/officeDocument/2006/relationships/slide" Target="/ppt/slides/slide20.xml" Id="R66c6a162b64a474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89743f5c2e1430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706c30c5d43477b" /><Relationship Type="http://schemas.openxmlformats.org/officeDocument/2006/relationships/notesMaster" Target="/ppt/notesMasters/notesMaster1.xml" Id="R5414ffe67b1c40a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a4d8ea169834b45" /><Relationship Type="http://schemas.openxmlformats.org/officeDocument/2006/relationships/notesMaster" Target="/ppt/notesMasters/notesMaster1.xml" Id="R4720a6ac6dc84a0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03c5ffe08944bc7" /><Relationship Type="http://schemas.openxmlformats.org/officeDocument/2006/relationships/notesMaster" Target="/ppt/notesMasters/notesMaster1.xml" Id="R476f1dc1c45b416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f5f5bde0b484aba" /><Relationship Type="http://schemas.openxmlformats.org/officeDocument/2006/relationships/notesMaster" Target="/ppt/notesMasters/notesMaster1.xml" Id="Rec8d5f9bf2e6482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ff7ca32b99f40e6" /><Relationship Type="http://schemas.openxmlformats.org/officeDocument/2006/relationships/notesMaster" Target="/ppt/notesMasters/notesMaster1.xml" Id="R2dcc5282e68b407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f16a59aeb914220" /><Relationship Type="http://schemas.openxmlformats.org/officeDocument/2006/relationships/notesMaster" Target="/ppt/notesMasters/notesMaster1.xml" Id="Ra2b7ef87258540b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7ef931c21b046cb" /><Relationship Type="http://schemas.openxmlformats.org/officeDocument/2006/relationships/notesMaster" Target="/ppt/notesMasters/notesMaster1.xml" Id="Racd73f700d8145b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1f5c150c8414f54" /><Relationship Type="http://schemas.openxmlformats.org/officeDocument/2006/relationships/notesMaster" Target="/ppt/notesMasters/notesMaster1.xml" Id="R286fb0efb302478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f75f8e9069a4c60" /><Relationship Type="http://schemas.openxmlformats.org/officeDocument/2006/relationships/notesMaster" Target="/ppt/notesMasters/notesMaster1.xml" Id="R59c5a96275f340a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83c87ffa0074883" /><Relationship Type="http://schemas.openxmlformats.org/officeDocument/2006/relationships/notesMaster" Target="/ppt/notesMasters/notesMaster1.xml" Id="Ra8151193d7614a6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66b7f9c3b3945a9" /><Relationship Type="http://schemas.openxmlformats.org/officeDocument/2006/relationships/notesMaster" Target="/ppt/notesMasters/notesMaster1.xml" Id="Rf0e3588239094c7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953e3f8bbf44ec0" /><Relationship Type="http://schemas.openxmlformats.org/officeDocument/2006/relationships/notesMaster" Target="/ppt/notesMasters/notesMaster1.xml" Id="Rb896b141c2ba407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99efb988f47449c" /><Relationship Type="http://schemas.openxmlformats.org/officeDocument/2006/relationships/notesMaster" Target="/ppt/notesMasters/notesMaster1.xml" Id="Rdd48508e8c364ee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e2a52ba2672428a" /><Relationship Type="http://schemas.openxmlformats.org/officeDocument/2006/relationships/notesMaster" Target="/ppt/notesMasters/notesMaster1.xml" Id="Rbd2e187c5e89427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bb3afa3ebd84cf0" /><Relationship Type="http://schemas.openxmlformats.org/officeDocument/2006/relationships/notesMaster" Target="/ppt/notesMasters/notesMaster1.xml" Id="R235863b4229f455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a2b7dc4fc644659" /><Relationship Type="http://schemas.openxmlformats.org/officeDocument/2006/relationships/notesMaster" Target="/ppt/notesMasters/notesMaster1.xml" Id="Ra17231f56fee477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b657c9b4390449e" /><Relationship Type="http://schemas.openxmlformats.org/officeDocument/2006/relationships/notesMaster" Target="/ppt/notesMasters/notesMaster1.xml" Id="Rc61167f3fdc9421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4819c2d7f66c4730" /><Relationship Type="http://schemas.openxmlformats.org/officeDocument/2006/relationships/notesMaster" Target="/ppt/notesMasters/notesMaster1.xml" Id="R157c8e50422047b0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4480278a39784326" /><Relationship Type="http://schemas.openxmlformats.org/officeDocument/2006/relationships/notesMaster" Target="/ppt/notesMasters/notesMaster1.xml" Id="Rac942807af094921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2bd77947e2fd472a" /><Relationship Type="http://schemas.openxmlformats.org/officeDocument/2006/relationships/notesMaster" Target="/ppt/notesMasters/notesMaster1.xml" Id="R976a7971c8224e4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Brief supplementary coverage for CSG221 Unit VI.</a:t>
            </a:r>
          </a:p>
          <a:p xmlns:a="http://schemas.openxmlformats.org/drawingml/2006/main">
            <a:r>
              <a:t>Sources: C:/sahil/gcp - lpu/gcp cloud engineer associate/ODD SEM/CSG 221 Architecting with Google Compute Engine/1_1_CSG221_Syllabus.pdf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Brief supplementary coverage for CSG221 Unit VI.</a:t>
            </a:r>
          </a:p>
          <a:p xmlns:a="http://schemas.openxmlformats.org/drawingml/2006/main">
            <a:r>
              <a:t>Sources: C:/sahil/gcp - lpu/gcp cloud engineer associate/ODD SEM/CSG 401Getting Started with Terraform in GCP/M1_T-TFGC-B_Introduction to Terraform for Google Cloud.pdf, pp. 7–12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Brief supplementary coverage for CSG221 Unit VI.</a:t>
            </a:r>
          </a:p>
          <a:p xmlns:a="http://schemas.openxmlformats.org/drawingml/2006/main">
            <a:r>
              <a:t>Sources: C:/sahil/gcp - lpu/gcp cloud engineer associate/ODD SEM/CSG 401Getting Started with Terraform in GCP/M1_T-TFGC-B_Introduction to Terraform for Google Cloud.pdf; illustrative scenario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Brief supplementary coverage for CSG221 Unit VI.</a:t>
            </a:r>
          </a:p>
          <a:p xmlns:a="http://schemas.openxmlformats.org/drawingml/2006/main">
            <a:r>
              <a:t>Sources: C:/sahil/gcp - lpu/gcp cloud engineer associate/ODD SEM/CSG 401Getting Started with Terraform in GCP/M2_T-TFGC-B_Terms and Concepts.pdf; C:/sahil/gcp - lpu/gcp cloud engineer associate/ODD SEM/CSG 401Getting Started with Terraform in GCP/M3_T-TFGC-B_Writing Infrastructure Code for Google Cloud.pdf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Brief supplementary coverage for CSG221 Unit VI.</a:t>
            </a:r>
          </a:p>
          <a:p xmlns:a="http://schemas.openxmlformats.org/drawingml/2006/main">
            <a:r>
              <a:t>Sources: C:/sahil/gcp - lpu/gcp cloud engineer associate/ODD SEM/CSG 401Getting Started with Terraform in GCP/M3_T-TFGC-B_Writing Infrastructure Code for Google Cloud.pdf; illustrative example adapted for CSG221</a:t>
            </a:r>
          </a:p>
          <a:p xmlns:a="http://schemas.openxmlformats.org/drawingml/2006/main">
            <a:r>
              <a:t>Illustrative excerpt. Authentication, provider requirements and input values are prerequisites. No cloud resources were created.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Brief supplementary coverage for CSG221 Unit VI.</a:t>
            </a:r>
          </a:p>
          <a:p xmlns:a="http://schemas.openxmlformats.org/drawingml/2006/main">
            <a:r>
              <a:t>Sources: C:/sahil/gcp - lpu/gcp cloud engineer associate/ODD SEM/CSG 401Getting Started with Terraform in GCP/M4_T-TFGC-B_Organizing and Reusing Configuration with Terraform Modules.pdf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Brief supplementary coverage for CSG221 Unit VI.</a:t>
            </a:r>
          </a:p>
          <a:p xmlns:a="http://schemas.openxmlformats.org/drawingml/2006/main">
            <a:r>
              <a:t>Sources: C:/sahil/gcp - lpu/gcp cloud engineer associate/ODD SEM/CSG 401Getting Started with Terraform in GCP/M4_T-TFGC-B_Organizing and Reusing Configuration with Terraform Modules.pdf; illustrative local module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Brief supplementary coverage for CSG221 Unit VI.</a:t>
            </a:r>
          </a:p>
          <a:p xmlns:a="http://schemas.openxmlformats.org/drawingml/2006/main">
            <a:r>
              <a:t>Sources: C:/sahil/gcp - lpu/gcp cloud engineer associate/ODD SEM/CSG 401Getting Started with Terraform in GCP/M5_T-TFGC-B_Introduction to the Terraform State.pdf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Brief supplementary coverage for CSG221 Unit VI.</a:t>
            </a:r>
          </a:p>
          <a:p xmlns:a="http://schemas.openxmlformats.org/drawingml/2006/main">
            <a:r>
              <a:t>Sources: C:/sahil/gcp - lpu/gcp cloud engineer associate/ODD SEM/CSG 401Getting Started with Terraform in GCP/M5_T-TFGC-B_Introduction to the Terraform State.pdf, pp. 9–16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Brief supplementary coverage for CSG221 Unit VI.</a:t>
            </a:r>
          </a:p>
          <a:p xmlns:a="http://schemas.openxmlformats.org/drawingml/2006/main">
            <a:r>
              <a:t>Sources: C:/sahil/gcp - lpu/gcp cloud engineer associate/ODD SEM/CSG 401Getting Started with Terraform in GCP/M5_T-TFGC-B_Introduction to the Terraform State.pdf, pp. 9–10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Brief supplementary coverage for CSG221 Unit VI.</a:t>
            </a:r>
          </a:p>
          <a:p xmlns:a="http://schemas.openxmlformats.org/drawingml/2006/main">
            <a:r>
              <a:t>Sources: C:/sahil/gcp - lpu/gcp cloud engineer associate/ODD SEM/CSG 401Getting Started with Terraform in GCP/M5_T-TFGC-B_Introduction to the Terraform State.pdf; illustrative team scenario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Brief supplementary coverage for CSG221 Unit VI.</a:t>
            </a:r>
          </a:p>
          <a:p xmlns:a="http://schemas.openxmlformats.org/drawingml/2006/main">
            <a:r>
              <a:t>Sources: C:/sahil/gcp - lpu/gcp cloud engineer associate/ODD SEM/CSG 401Getting Started with Terraform in GCP/M5_T-TFGC-B_Introduction to the Terraform State.pdf; CSG221 syllabus: workspaces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Brief supplementary coverage for CSG221 Unit VI.</a:t>
            </a:r>
          </a:p>
          <a:p xmlns:a="http://schemas.openxmlformats.org/drawingml/2006/main">
            <a:r>
              <a:t>Sources: C:/sahil/gcp - lpu/gcp cloud engineer associate/ODD SEM/CSG 222 Data Warehousing with BigQuery/Course Materials/M01 - BigQuery Architecture Fundamentals.pptx, slides 16–17, 27–28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Brief supplementary coverage for CSG221 Unit VI.</a:t>
            </a:r>
          </a:p>
          <a:p xmlns:a="http://schemas.openxmlformats.org/drawingml/2006/main">
            <a:r>
              <a:t>Sources: C:/sahil/gcp - lpu/gcp cloud engineer associate/ODD SEM/CSG 222 Data Warehousing with BigQuery/Course Materials/M07 - Workload Management and Pricing.pptx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Brief supplementary coverage for CSG221 Unit VI.</a:t>
            </a:r>
          </a:p>
          <a:p xmlns:a="http://schemas.openxmlformats.org/drawingml/2006/main">
            <a:r>
              <a:t>Sources: C:/sahil/gcp - lpu/gcp cloud engineer associate/ODD SEM/CSG 222 Data Warehousing with BigQuery/Course Materials/M01 - BigQuery Architecture Fundamentals.pptx, slides 27–28; illustrative query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Brief supplementary coverage for CSG221 Unit VI.</a:t>
            </a:r>
          </a:p>
          <a:p xmlns:a="http://schemas.openxmlformats.org/drawingml/2006/main">
            <a:r>
              <a:t>Sources: C:/sahil/gcp - lpu/gcp cloud engineer associate/ODD SEM/CSG 222 Data Warehousing with BigQuery/Course Materials/M02 - Storage and Schema Optimizations.pptx, slides 9–12, 30–35, 41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Brief supplementary coverage for CSG221 Unit VI.</a:t>
            </a:r>
          </a:p>
          <a:p xmlns:a="http://schemas.openxmlformats.org/drawingml/2006/main">
            <a:r>
              <a:t>Sources: C:/sahil/gcp - lpu/gcp cloud engineer associate/ODD SEM/CSG 222 Data Warehousing with BigQuery/Course Materials/M02 - Storage and Schema Optimizations.pptx; illustrative query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Brief supplementary coverage for CSG221 Unit VI.</a:t>
            </a:r>
          </a:p>
          <a:p xmlns:a="http://schemas.openxmlformats.org/drawingml/2006/main">
            <a:r>
              <a:t>Sources: C:/sahil/gcp - lpu/gcp cloud engineer associate/ODD SEM/CSG 222 Data Warehousing with BigQuery/Course Materials/M11 - BigQuery ML.pptx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Brief supplementary coverage for CSG221 Unit VI.</a:t>
            </a:r>
          </a:p>
          <a:p xmlns:a="http://schemas.openxmlformats.org/drawingml/2006/main">
            <a:r>
              <a:t>Sources: C:/sahil/gcp - lpu/gcp cloud engineer associate/ODD SEM/CSG 222 Data Warehousing with BigQuery/Course Materials/M11 - BigQuery ML.pptx; illustrative SQL adapted for CSG221</a:t>
            </a:r>
          </a:p>
          <a:p xmlns:a="http://schemas.openxmlformats.org/drawingml/2006/main">
            <a:r>
              <a:t>Prerequisites: dataset demo, training_sales table with numeric ad_spend and sales columns, appropriate permissions. Evaluate with held-out data before using predictions. This is batch SQL inference, not a deployed web endpoint.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Brief supplementary coverage for CSG221 Unit VI.</a:t>
            </a:r>
          </a:p>
          <a:p xmlns:a="http://schemas.openxmlformats.org/drawingml/2006/main">
            <a:r>
              <a:t>Sources: C:/sahil/gcp - lpu/gcp cloud engineer associate/ODD SEM/CSG 222 Data Warehousing with BigQuery/Course Materials/M11 - BigQuery ML.pptx, slides 18–20; illustrative SQL</a:t>
            </a:r>
          </a:p>
          <a:p xmlns:a="http://schemas.openxmlformats.org/drawingml/2006/main">
            <a:r>
              <a:t>Prerequisite: demo.test_sales contains held-out rows with the same feature and label columns. No numeric model results are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436082033b4d1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ac5b77b76d4d2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bd23bc5024491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af77d8fc2842f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f95324ec974a5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8e82a57b0a4c2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0834A46-6946-4342-8038-A2663FC62C2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371600" y="2914650"/>
            <a:ext cx="109728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4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1BEBB81-70F5-4049-8CB4-60627FD892C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057400" y="4243388"/>
            <a:ext cx="9601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E4F07BC-5D80-4F1C-A0B9-BA3AD9C7BFE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371600" y="3214688"/>
            <a:ext cx="109728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7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7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7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7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7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7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7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7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7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7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B56AAEA-DBD1-4ECF-866B-39FD4DB4C41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71525" y="600075"/>
            <a:ext cx="1217295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C7890A6-9E4A-4BCC-9C9B-959B91013E4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71525" y="2143125"/>
            <a:ext cx="12172950" cy="480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5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571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5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000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5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429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5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2858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5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6287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5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9716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5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3145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5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6574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5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0003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5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24414C2-DF46-466C-8E1C-B91F9314C6F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71525" y="600075"/>
            <a:ext cx="1217295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B21763A-684C-4A7F-A02F-54D0453E61C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71525" y="2143125"/>
            <a:ext cx="5657850" cy="480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571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000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429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2858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6287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9716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3145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6574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0003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F732C5A-84EF-4524-90C0-AE76AF9FCE8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7286625" y="2143125"/>
            <a:ext cx="5657850" cy="480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571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000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429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2858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6287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9716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3145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6574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0003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FC11C1E-0ED2-437F-A7AE-868D2C22385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71525" y="600075"/>
            <a:ext cx="1217295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B927DC3-72AC-4245-B845-2C8F6F2C93E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71525" y="2143125"/>
            <a:ext cx="5657850" cy="480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5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571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5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000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5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429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5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2858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5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6287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5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9716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5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3145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5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6574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5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0003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5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a695f3eccd64e19" /><Relationship Type="http://schemas.openxmlformats.org/officeDocument/2006/relationships/slideLayout" Target="/ppt/slideLayouts/slideLayout1.xml" Id="Re4723c574f15478b" /><Relationship Type="http://schemas.openxmlformats.org/officeDocument/2006/relationships/slideLayout" Target="/ppt/slideLayouts/slideLayout2.xml" Id="R686b4a99ba9e4725" /><Relationship Type="http://schemas.openxmlformats.org/officeDocument/2006/relationships/slideLayout" Target="/ppt/slideLayouts/slideLayout3.xml" Id="Ra0d20edffd894c64" /><Relationship Type="http://schemas.openxmlformats.org/officeDocument/2006/relationships/slideLayout" Target="/ppt/slideLayouts/slideLayout4.xml" Id="Rfce7347355ca4bbb" /><Relationship Type="http://schemas.openxmlformats.org/officeDocument/2006/relationships/slideLayout" Target="/ppt/slideLayouts/slideLayout5.xml" Id="R2c5b5b435cdd4d07" /><Relationship Type="http://schemas.openxmlformats.org/officeDocument/2006/relationships/slideLayout" Target="/ppt/slideLayouts/slideLayout6.xml" Id="R69fbe856997440a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4723c574f15478b"/>
    <p:sldLayoutId xmlns:r="http://schemas.openxmlformats.org/officeDocument/2006/relationships" id="2147483650" r:id="R686b4a99ba9e4725"/>
    <p:sldLayoutId xmlns:r="http://schemas.openxmlformats.org/officeDocument/2006/relationships" id="2147483651" r:id="Ra0d20edffd894c64"/>
    <p:sldLayoutId xmlns:r="http://schemas.openxmlformats.org/officeDocument/2006/relationships" id="2147483652" r:id="Rfce7347355ca4bbb"/>
    <p:sldLayoutId xmlns:r="http://schemas.openxmlformats.org/officeDocument/2006/relationships" id="2147483653" r:id="R2c5b5b435cdd4d07"/>
    <p:sldLayoutId xmlns:r="http://schemas.openxmlformats.org/officeDocument/2006/relationships" id="2147483654" r:id="R69fbe856997440a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32762d3c00944ed" /><Relationship Type="http://schemas.openxmlformats.org/officeDocument/2006/relationships/image" Target="/ppt/media/image.png" Id="R7d9b8438903e4499" /><Relationship Type="http://schemas.openxmlformats.org/officeDocument/2006/relationships/notesSlide" Target="/ppt/notesSlides/notesSlide1.xml" Id="R6b83a6519f9f4d8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e4b1fda6a264adb" /><Relationship Type="http://schemas.openxmlformats.org/officeDocument/2006/relationships/notesSlide" Target="/ppt/notesSlides/notesSlide2.xml" Id="R204e456359394df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429897927af4c32" /><Relationship Type="http://schemas.openxmlformats.org/officeDocument/2006/relationships/notesSlide" Target="/ppt/notesSlides/notesSlide3.xml" Id="R82ec1c543ce1489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59d43f485514f66" /><Relationship Type="http://schemas.openxmlformats.org/officeDocument/2006/relationships/notesSlide" Target="/ppt/notesSlides/notesSlide4.xml" Id="R031f20c704b941f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48fe35698f348a3" /><Relationship Type="http://schemas.openxmlformats.org/officeDocument/2006/relationships/notesSlide" Target="/ppt/notesSlides/notesSlide5.xml" Id="R265f839ea9ed475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a0b30e0e8a247fa" /><Relationship Type="http://schemas.openxmlformats.org/officeDocument/2006/relationships/notesSlide" Target="/ppt/notesSlides/notesSlide6.xml" Id="R632df415b4b4471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e91fd26fd244986" /><Relationship Type="http://schemas.openxmlformats.org/officeDocument/2006/relationships/notesSlide" Target="/ppt/notesSlides/notesSlide7.xml" Id="R2dbbb8c1ea8147b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87b56a9b4444832" /><Relationship Type="http://schemas.openxmlformats.org/officeDocument/2006/relationships/notesSlide" Target="/ppt/notesSlides/notesSlide8.xml" Id="Rfe8caeeded26474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e3d3c75e80341c4" /><Relationship Type="http://schemas.openxmlformats.org/officeDocument/2006/relationships/notesSlide" Target="/ppt/notesSlides/notesSlide9.xml" Id="R6fa05d993652448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8bc7600e3084c5b" /><Relationship Type="http://schemas.openxmlformats.org/officeDocument/2006/relationships/notesSlide" Target="/ppt/notesSlides/notesSlide10.xml" Id="R325a528ab0184f4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d702897b33443f1" /><Relationship Type="http://schemas.openxmlformats.org/officeDocument/2006/relationships/notesSlide" Target="/ppt/notesSlides/notesSlide11.xml" Id="R8d5e565ec90a478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d538082712b4cd4" /><Relationship Type="http://schemas.openxmlformats.org/officeDocument/2006/relationships/notesSlide" Target="/ppt/notesSlides/notesSlide12.xml" Id="Rda32dff8f85842a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9e0495ccf02469e" /><Relationship Type="http://schemas.openxmlformats.org/officeDocument/2006/relationships/notesSlide" Target="/ppt/notesSlides/notesSlide13.xml" Id="R24de5f4c69c0444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33643401b5843a1" /><Relationship Type="http://schemas.openxmlformats.org/officeDocument/2006/relationships/notesSlide" Target="/ppt/notesSlides/notesSlide14.xml" Id="Ra83a777df397470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75b66e382304c07" /><Relationship Type="http://schemas.openxmlformats.org/officeDocument/2006/relationships/notesSlide" Target="/ppt/notesSlides/notesSlide15.xml" Id="R64aa24aecb1b46e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6a6348b67e84026" /><Relationship Type="http://schemas.openxmlformats.org/officeDocument/2006/relationships/notesSlide" Target="/ppt/notesSlides/notesSlide16.xml" Id="R316cf3bad2ee431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32b4f79d57847a8" /><Relationship Type="http://schemas.openxmlformats.org/officeDocument/2006/relationships/notesSlide" Target="/ppt/notesSlides/notesSlide17.xml" Id="R027809d21cc64c4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4be8f1160084e86" /><Relationship Type="http://schemas.openxmlformats.org/officeDocument/2006/relationships/notesSlide" Target="/ppt/notesSlides/notesSlide18.xml" Id="Rb5e595620b224dd9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af1738afca94111" /><Relationship Type="http://schemas.openxmlformats.org/officeDocument/2006/relationships/notesSlide" Target="/ppt/notesSlides/notesSlide19.xml" Id="R91f0c8b56440499d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0a7f51a09d64fed" /><Relationship Type="http://schemas.openxmlformats.org/officeDocument/2006/relationships/notesSlide" Target="/ppt/notesSlides/notesSlide20.xml" Id="R1783bb75e70e473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32A7BD-C248-4630-9039-5673CF1C7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2000"/>
            <a:ext cx="12192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>
              <a:defRPr sz="36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>
              <a:defRPr sz="36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>
              <a:defRPr sz="36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>
              <a:defRPr sz="36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>
              <a:defRPr sz="36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>
              <a:defRPr sz="36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>
              <a:defRPr sz="36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>
              <a:defRPr sz="36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>
              <a:defRPr sz="36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Terraform and Managed Services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56F2CD-1192-443A-9F71-19DB60A24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91375"/>
            <a:ext cx="571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AA0A6"/>
                </a:solidFill>
                <a:latin typeface="Arial"/>
                <a:ea typeface="Arial"/>
                <a:cs typeface="Arial"/>
              </a:rPr>
              <a:t>CSG221  /  Unit VI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FDB75D-7244-4E92-ACF0-0066BDE74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7191375"/>
            <a:ext cx="266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AA0A6"/>
                </a:solidFill>
                <a:latin typeface="Arial"/>
                <a:ea typeface="Arial"/>
                <a:cs typeface="Arial"/>
              </a:rPr>
              <a:t>Supplement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683700-213F-4292-8B60-C02092CD6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7620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90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defPPr>
            <a:lvl1pPr>
              <a:defRPr sz="390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1pPr>
            <a:lvl2pPr>
              <a:defRPr sz="390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2pPr>
            <a:lvl3pPr>
              <a:defRPr sz="390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3pPr>
            <a:lvl4pPr>
              <a:defRPr sz="390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4pPr>
            <a:lvl5pPr>
              <a:defRPr sz="390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5pPr>
            <a:lvl6pPr>
              <a:defRPr sz="390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6pPr>
            <a:lvl7pPr>
              <a:defRPr sz="390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7pPr>
            <a:lvl8pPr>
              <a:defRPr sz="390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8pPr>
            <a:lvl9pPr>
              <a:defRPr sz="390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90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pPr>
            <a:r>
              <a:rPr sz="3900" b="0">
                <a:solidFill>
                  <a:srgbClr val="3C4043"/>
                </a:solidFill>
                <a:latin typeface="Arial"/>
                <a:ea typeface="Arial"/>
                <a:cs typeface="Arial"/>
              </a:rPr>
              <a:t>Infrastructure automation</a:t>
            </a:r>
          </a:p>
          <a:p xmlns:a="http://schemas.openxmlformats.org/drawingml/2006/main">
            <a:pPr>
              <a:defRPr sz="390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pPr>
            <a:r>
              <a:rPr sz="3900" b="0">
                <a:solidFill>
                  <a:srgbClr val="3C4043"/>
                </a:solidFill>
                <a:latin typeface="Arial"/>
                <a:ea typeface="Arial"/>
                <a:cs typeface="Arial"/>
              </a:rPr>
              <a:t>and BigQuery fundamentals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56CAEE-8A7F-479F-B39D-A4F4EC5F7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34000"/>
            <a:ext cx="762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3C4043"/>
                </a:solidFill>
                <a:latin typeface="Arial"/>
                <a:ea typeface="Arial"/>
                <a:cs typeface="Arial"/>
              </a:rPr>
              <a:t>Concepts and worked examples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3A4AB0-5A2F-4963-91E5-606C0F955E1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9b8438903e4499"/>
          <a:stretch xmlns:a="http://schemas.openxmlformats.org/drawingml/2006/main"/>
        </p:blipFill>
        <p:spPr>
          <a:xfrm xmlns:a="http://schemas.openxmlformats.org/drawingml/2006/main">
            <a:off x="9048750" y="2667000"/>
            <a:ext cx="3905250" cy="34766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62730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8DE22D-F79D-4DF2-92A5-E2F99CDB3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2000"/>
            <a:ext cx="12192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>
              <a:defRPr sz="36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>
              <a:defRPr sz="36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>
              <a:defRPr sz="36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>
              <a:defRPr sz="36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>
              <a:defRPr sz="36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>
              <a:defRPr sz="36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>
              <a:defRPr sz="36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>
              <a:defRPr sz="36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>
              <a:defRPr sz="36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Declarative IaC and idempotency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A32E33-4FB3-4163-A867-30BFF9B39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91375"/>
            <a:ext cx="571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AA0A6"/>
                </a:solidFill>
                <a:latin typeface="Arial"/>
                <a:ea typeface="Arial"/>
                <a:cs typeface="Arial"/>
              </a:rPr>
              <a:t>CSG221  /  Unit VI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44D836-206A-487B-8628-ADA652E61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7191375"/>
            <a:ext cx="266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AA0A6"/>
                </a:solidFill>
                <a:latin typeface="Arial"/>
                <a:ea typeface="Arial"/>
                <a:cs typeface="Arial"/>
              </a:rPr>
              <a:t>Terraform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B91501-8038-4297-8814-FFFAADF15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571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defPPr>
            <a:lvl1pPr>
              <a:defRPr sz="240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1pPr>
            <a:lvl2pPr>
              <a:defRPr sz="240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2pPr>
            <a:lvl3pPr>
              <a:defRPr sz="240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3pPr>
            <a:lvl4pPr>
              <a:defRPr sz="240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4pPr>
            <a:lvl5pPr>
              <a:defRPr sz="240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5pPr>
            <a:lvl6pPr>
              <a:defRPr sz="240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6pPr>
            <a:lvl7pPr>
              <a:defRPr sz="240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7pPr>
            <a:lvl8pPr>
              <a:defRPr sz="240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8pPr>
            <a:lvl9pPr>
              <a:defRPr sz="240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3C4043"/>
                </a:solidFill>
                <a:latin typeface="Arial"/>
                <a:ea typeface="Arial"/>
                <a:cs typeface="Arial"/>
              </a:rPr>
              <a:t>Imperative approach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16B700-02E6-42F9-9B37-4BEA69629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47950"/>
            <a:ext cx="5715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3C4043"/>
                </a:solidFill>
                <a:latin typeface="Arial"/>
                <a:ea typeface="Arial"/>
                <a:cs typeface="Arial"/>
              </a:rPr>
              <a:t>Specify the steps to run.</a:t>
            </a:r>
          </a:p>
          <a:p xmlns:a="http://schemas.openxmlformats.org/drawingml/2006/main">
            <a: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3C4043"/>
                </a:solidFill>
                <a:latin typeface="Arial"/>
                <a:ea typeface="Arial"/>
                <a:cs typeface="Arial"/>
              </a:rPr>
              <a:t>Example: run a command to create a VM.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124818-1347-4D75-85A1-7241317E5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95500"/>
            <a:ext cx="571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defPPr>
            <a:lvl1pPr>
              <a:defRPr sz="240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1pPr>
            <a:lvl2pPr>
              <a:defRPr sz="240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2pPr>
            <a:lvl3pPr>
              <a:defRPr sz="240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3pPr>
            <a:lvl4pPr>
              <a:defRPr sz="240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4pPr>
            <a:lvl5pPr>
              <a:defRPr sz="240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5pPr>
            <a:lvl6pPr>
              <a:defRPr sz="240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6pPr>
            <a:lvl7pPr>
              <a:defRPr sz="240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7pPr>
            <a:lvl8pPr>
              <a:defRPr sz="240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8pPr>
            <a:lvl9pPr>
              <a:defRPr sz="240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3C4043"/>
                </a:solidFill>
                <a:latin typeface="Arial"/>
                <a:ea typeface="Arial"/>
                <a:cs typeface="Arial"/>
              </a:rPr>
              <a:t>Declarative approach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251D86-FFC6-4EDA-9F8A-E47B7F822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647950"/>
            <a:ext cx="5715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3C4043"/>
                </a:solidFill>
                <a:latin typeface="Arial"/>
                <a:ea typeface="Arial"/>
                <a:cs typeface="Arial"/>
              </a:rPr>
              <a:t>Describe the desired result.</a:t>
            </a:r>
          </a:p>
          <a:p xmlns:a="http://schemas.openxmlformats.org/drawingml/2006/main">
            <a: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3C4043"/>
                </a:solidFill>
                <a:latin typeface="Arial"/>
                <a:ea typeface="Arial"/>
                <a:cs typeface="Arial"/>
              </a:rPr>
              <a:t>Example: a configuration declares one VM.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97666D-5DFB-4F3A-8B84-99F925E70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67250"/>
            <a:ext cx="11430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defPPr>
            <a:lvl1pPr>
              <a:defRPr sz="240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1pPr>
            <a:lvl2pPr>
              <a:defRPr sz="240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2pPr>
            <a:lvl3pPr>
              <a:defRPr sz="240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3pPr>
            <a:lvl4pPr>
              <a:defRPr sz="240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4pPr>
            <a:lvl5pPr>
              <a:defRPr sz="240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5pPr>
            <a:lvl6pPr>
              <a:defRPr sz="240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6pPr>
            <a:lvl7pPr>
              <a:defRPr sz="240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7pPr>
            <a:lvl8pPr>
              <a:defRPr sz="240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8pPr>
            <a:lvl9pPr>
              <a:defRPr sz="240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3C4043"/>
                </a:solidFill>
                <a:latin typeface="Arial"/>
                <a:ea typeface="Arial"/>
                <a:cs typeface="Arial"/>
              </a:rPr>
              <a:t>Idempotency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F8310E-5055-4421-AA97-9E31F9799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38750"/>
            <a:ext cx="119062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3C4043"/>
                </a:solidFill>
                <a:latin typeface="Arial"/>
                <a:ea typeface="Arial"/>
                <a:cs typeface="Arial"/>
              </a:rPr>
              <a:t>When configuration and infrastructure already match, another Terraform apply should propose no changes. Changed inputs or external changes can produce a new plan.</a:t>
            </a:r>
          </a:p>
        </p:txBody>
      </p:sp>
    </p:spTree>
    <p:extLst>
      <p:ext uri="{BB962C8B-B14F-4D97-AF65-F5344CB8AC3E}">
        <p14:creationId xmlns:p14="http://schemas.microsoft.com/office/powerpoint/2010/main" val="203193345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5B8872-CF6C-41C2-80BD-DE2CCDF35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2000"/>
            <a:ext cx="12192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>
              <a:defRPr sz="36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>
              <a:defRPr sz="36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>
              <a:defRPr sz="36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>
              <a:defRPr sz="36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>
              <a:defRPr sz="36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>
              <a:defRPr sz="36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>
              <a:defRPr sz="36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>
              <a:defRPr sz="36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>
              <a:defRPr sz="36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Example: one network across repeated runs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FAE919-6BBB-4A2E-A075-C220433AC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91375"/>
            <a:ext cx="571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AA0A6"/>
                </a:solidFill>
                <a:latin typeface="Arial"/>
                <a:ea typeface="Arial"/>
                <a:cs typeface="Arial"/>
              </a:rPr>
              <a:t>CSG221  /  Unit VI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D1BF51-A0D6-4BC8-9F08-2C85D70E2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7191375"/>
            <a:ext cx="266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AA0A6"/>
                </a:solidFill>
                <a:latin typeface="Arial"/>
                <a:ea typeface="Arial"/>
                <a:cs typeface="Arial"/>
              </a:rPr>
              <a:t>Terraform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57BF9F-1992-41CC-AC97-AA59CFA70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11906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defPPr>
            <a:lvl1pPr>
              <a:defRPr sz="25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1pPr>
            <a:lvl2pPr>
              <a:defRPr sz="25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2pPr>
            <a:lvl3pPr>
              <a:defRPr sz="25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3pPr>
            <a:lvl4pPr>
              <a:defRPr sz="25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4pPr>
            <a:lvl5pPr>
              <a:defRPr sz="25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5pPr>
            <a:lvl6pPr>
              <a:defRPr sz="25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6pPr>
            <a:lvl7pPr>
              <a:defRPr sz="25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7pPr>
            <a:lvl8pPr>
              <a:defRPr sz="25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8pPr>
            <a:lvl9pPr>
              <a:defRPr sz="25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3C4043"/>
                </a:solidFill>
                <a:latin typeface="Arial"/>
                <a:ea typeface="Arial"/>
                <a:cs typeface="Arial"/>
              </a:rPr>
              <a:t>Configuration declares one VPC named csg221-demo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E6402B-6FFD-4378-B217-72A79087F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00375"/>
            <a:ext cx="809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0">
                <a:solidFill>
                  <a:srgbClr val="4285F4"/>
                </a:solidFill>
                <a:latin typeface="Arial"/>
                <a:ea typeface="Arial"/>
                <a:cs typeface="Arial"/>
              </a:defRPr>
            </a:defPPr>
            <a:lvl1pPr>
              <a:defRPr sz="3600" b="0">
                <a:solidFill>
                  <a:srgbClr val="4285F4"/>
                </a:solidFill>
                <a:latin typeface="Arial"/>
                <a:ea typeface="Arial"/>
                <a:cs typeface="Arial"/>
              </a:defRPr>
            </a:lvl1pPr>
            <a:lvl2pPr>
              <a:defRPr sz="3600" b="0">
                <a:solidFill>
                  <a:srgbClr val="4285F4"/>
                </a:solidFill>
                <a:latin typeface="Arial"/>
                <a:ea typeface="Arial"/>
                <a:cs typeface="Arial"/>
              </a:defRPr>
            </a:lvl2pPr>
            <a:lvl3pPr>
              <a:defRPr sz="3600" b="0">
                <a:solidFill>
                  <a:srgbClr val="4285F4"/>
                </a:solidFill>
                <a:latin typeface="Arial"/>
                <a:ea typeface="Arial"/>
                <a:cs typeface="Arial"/>
              </a:defRPr>
            </a:lvl3pPr>
            <a:lvl4pPr>
              <a:defRPr sz="3600" b="0">
                <a:solidFill>
                  <a:srgbClr val="4285F4"/>
                </a:solidFill>
                <a:latin typeface="Arial"/>
                <a:ea typeface="Arial"/>
                <a:cs typeface="Arial"/>
              </a:defRPr>
            </a:lvl4pPr>
            <a:lvl5pPr>
              <a:defRPr sz="3600" b="0">
                <a:solidFill>
                  <a:srgbClr val="4285F4"/>
                </a:solidFill>
                <a:latin typeface="Arial"/>
                <a:ea typeface="Arial"/>
                <a:cs typeface="Arial"/>
              </a:defRPr>
            </a:lvl5pPr>
            <a:lvl6pPr>
              <a:defRPr sz="3600" b="0">
                <a:solidFill>
                  <a:srgbClr val="4285F4"/>
                </a:solidFill>
                <a:latin typeface="Arial"/>
                <a:ea typeface="Arial"/>
                <a:cs typeface="Arial"/>
              </a:defRPr>
            </a:lvl6pPr>
            <a:lvl7pPr>
              <a:defRPr sz="3600" b="0">
                <a:solidFill>
                  <a:srgbClr val="4285F4"/>
                </a:solidFill>
                <a:latin typeface="Arial"/>
                <a:ea typeface="Arial"/>
                <a:cs typeface="Arial"/>
              </a:defRPr>
            </a:lvl7pPr>
            <a:lvl8pPr>
              <a:defRPr sz="3600" b="0">
                <a:solidFill>
                  <a:srgbClr val="4285F4"/>
                </a:solidFill>
                <a:latin typeface="Arial"/>
                <a:ea typeface="Arial"/>
                <a:cs typeface="Arial"/>
              </a:defRPr>
            </a:lvl8pPr>
            <a:lvl9pPr>
              <a:defRPr sz="3600" b="0">
                <a:solidFill>
                  <a:srgbClr val="4285F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0">
                <a:solidFill>
                  <a:srgbClr val="4285F4"/>
                </a:solidFill>
                <a:latin typeface="Arial"/>
                <a:ea typeface="Arial"/>
                <a:cs typeface="Arial"/>
              </a:defRPr>
            </a:pPr>
            <a:r>
              <a:rPr sz="3600" b="0">
                <a:solidFill>
                  <a:srgbClr val="4285F4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49D8EE-F3BB-4DD7-A6FA-9454FB1F5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952750"/>
            <a:ext cx="323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>
              <a:defRPr sz="24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>
              <a:defRPr sz="24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>
              <a:defRPr sz="24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>
              <a:defRPr sz="24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>
              <a:defRPr sz="24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>
              <a:defRPr sz="24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>
              <a:defRPr sz="24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>
              <a:defRPr sz="24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>
              <a:defRPr sz="24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First apply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9C11FA-1EB2-40AE-88B3-47223D927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952750"/>
            <a:ext cx="7334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3C4043"/>
                </a:solidFill>
                <a:latin typeface="Arial"/>
                <a:ea typeface="Arial"/>
                <a:cs typeface="Arial"/>
              </a:rPr>
              <a:t>Terraform creates the VPC and records its identity in state.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3EC4A6-7C17-4CA3-B056-7FFE39E33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809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0">
                <a:solidFill>
                  <a:srgbClr val="4285F4"/>
                </a:solidFill>
                <a:latin typeface="Arial"/>
                <a:ea typeface="Arial"/>
                <a:cs typeface="Arial"/>
              </a:defRPr>
            </a:defPPr>
            <a:lvl1pPr>
              <a:defRPr sz="3600" b="0">
                <a:solidFill>
                  <a:srgbClr val="4285F4"/>
                </a:solidFill>
                <a:latin typeface="Arial"/>
                <a:ea typeface="Arial"/>
                <a:cs typeface="Arial"/>
              </a:defRPr>
            </a:lvl1pPr>
            <a:lvl2pPr>
              <a:defRPr sz="3600" b="0">
                <a:solidFill>
                  <a:srgbClr val="4285F4"/>
                </a:solidFill>
                <a:latin typeface="Arial"/>
                <a:ea typeface="Arial"/>
                <a:cs typeface="Arial"/>
              </a:defRPr>
            </a:lvl2pPr>
            <a:lvl3pPr>
              <a:defRPr sz="3600" b="0">
                <a:solidFill>
                  <a:srgbClr val="4285F4"/>
                </a:solidFill>
                <a:latin typeface="Arial"/>
                <a:ea typeface="Arial"/>
                <a:cs typeface="Arial"/>
              </a:defRPr>
            </a:lvl3pPr>
            <a:lvl4pPr>
              <a:defRPr sz="3600" b="0">
                <a:solidFill>
                  <a:srgbClr val="4285F4"/>
                </a:solidFill>
                <a:latin typeface="Arial"/>
                <a:ea typeface="Arial"/>
                <a:cs typeface="Arial"/>
              </a:defRPr>
            </a:lvl4pPr>
            <a:lvl5pPr>
              <a:defRPr sz="3600" b="0">
                <a:solidFill>
                  <a:srgbClr val="4285F4"/>
                </a:solidFill>
                <a:latin typeface="Arial"/>
                <a:ea typeface="Arial"/>
                <a:cs typeface="Arial"/>
              </a:defRPr>
            </a:lvl5pPr>
            <a:lvl6pPr>
              <a:defRPr sz="3600" b="0">
                <a:solidFill>
                  <a:srgbClr val="4285F4"/>
                </a:solidFill>
                <a:latin typeface="Arial"/>
                <a:ea typeface="Arial"/>
                <a:cs typeface="Arial"/>
              </a:defRPr>
            </a:lvl6pPr>
            <a:lvl7pPr>
              <a:defRPr sz="3600" b="0">
                <a:solidFill>
                  <a:srgbClr val="4285F4"/>
                </a:solidFill>
                <a:latin typeface="Arial"/>
                <a:ea typeface="Arial"/>
                <a:cs typeface="Arial"/>
              </a:defRPr>
            </a:lvl7pPr>
            <a:lvl8pPr>
              <a:defRPr sz="3600" b="0">
                <a:solidFill>
                  <a:srgbClr val="4285F4"/>
                </a:solidFill>
                <a:latin typeface="Arial"/>
                <a:ea typeface="Arial"/>
                <a:cs typeface="Arial"/>
              </a:defRPr>
            </a:lvl8pPr>
            <a:lvl9pPr>
              <a:defRPr sz="3600" b="0">
                <a:solidFill>
                  <a:srgbClr val="4285F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0">
                <a:solidFill>
                  <a:srgbClr val="4285F4"/>
                </a:solidFill>
                <a:latin typeface="Arial"/>
                <a:ea typeface="Arial"/>
                <a:cs typeface="Arial"/>
              </a:defRPr>
            </a:pPr>
            <a:r>
              <a:rPr sz="3600" b="0">
                <a:solidFill>
                  <a:srgbClr val="4285F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6C9F81-3EE9-4532-BC91-223AE95D6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048125"/>
            <a:ext cx="323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>
              <a:defRPr sz="24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>
              <a:defRPr sz="24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>
              <a:defRPr sz="24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>
              <a:defRPr sz="24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>
              <a:defRPr sz="24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>
              <a:defRPr sz="24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>
              <a:defRPr sz="24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>
              <a:defRPr sz="24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>
              <a:defRPr sz="24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Second apply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74496E-207F-4803-89A4-AB3C0E80B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048125"/>
            <a:ext cx="7334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3C4043"/>
                </a:solidFill>
                <a:latin typeface="Arial"/>
                <a:ea typeface="Arial"/>
                <a:cs typeface="Arial"/>
              </a:rPr>
              <a:t>With matching configuration and cloud resources, the plan contains no changes.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6174D0-7BE0-4049-B588-CC80CBCDC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91125"/>
            <a:ext cx="809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0">
                <a:solidFill>
                  <a:srgbClr val="4285F4"/>
                </a:solidFill>
                <a:latin typeface="Arial"/>
                <a:ea typeface="Arial"/>
                <a:cs typeface="Arial"/>
              </a:defRPr>
            </a:defPPr>
            <a:lvl1pPr>
              <a:defRPr sz="3600" b="0">
                <a:solidFill>
                  <a:srgbClr val="4285F4"/>
                </a:solidFill>
                <a:latin typeface="Arial"/>
                <a:ea typeface="Arial"/>
                <a:cs typeface="Arial"/>
              </a:defRPr>
            </a:lvl1pPr>
            <a:lvl2pPr>
              <a:defRPr sz="3600" b="0">
                <a:solidFill>
                  <a:srgbClr val="4285F4"/>
                </a:solidFill>
                <a:latin typeface="Arial"/>
                <a:ea typeface="Arial"/>
                <a:cs typeface="Arial"/>
              </a:defRPr>
            </a:lvl2pPr>
            <a:lvl3pPr>
              <a:defRPr sz="3600" b="0">
                <a:solidFill>
                  <a:srgbClr val="4285F4"/>
                </a:solidFill>
                <a:latin typeface="Arial"/>
                <a:ea typeface="Arial"/>
                <a:cs typeface="Arial"/>
              </a:defRPr>
            </a:lvl3pPr>
            <a:lvl4pPr>
              <a:defRPr sz="3600" b="0">
                <a:solidFill>
                  <a:srgbClr val="4285F4"/>
                </a:solidFill>
                <a:latin typeface="Arial"/>
                <a:ea typeface="Arial"/>
                <a:cs typeface="Arial"/>
              </a:defRPr>
            </a:lvl4pPr>
            <a:lvl5pPr>
              <a:defRPr sz="3600" b="0">
                <a:solidFill>
                  <a:srgbClr val="4285F4"/>
                </a:solidFill>
                <a:latin typeface="Arial"/>
                <a:ea typeface="Arial"/>
                <a:cs typeface="Arial"/>
              </a:defRPr>
            </a:lvl5pPr>
            <a:lvl6pPr>
              <a:defRPr sz="3600" b="0">
                <a:solidFill>
                  <a:srgbClr val="4285F4"/>
                </a:solidFill>
                <a:latin typeface="Arial"/>
                <a:ea typeface="Arial"/>
                <a:cs typeface="Arial"/>
              </a:defRPr>
            </a:lvl6pPr>
            <a:lvl7pPr>
              <a:defRPr sz="3600" b="0">
                <a:solidFill>
                  <a:srgbClr val="4285F4"/>
                </a:solidFill>
                <a:latin typeface="Arial"/>
                <a:ea typeface="Arial"/>
                <a:cs typeface="Arial"/>
              </a:defRPr>
            </a:lvl7pPr>
            <a:lvl8pPr>
              <a:defRPr sz="3600" b="0">
                <a:solidFill>
                  <a:srgbClr val="4285F4"/>
                </a:solidFill>
                <a:latin typeface="Arial"/>
                <a:ea typeface="Arial"/>
                <a:cs typeface="Arial"/>
              </a:defRPr>
            </a:lvl8pPr>
            <a:lvl9pPr>
              <a:defRPr sz="3600" b="0">
                <a:solidFill>
                  <a:srgbClr val="4285F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0">
                <a:solidFill>
                  <a:srgbClr val="4285F4"/>
                </a:solidFill>
                <a:latin typeface="Arial"/>
                <a:ea typeface="Arial"/>
                <a:cs typeface="Arial"/>
              </a:defRPr>
            </a:pPr>
            <a:r>
              <a:rPr sz="3600" b="0">
                <a:solidFill>
                  <a:srgbClr val="4285F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B70C36-2896-4199-9954-3E8B04FEE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143500"/>
            <a:ext cx="323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>
              <a:defRPr sz="24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>
              <a:defRPr sz="24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>
              <a:defRPr sz="24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>
              <a:defRPr sz="24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>
              <a:defRPr sz="24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>
              <a:defRPr sz="24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>
              <a:defRPr sz="24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>
              <a:defRPr sz="24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>
              <a:defRPr sz="24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Configuration changes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037724-D23A-4B60-88B1-711123E48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143500"/>
            <a:ext cx="7334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3C4043"/>
                </a:solidFill>
                <a:latin typeface="Arial"/>
                <a:ea typeface="Arial"/>
                <a:cs typeface="Arial"/>
              </a:rPr>
              <a:t>Adding a subnet resource gives Terraform new work to plan and apply.</a:t>
            </a:r>
          </a:p>
        </p:txBody>
      </p:sp>
    </p:spTree>
    <p:extLst>
      <p:ext uri="{BB962C8B-B14F-4D97-AF65-F5344CB8AC3E}">
        <p14:creationId xmlns:p14="http://schemas.microsoft.com/office/powerpoint/2010/main" val="145066119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8E55DA-3627-4743-9F45-508940D67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2000"/>
            <a:ext cx="12192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>
              <a:defRPr sz="36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>
              <a:defRPr sz="36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>
              <a:defRPr sz="36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>
              <a:defRPr sz="36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>
              <a:defRPr sz="36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>
              <a:defRPr sz="36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>
              <a:defRPr sz="36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>
              <a:defRPr sz="36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>
              <a:defRPr sz="36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Terraform configuration building blocks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290C96-0D8E-4991-B593-E8EED57E6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91375"/>
            <a:ext cx="571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AA0A6"/>
                </a:solidFill>
                <a:latin typeface="Arial"/>
                <a:ea typeface="Arial"/>
                <a:cs typeface="Arial"/>
              </a:rPr>
              <a:t>CSG221  /  Unit VI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DC0D7D-AE91-4376-B342-23C39906F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7191375"/>
            <a:ext cx="266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AA0A6"/>
                </a:solidFill>
                <a:latin typeface="Arial"/>
                <a:ea typeface="Arial"/>
                <a:cs typeface="Arial"/>
              </a:rPr>
              <a:t>Terraform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AE1E04-74E4-48D8-B5D2-D1E351261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314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3C4043"/>
                </a:solidFill>
                <a:latin typeface="Arial"/>
                <a:ea typeface="Arial"/>
                <a:cs typeface="Arial"/>
              </a:rPr>
              <a:t>Provider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F38772-725D-44BA-9B40-D0A789434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095500"/>
            <a:ext cx="857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3C4043"/>
                </a:solidFill>
                <a:latin typeface="Arial"/>
                <a:ea typeface="Arial"/>
                <a:cs typeface="Arial"/>
              </a:rPr>
              <a:t>Connects Terraform to a platform API, such as Google Cloud.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2A5525-76EE-4942-AB08-8DB7635F1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62300"/>
            <a:ext cx="314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3C4043"/>
                </a:solidFill>
                <a:latin typeface="Arial"/>
                <a:ea typeface="Arial"/>
                <a:cs typeface="Arial"/>
              </a:rPr>
              <a:t>Resource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0D6624-D251-4046-9D56-72858AAE3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162300"/>
            <a:ext cx="857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3C4043"/>
                </a:solidFill>
                <a:latin typeface="Arial"/>
                <a:ea typeface="Arial"/>
                <a:cs typeface="Arial"/>
              </a:rPr>
              <a:t>Declares an infrastructure object, such as a VPC or VM.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0B1D08-9488-43BC-98E9-A98784A5D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29100"/>
            <a:ext cx="314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3C4043"/>
                </a:solidFill>
                <a:latin typeface="Arial"/>
                <a:ea typeface="Arial"/>
                <a:cs typeface="Arial"/>
              </a:rPr>
              <a:t>Variable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FD7E39-4334-478E-A558-285930851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229100"/>
            <a:ext cx="857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3C4043"/>
                </a:solidFill>
                <a:latin typeface="Arial"/>
                <a:ea typeface="Arial"/>
                <a:cs typeface="Arial"/>
              </a:rPr>
              <a:t>Accepts an input, such as a project ID or region.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7FB3C3-FFF3-416B-AC19-CEAEAD24A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95900"/>
            <a:ext cx="314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3C4043"/>
                </a:solidFill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30F559-9B12-4294-B29E-25447E068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295900"/>
            <a:ext cx="857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3C4043"/>
                </a:solidFill>
                <a:latin typeface="Arial"/>
                <a:ea typeface="Arial"/>
                <a:cs typeface="Arial"/>
              </a:rPr>
              <a:t>Exposes a useful result, such as a network ID.</a:t>
            </a:r>
          </a:p>
        </p:txBody>
      </p:sp>
    </p:spTree>
    <p:extLst>
      <p:ext uri="{BB962C8B-B14F-4D97-AF65-F5344CB8AC3E}">
        <p14:creationId xmlns:p14="http://schemas.microsoft.com/office/powerpoint/2010/main" val="88045163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9D73EF-CF0F-40C7-9660-79D0466FA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2000"/>
            <a:ext cx="12192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>
              <a:defRPr sz="36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>
              <a:defRPr sz="36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>
              <a:defRPr sz="36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>
              <a:defRPr sz="36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>
              <a:defRPr sz="36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>
              <a:defRPr sz="36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>
              <a:defRPr sz="36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>
              <a:defRPr sz="36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>
              <a:defRPr sz="36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 small Google Cloud configuration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176319-0175-4457-88E8-9832BF062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91375"/>
            <a:ext cx="571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AA0A6"/>
                </a:solidFill>
                <a:latin typeface="Arial"/>
                <a:ea typeface="Arial"/>
                <a:cs typeface="Arial"/>
              </a:rPr>
              <a:t>CSG221  /  Unit VI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04435A-0B70-4524-A189-C834C74A8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7191375"/>
            <a:ext cx="266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AA0A6"/>
                </a:solidFill>
                <a:latin typeface="Arial"/>
                <a:ea typeface="Arial"/>
                <a:cs typeface="Arial"/>
              </a:rPr>
              <a:t>Terraform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F43E55-D76A-4C15-A646-1058534B6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47875"/>
            <a:ext cx="8096250" cy="466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3C4043"/>
                </a:solidFill>
                <a:latin typeface="Consolas"/>
                <a:ea typeface="Consolas"/>
                <a:cs typeface="Consolas"/>
              </a:defRPr>
            </a:defPPr>
            <a:lvl1pPr>
              <a:defRPr sz="1875" b="0">
                <a:solidFill>
                  <a:srgbClr val="3C4043"/>
                </a:solidFill>
                <a:latin typeface="Consolas"/>
                <a:ea typeface="Consolas"/>
                <a:cs typeface="Consolas"/>
              </a:defRPr>
            </a:lvl1pPr>
            <a:lvl2pPr>
              <a:defRPr sz="1875" b="0">
                <a:solidFill>
                  <a:srgbClr val="3C4043"/>
                </a:solidFill>
                <a:latin typeface="Consolas"/>
                <a:ea typeface="Consolas"/>
                <a:cs typeface="Consolas"/>
              </a:defRPr>
            </a:lvl2pPr>
            <a:lvl3pPr>
              <a:defRPr sz="1875" b="0">
                <a:solidFill>
                  <a:srgbClr val="3C4043"/>
                </a:solidFill>
                <a:latin typeface="Consolas"/>
                <a:ea typeface="Consolas"/>
                <a:cs typeface="Consolas"/>
              </a:defRPr>
            </a:lvl3pPr>
            <a:lvl4pPr>
              <a:defRPr sz="1875" b="0">
                <a:solidFill>
                  <a:srgbClr val="3C4043"/>
                </a:solidFill>
                <a:latin typeface="Consolas"/>
                <a:ea typeface="Consolas"/>
                <a:cs typeface="Consolas"/>
              </a:defRPr>
            </a:lvl4pPr>
            <a:lvl5pPr>
              <a:defRPr sz="1875" b="0">
                <a:solidFill>
                  <a:srgbClr val="3C4043"/>
                </a:solidFill>
                <a:latin typeface="Consolas"/>
                <a:ea typeface="Consolas"/>
                <a:cs typeface="Consolas"/>
              </a:defRPr>
            </a:lvl5pPr>
            <a:lvl6pPr>
              <a:defRPr sz="1875" b="0">
                <a:solidFill>
                  <a:srgbClr val="3C4043"/>
                </a:solidFill>
                <a:latin typeface="Consolas"/>
                <a:ea typeface="Consolas"/>
                <a:cs typeface="Consolas"/>
              </a:defRPr>
            </a:lvl6pPr>
            <a:lvl7pPr>
              <a:defRPr sz="1875" b="0">
                <a:solidFill>
                  <a:srgbClr val="3C4043"/>
                </a:solidFill>
                <a:latin typeface="Consolas"/>
                <a:ea typeface="Consolas"/>
                <a:cs typeface="Consolas"/>
              </a:defRPr>
            </a:lvl7pPr>
            <a:lvl8pPr>
              <a:defRPr sz="1875" b="0">
                <a:solidFill>
                  <a:srgbClr val="3C4043"/>
                </a:solidFill>
                <a:latin typeface="Consolas"/>
                <a:ea typeface="Consolas"/>
                <a:cs typeface="Consolas"/>
              </a:defRPr>
            </a:lvl8pPr>
            <a:lvl9pPr>
              <a:defRPr sz="1875" b="0">
                <a:solidFill>
                  <a:srgbClr val="3C4043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3C4043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3C4043"/>
                </a:solidFill>
                <a:latin typeface="Consolas"/>
                <a:ea typeface="Consolas"/>
                <a:cs typeface="Consolas"/>
              </a:rPr>
              <a:t>variable "project_id" {</a:t>
            </a:r>
          </a:p>
          <a:p xmlns:a="http://schemas.openxmlformats.org/drawingml/2006/main">
            <a:pPr>
              <a:defRPr sz="1875" b="0">
                <a:solidFill>
                  <a:srgbClr val="3C4043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3C4043"/>
                </a:solidFill>
                <a:latin typeface="Consolas"/>
                <a:ea typeface="Consolas"/>
                <a:cs typeface="Consolas"/>
              </a:rPr>
              <a:t>  type = string</a:t>
            </a:r>
          </a:p>
          <a:p xmlns:a="http://schemas.openxmlformats.org/drawingml/2006/main">
            <a:pPr>
              <a:defRPr sz="1875" b="0">
                <a:solidFill>
                  <a:srgbClr val="3C4043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3C4043"/>
                </a:solidFill>
                <a:latin typeface="Consolas"/>
                <a:ea typeface="Consolas"/>
                <a:cs typeface="Consolas"/>
              </a:rP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3C4043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3C4043"/>
                </a:solidFill>
                <a:latin typeface="Consolas"/>
                <a:ea typeface="Consolas"/>
                <a:cs typeface="Consolas"/>
              </a:rPr>
              <a:t>provider "google" {</a:t>
            </a:r>
          </a:p>
          <a:p xmlns:a="http://schemas.openxmlformats.org/drawingml/2006/main">
            <a:pPr>
              <a:defRPr sz="1875" b="0">
                <a:solidFill>
                  <a:srgbClr val="3C4043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3C4043"/>
                </a:solidFill>
                <a:latin typeface="Consolas"/>
                <a:ea typeface="Consolas"/>
                <a:cs typeface="Consolas"/>
              </a:rPr>
              <a:t>  project = var.project_id</a:t>
            </a:r>
          </a:p>
          <a:p xmlns:a="http://schemas.openxmlformats.org/drawingml/2006/main">
            <a:pPr>
              <a:defRPr sz="1875" b="0">
                <a:solidFill>
                  <a:srgbClr val="3C4043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3C4043"/>
                </a:solidFill>
                <a:latin typeface="Consolas"/>
                <a:ea typeface="Consolas"/>
                <a:cs typeface="Consolas"/>
              </a:rP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3C4043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3C4043"/>
                </a:solidFill>
                <a:latin typeface="Consolas"/>
                <a:ea typeface="Consolas"/>
                <a:cs typeface="Consolas"/>
              </a:rPr>
              <a:t>resource "google_compute_network" "demo" {</a:t>
            </a:r>
          </a:p>
          <a:p xmlns:a="http://schemas.openxmlformats.org/drawingml/2006/main">
            <a:pPr>
              <a:defRPr sz="1875" b="0">
                <a:solidFill>
                  <a:srgbClr val="3C4043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3C4043"/>
                </a:solidFill>
                <a:latin typeface="Consolas"/>
                <a:ea typeface="Consolas"/>
                <a:cs typeface="Consolas"/>
              </a:rPr>
              <a:t>  name = "csg221-demo"</a:t>
            </a:r>
          </a:p>
          <a:p xmlns:a="http://schemas.openxmlformats.org/drawingml/2006/main">
            <a:pPr>
              <a:defRPr sz="1875" b="0">
                <a:solidFill>
                  <a:srgbClr val="3C4043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3C4043"/>
                </a:solidFill>
                <a:latin typeface="Consolas"/>
                <a:ea typeface="Consolas"/>
                <a:cs typeface="Consolas"/>
              </a:rPr>
              <a:t>  auto_create_subnetworks = false</a:t>
            </a:r>
          </a:p>
          <a:p xmlns:a="http://schemas.openxmlformats.org/drawingml/2006/main">
            <a:pPr>
              <a:defRPr sz="1875" b="0">
                <a:solidFill>
                  <a:srgbClr val="3C4043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3C4043"/>
                </a:solidFill>
                <a:latin typeface="Consolas"/>
                <a:ea typeface="Consolas"/>
                <a:cs typeface="Consolas"/>
              </a:rP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3C4043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3C4043"/>
                </a:solidFill>
                <a:latin typeface="Consolas"/>
                <a:ea typeface="Consolas"/>
                <a:cs typeface="Consolas"/>
              </a:rPr>
              <a:t>output "network_id" {</a:t>
            </a:r>
          </a:p>
          <a:p xmlns:a="http://schemas.openxmlformats.org/drawingml/2006/main">
            <a:pPr>
              <a:defRPr sz="1875" b="0">
                <a:solidFill>
                  <a:srgbClr val="3C4043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3C4043"/>
                </a:solidFill>
                <a:latin typeface="Consolas"/>
                <a:ea typeface="Consolas"/>
                <a:cs typeface="Consolas"/>
              </a:rPr>
              <a:t>  value = google_compute_network.demo.id</a:t>
            </a:r>
          </a:p>
          <a:p xmlns:a="http://schemas.openxmlformats.org/drawingml/2006/main">
            <a:pPr>
              <a:defRPr sz="1875" b="0">
                <a:solidFill>
                  <a:srgbClr val="3C4043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3C4043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02D5C7-CD65-4BB2-8CDA-23557D4EA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238375"/>
            <a:ext cx="333375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3C4043"/>
                </a:solidFill>
                <a:latin typeface="Arial"/>
                <a:ea typeface="Arial"/>
                <a:cs typeface="Arial"/>
              </a:rPr>
              <a:t>Input</a:t>
            </a:r>
          </a:p>
          <a:p xmlns:a="http://schemas.openxmlformats.org/drawingml/2006/main">
            <a:pPr>
              <a:defRPr sz="2025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3C4043"/>
                </a:solidFill>
                <a:latin typeface="Arial"/>
                <a:ea typeface="Arial"/>
                <a:cs typeface="Arial"/>
              </a:rPr>
              <a:t>project_id selects the project.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3C4043"/>
                </a:solidFill>
                <a:latin typeface="Arial"/>
                <a:ea typeface="Arial"/>
                <a:cs typeface="Arial"/>
              </a:rPr>
              <a:t>Resource</a:t>
            </a:r>
          </a:p>
          <a:p xmlns:a="http://schemas.openxmlformats.org/drawingml/2006/main">
            <a:pPr>
              <a:defRPr sz="2025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3C4043"/>
                </a:solidFill>
                <a:latin typeface="Arial"/>
                <a:ea typeface="Arial"/>
                <a:cs typeface="Arial"/>
              </a:rPr>
              <a:t>One custom-mode VPC.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3C4043"/>
                </a:solidFill>
                <a:latin typeface="Arial"/>
                <a:ea typeface="Arial"/>
                <a:cs typeface="Arial"/>
              </a:rPr>
              <a:t>Output</a:t>
            </a:r>
          </a:p>
          <a:p xmlns:a="http://schemas.openxmlformats.org/drawingml/2006/main">
            <a:pPr>
              <a:defRPr sz="2025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3C4043"/>
                </a:solidFill>
                <a:latin typeface="Arial"/>
                <a:ea typeface="Arial"/>
                <a:cs typeface="Arial"/>
              </a:rPr>
              <a:t>The created network ID.</a:t>
            </a:r>
          </a:p>
        </p:txBody>
      </p:sp>
    </p:spTree>
    <p:extLst>
      <p:ext uri="{BB962C8B-B14F-4D97-AF65-F5344CB8AC3E}">
        <p14:creationId xmlns:p14="http://schemas.microsoft.com/office/powerpoint/2010/main" val="175993883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797E00-658E-419F-80C4-362F4F62B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2000"/>
            <a:ext cx="12192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>
              <a:defRPr sz="36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>
              <a:defRPr sz="36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>
              <a:defRPr sz="36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>
              <a:defRPr sz="36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>
              <a:defRPr sz="36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>
              <a:defRPr sz="36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>
              <a:defRPr sz="36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>
              <a:defRPr sz="36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>
              <a:defRPr sz="36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Terraform modules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12F83E-61CF-44E0-B316-BF62CADD3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91375"/>
            <a:ext cx="571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AA0A6"/>
                </a:solidFill>
                <a:latin typeface="Arial"/>
                <a:ea typeface="Arial"/>
                <a:cs typeface="Arial"/>
              </a:rPr>
              <a:t>CSG221  /  Unit VI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503691-A27B-4B3C-AB5A-BC9425BB6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7191375"/>
            <a:ext cx="266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AA0A6"/>
                </a:solidFill>
                <a:latin typeface="Arial"/>
                <a:ea typeface="Arial"/>
                <a:cs typeface="Arial"/>
              </a:rPr>
              <a:t>Terraform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E8C7CD-6B66-4B19-B355-05C801BB8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314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3C4043"/>
                </a:solidFill>
                <a:latin typeface="Arial"/>
                <a:ea typeface="Arial"/>
                <a:cs typeface="Arial"/>
              </a:rPr>
              <a:t>Module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52FFF4-25DD-4BA0-9F9C-CA53C3A29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095500"/>
            <a:ext cx="857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3C4043"/>
                </a:solidFill>
                <a:latin typeface="Arial"/>
                <a:ea typeface="Arial"/>
                <a:cs typeface="Arial"/>
              </a:rPr>
              <a:t>A directory of Terraform configuration files used together.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5F6AE6-1346-46A0-B590-0C886C3F4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62300"/>
            <a:ext cx="314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3C4043"/>
                </a:solidFill>
                <a:latin typeface="Arial"/>
                <a:ea typeface="Arial"/>
                <a:cs typeface="Arial"/>
              </a:rPr>
              <a:t>Root module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FD2769-17B7-44F0-BB7E-665F162EC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162300"/>
            <a:ext cx="857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3C4043"/>
                </a:solidFill>
                <a:latin typeface="Arial"/>
                <a:ea typeface="Arial"/>
                <a:cs typeface="Arial"/>
              </a:rPr>
              <a:t>The configuration in the working directory where Terraform runs.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A1472D-4A67-44A7-848F-8BD39534E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29100"/>
            <a:ext cx="314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3C4043"/>
                </a:solidFill>
                <a:latin typeface="Arial"/>
                <a:ea typeface="Arial"/>
                <a:cs typeface="Arial"/>
              </a:rPr>
              <a:t>Child module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0C7766-C215-4D63-A534-5FD91C14E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229100"/>
            <a:ext cx="857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3C4043"/>
                </a:solidFill>
                <a:latin typeface="Arial"/>
                <a:ea typeface="Arial"/>
                <a:cs typeface="Arial"/>
              </a:rPr>
              <a:t>A module called by another module to reuse configuration.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866474-ED0E-4F23-ADBF-7D2FE3315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95900"/>
            <a:ext cx="314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3C4043"/>
                </a:solidFill>
                <a:latin typeface="Arial"/>
                <a:ea typeface="Arial"/>
                <a:cs typeface="Arial"/>
              </a:rPr>
              <a:t>Simple use case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16AA40-E9A3-4B7D-8C33-731999853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295900"/>
            <a:ext cx="857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3C4043"/>
                </a:solidFill>
                <a:latin typeface="Arial"/>
                <a:ea typeface="Arial"/>
                <a:cs typeface="Arial"/>
              </a:rPr>
              <a:t>Reuse a standard network module with different input values.</a:t>
            </a:r>
          </a:p>
        </p:txBody>
      </p:sp>
    </p:spTree>
    <p:extLst>
      <p:ext uri="{BB962C8B-B14F-4D97-AF65-F5344CB8AC3E}">
        <p14:creationId xmlns:p14="http://schemas.microsoft.com/office/powerpoint/2010/main" val="146438453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4D8DC0-FB47-4F78-967B-5FA7B7879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2000"/>
            <a:ext cx="12192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>
              <a:defRPr sz="36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>
              <a:defRPr sz="36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>
              <a:defRPr sz="36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>
              <a:defRPr sz="36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>
              <a:defRPr sz="36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>
              <a:defRPr sz="36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>
              <a:defRPr sz="36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>
              <a:defRPr sz="36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>
              <a:defRPr sz="36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Example: reuse a network module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FBC57F-367E-4427-ADA7-9750DE988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91375"/>
            <a:ext cx="571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AA0A6"/>
                </a:solidFill>
                <a:latin typeface="Arial"/>
                <a:ea typeface="Arial"/>
                <a:cs typeface="Arial"/>
              </a:rPr>
              <a:t>CSG221  /  Unit VI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4C3880-302E-4CCF-B924-B1242CBA2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7191375"/>
            <a:ext cx="266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AA0A6"/>
                </a:solidFill>
                <a:latin typeface="Arial"/>
                <a:ea typeface="Arial"/>
                <a:cs typeface="Arial"/>
              </a:rPr>
              <a:t>Terraform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36CB81-D8EB-4A61-A92F-543EFEB93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38375"/>
            <a:ext cx="77152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3C4043"/>
                </a:solidFill>
                <a:latin typeface="Consolas"/>
                <a:ea typeface="Consolas"/>
                <a:cs typeface="Consolas"/>
              </a:defRPr>
            </a:defPPr>
            <a:lvl1pPr>
              <a:defRPr sz="2175" b="0">
                <a:solidFill>
                  <a:srgbClr val="3C4043"/>
                </a:solidFill>
                <a:latin typeface="Consolas"/>
                <a:ea typeface="Consolas"/>
                <a:cs typeface="Consolas"/>
              </a:defRPr>
            </a:lvl1pPr>
            <a:lvl2pPr>
              <a:defRPr sz="2175" b="0">
                <a:solidFill>
                  <a:srgbClr val="3C4043"/>
                </a:solidFill>
                <a:latin typeface="Consolas"/>
                <a:ea typeface="Consolas"/>
                <a:cs typeface="Consolas"/>
              </a:defRPr>
            </a:lvl2pPr>
            <a:lvl3pPr>
              <a:defRPr sz="2175" b="0">
                <a:solidFill>
                  <a:srgbClr val="3C4043"/>
                </a:solidFill>
                <a:latin typeface="Consolas"/>
                <a:ea typeface="Consolas"/>
                <a:cs typeface="Consolas"/>
              </a:defRPr>
            </a:lvl3pPr>
            <a:lvl4pPr>
              <a:defRPr sz="2175" b="0">
                <a:solidFill>
                  <a:srgbClr val="3C4043"/>
                </a:solidFill>
                <a:latin typeface="Consolas"/>
                <a:ea typeface="Consolas"/>
                <a:cs typeface="Consolas"/>
              </a:defRPr>
            </a:lvl4pPr>
            <a:lvl5pPr>
              <a:defRPr sz="2175" b="0">
                <a:solidFill>
                  <a:srgbClr val="3C4043"/>
                </a:solidFill>
                <a:latin typeface="Consolas"/>
                <a:ea typeface="Consolas"/>
                <a:cs typeface="Consolas"/>
              </a:defRPr>
            </a:lvl5pPr>
            <a:lvl6pPr>
              <a:defRPr sz="2175" b="0">
                <a:solidFill>
                  <a:srgbClr val="3C4043"/>
                </a:solidFill>
                <a:latin typeface="Consolas"/>
                <a:ea typeface="Consolas"/>
                <a:cs typeface="Consolas"/>
              </a:defRPr>
            </a:lvl6pPr>
            <a:lvl7pPr>
              <a:defRPr sz="2175" b="0">
                <a:solidFill>
                  <a:srgbClr val="3C4043"/>
                </a:solidFill>
                <a:latin typeface="Consolas"/>
                <a:ea typeface="Consolas"/>
                <a:cs typeface="Consolas"/>
              </a:defRPr>
            </a:lvl7pPr>
            <a:lvl8pPr>
              <a:defRPr sz="2175" b="0">
                <a:solidFill>
                  <a:srgbClr val="3C4043"/>
                </a:solidFill>
                <a:latin typeface="Consolas"/>
                <a:ea typeface="Consolas"/>
                <a:cs typeface="Consolas"/>
              </a:defRPr>
            </a:lvl8pPr>
            <a:lvl9pPr>
              <a:defRPr sz="2175" b="0">
                <a:solidFill>
                  <a:srgbClr val="3C4043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3C4043"/>
                </a:solidFill>
                <a:latin typeface="Consolas"/>
                <a:ea typeface="Consolas"/>
                <a:cs typeface="Consolas"/>
              </a:defRPr>
            </a:pPr>
            <a:r>
              <a:rPr sz="2175" b="0">
                <a:solidFill>
                  <a:srgbClr val="3C4043"/>
                </a:solidFill>
                <a:latin typeface="Consolas"/>
                <a:ea typeface="Consolas"/>
                <a:cs typeface="Consolas"/>
              </a:rPr>
              <a:t>module "lab_network" {</a:t>
            </a:r>
          </a:p>
          <a:p xmlns:a="http://schemas.openxmlformats.org/drawingml/2006/main">
            <a:pPr>
              <a:defRPr sz="2175" b="0">
                <a:solidFill>
                  <a:srgbClr val="3C4043"/>
                </a:solidFill>
                <a:latin typeface="Consolas"/>
                <a:ea typeface="Consolas"/>
                <a:cs typeface="Consolas"/>
              </a:defRPr>
            </a:pPr>
            <a:r>
              <a:rPr sz="2175" b="0">
                <a:solidFill>
                  <a:srgbClr val="3C4043"/>
                </a:solidFill>
                <a:latin typeface="Consolas"/>
                <a:ea typeface="Consolas"/>
                <a:cs typeface="Consolas"/>
              </a:rPr>
              <a:t>  source       = "./modules/network"</a:t>
            </a:r>
          </a:p>
          <a:p xmlns:a="http://schemas.openxmlformats.org/drawingml/2006/main">
            <a:pPr>
              <a:defRPr sz="2175" b="0">
                <a:solidFill>
                  <a:srgbClr val="3C4043"/>
                </a:solidFill>
                <a:latin typeface="Consolas"/>
                <a:ea typeface="Consolas"/>
                <a:cs typeface="Consolas"/>
              </a:defRPr>
            </a:pPr>
            <a:r>
              <a:rPr sz="2175" b="0">
                <a:solidFill>
                  <a:srgbClr val="3C4043"/>
                </a:solidFill>
                <a:latin typeface="Consolas"/>
                <a:ea typeface="Consolas"/>
                <a:cs typeface="Consolas"/>
              </a:rPr>
              <a:t>  project_id   = var.project_id</a:t>
            </a:r>
          </a:p>
          <a:p xmlns:a="http://schemas.openxmlformats.org/drawingml/2006/main">
            <a:pPr>
              <a:defRPr sz="2175" b="0">
                <a:solidFill>
                  <a:srgbClr val="3C4043"/>
                </a:solidFill>
                <a:latin typeface="Consolas"/>
                <a:ea typeface="Consolas"/>
                <a:cs typeface="Consolas"/>
              </a:defRPr>
            </a:pPr>
            <a:r>
              <a:rPr sz="2175" b="0">
                <a:solidFill>
                  <a:srgbClr val="3C4043"/>
                </a:solidFill>
                <a:latin typeface="Consolas"/>
                <a:ea typeface="Consolas"/>
                <a:cs typeface="Consolas"/>
              </a:rPr>
              <a:t>  network_name = "student-lab-vpc"</a:t>
            </a:r>
          </a:p>
          <a:p xmlns:a="http://schemas.openxmlformats.org/drawingml/2006/main">
            <a:pPr>
              <a:defRPr sz="2175" b="0">
                <a:solidFill>
                  <a:srgbClr val="3C4043"/>
                </a:solidFill>
                <a:latin typeface="Consolas"/>
                <a:ea typeface="Consolas"/>
                <a:cs typeface="Consolas"/>
              </a:defRPr>
            </a:pPr>
            <a:r>
              <a:rPr sz="2175" b="0">
                <a:solidFill>
                  <a:srgbClr val="3C4043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C4E686-3EFE-4B06-B61E-98D183DE6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238375"/>
            <a:ext cx="3810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>
              <a:defRPr sz="25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>
              <a:defRPr sz="25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>
              <a:defRPr sz="25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>
              <a:defRPr sz="25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>
              <a:defRPr sz="25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>
              <a:defRPr sz="25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>
              <a:defRPr sz="25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>
              <a:defRPr sz="25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>
              <a:defRPr sz="25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caller supplies the inputs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1BCB37-3307-4188-A541-2D9774CCA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381375"/>
            <a:ext cx="38100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3C4043"/>
                </a:solidFill>
                <a:latin typeface="Arial"/>
                <a:ea typeface="Arial"/>
                <a:cs typeface="Arial"/>
              </a:rPr>
              <a:t>The local module contains the reusable VPC configuration. Its variables accept these values.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77995E-60EC-4BAC-83C7-0A38F3CE4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76875"/>
            <a:ext cx="1190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defPPr>
            <a:lvl1pPr>
              <a:defRPr sz="240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1pPr>
            <a:lvl2pPr>
              <a:defRPr sz="240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2pPr>
            <a:lvl3pPr>
              <a:defRPr sz="240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3pPr>
            <a:lvl4pPr>
              <a:defRPr sz="240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4pPr>
            <a:lvl5pPr>
              <a:defRPr sz="240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5pPr>
            <a:lvl6pPr>
              <a:defRPr sz="240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6pPr>
            <a:lvl7pPr>
              <a:defRPr sz="240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7pPr>
            <a:lvl8pPr>
              <a:defRPr sz="240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8pPr>
            <a:lvl9pPr>
              <a:defRPr sz="240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3C4043"/>
                </a:solidFill>
                <a:latin typeface="Arial"/>
                <a:ea typeface="Arial"/>
                <a:cs typeface="Arial"/>
              </a:rPr>
              <a:t>A second class can reuse the same module with a different network_name.</a:t>
            </a:r>
          </a:p>
        </p:txBody>
      </p:sp>
    </p:spTree>
    <p:extLst>
      <p:ext uri="{BB962C8B-B14F-4D97-AF65-F5344CB8AC3E}">
        <p14:creationId xmlns:p14="http://schemas.microsoft.com/office/powerpoint/2010/main" val="19981808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E41E59-E7EA-49B7-B58D-4D1AF6CF5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2000"/>
            <a:ext cx="12192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>
              <a:defRPr sz="36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>
              <a:defRPr sz="36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>
              <a:defRPr sz="36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>
              <a:defRPr sz="36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>
              <a:defRPr sz="36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>
              <a:defRPr sz="36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>
              <a:defRPr sz="36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>
              <a:defRPr sz="36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>
              <a:defRPr sz="36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Terraform state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D909B6-055D-4D90-B698-457DABA8F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91375"/>
            <a:ext cx="571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AA0A6"/>
                </a:solidFill>
                <a:latin typeface="Arial"/>
                <a:ea typeface="Arial"/>
                <a:cs typeface="Arial"/>
              </a:rPr>
              <a:t>CSG221  /  Unit VI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99C403-FDA0-4F3A-BE28-7D4B340E2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7191375"/>
            <a:ext cx="266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AA0A6"/>
                </a:solidFill>
                <a:latin typeface="Arial"/>
                <a:ea typeface="Arial"/>
                <a:cs typeface="Arial"/>
              </a:rPr>
              <a:t>Terraform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CA26CF-09CF-4269-857C-1A8B7FEF7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590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defPPr>
            <a:lvl1pPr>
              <a:defRPr sz="240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1pPr>
            <a:lvl2pPr>
              <a:defRPr sz="240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2pPr>
            <a:lvl3pPr>
              <a:defRPr sz="240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3pPr>
            <a:lvl4pPr>
              <a:defRPr sz="240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4pPr>
            <a:lvl5pPr>
              <a:defRPr sz="240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5pPr>
            <a:lvl6pPr>
              <a:defRPr sz="240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6pPr>
            <a:lvl7pPr>
              <a:defRPr sz="240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7pPr>
            <a:lvl8pPr>
              <a:defRPr sz="240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8pPr>
            <a:lvl9pPr>
              <a:defRPr sz="240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3C4043"/>
                </a:solidFill>
                <a:latin typeface="Arial"/>
                <a:ea typeface="Arial"/>
                <a:cs typeface="Arial"/>
              </a:rPr>
              <a:t>What state records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207175-009C-427F-B4E2-7BC72B64D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47950"/>
            <a:ext cx="5905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3C4043"/>
                </a:solidFill>
                <a:latin typeface="Arial"/>
                <a:ea typeface="Arial"/>
                <a:cs typeface="Arial"/>
              </a:rPr>
              <a:t>Maps Terraform resource addresses to real cloud objects and stores their known attributes.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E4125D-D8ED-4ADB-984C-E16133099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95500"/>
            <a:ext cx="571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defPPr>
            <a:lvl1pPr>
              <a:defRPr sz="240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1pPr>
            <a:lvl2pPr>
              <a:defRPr sz="240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2pPr>
            <a:lvl3pPr>
              <a:defRPr sz="240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3pPr>
            <a:lvl4pPr>
              <a:defRPr sz="240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4pPr>
            <a:lvl5pPr>
              <a:defRPr sz="240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5pPr>
            <a:lvl6pPr>
              <a:defRPr sz="240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6pPr>
            <a:lvl7pPr>
              <a:defRPr sz="240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7pPr>
            <a:lvl8pPr>
              <a:defRPr sz="240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8pPr>
            <a:lvl9pPr>
              <a:defRPr sz="240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3C4043"/>
                </a:solidFill>
                <a:latin typeface="Arial"/>
                <a:ea typeface="Arial"/>
                <a:cs typeface="Arial"/>
              </a:rPr>
              <a:t>Why Terraform needs it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749D0C-2342-41F7-987B-76BD81814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647950"/>
            <a:ext cx="5715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3C4043"/>
                </a:solidFill>
                <a:latin typeface="Arial"/>
                <a:ea typeface="Arial"/>
                <a:cs typeface="Arial"/>
              </a:rPr>
              <a:t>Uses state with configuration and refreshed cloud information to work out a plan.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F728B1-B57F-487E-979D-62820C9D7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0"/>
            <a:ext cx="11430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defPPr>
            <a:lvl1pPr>
              <a:defRPr sz="240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1pPr>
            <a:lvl2pPr>
              <a:defRPr sz="240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2pPr>
            <a:lvl3pPr>
              <a:defRPr sz="240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3pPr>
            <a:lvl4pPr>
              <a:defRPr sz="240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4pPr>
            <a:lvl5pPr>
              <a:defRPr sz="240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5pPr>
            <a:lvl6pPr>
              <a:defRPr sz="240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6pPr>
            <a:lvl7pPr>
              <a:defRPr sz="240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7pPr>
            <a:lvl8pPr>
              <a:defRPr sz="240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8pPr>
            <a:lvl9pPr>
              <a:defRPr sz="240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3C4043"/>
                </a:solidFill>
                <a:latin typeface="Arial"/>
                <a:ea typeface="Arial"/>
                <a:cs typeface="Arial"/>
              </a:rPr>
              <a:t>Example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A2505F-0D21-4057-A85D-85E897900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34000"/>
            <a:ext cx="12001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3C4043"/>
                </a:solidFill>
                <a:latin typeface="Arial"/>
                <a:ea typeface="Arial"/>
                <a:cs typeface="Arial"/>
              </a:rPr>
              <a:t>google_compute_network.demo corresponds to the actual csg221-demo VPC.</a:t>
            </a:r>
          </a:p>
          <a:p xmlns:a="http://schemas.openxmlformats.org/drawingml/2006/main">
            <a: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3C4043"/>
                </a:solidFill>
                <a:latin typeface="Arial"/>
                <a:ea typeface="Arial"/>
                <a:cs typeface="Arial"/>
              </a:rPr>
              <a:t>State helps Terraform track that relationship across runs.</a:t>
            </a:r>
          </a:p>
        </p:txBody>
      </p:sp>
    </p:spTree>
    <p:extLst>
      <p:ext uri="{BB962C8B-B14F-4D97-AF65-F5344CB8AC3E}">
        <p14:creationId xmlns:p14="http://schemas.microsoft.com/office/powerpoint/2010/main" val="63304292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AA34ED-D082-4903-8681-38E3C9476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2000"/>
            <a:ext cx="12192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>
              <a:defRPr sz="36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>
              <a:defRPr sz="36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>
              <a:defRPr sz="36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>
              <a:defRPr sz="36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>
              <a:defRPr sz="36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>
              <a:defRPr sz="36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>
              <a:defRPr sz="36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>
              <a:defRPr sz="36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>
              <a:defRPr sz="36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Local state and a GCS backend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3DF4CB-65C2-4A12-B136-E41E89D8C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91375"/>
            <a:ext cx="571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AA0A6"/>
                </a:solidFill>
                <a:latin typeface="Arial"/>
                <a:ea typeface="Arial"/>
                <a:cs typeface="Arial"/>
              </a:rPr>
              <a:t>CSG221  /  Unit VI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F4ED27-CB53-4E2B-947C-F624ADA9A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7191375"/>
            <a:ext cx="266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AA0A6"/>
                </a:solidFill>
                <a:latin typeface="Arial"/>
                <a:ea typeface="Arial"/>
                <a:cs typeface="Arial"/>
              </a:rPr>
              <a:t>Terraform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56212A-5175-45DF-9C09-A9AB2251D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581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defPPr>
            <a:lvl1pPr>
              <a:defRPr sz="240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1pPr>
            <a:lvl2pPr>
              <a:defRPr sz="240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2pPr>
            <a:lvl3pPr>
              <a:defRPr sz="240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3pPr>
            <a:lvl4pPr>
              <a:defRPr sz="240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4pPr>
            <a:lvl5pPr>
              <a:defRPr sz="240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5pPr>
            <a:lvl6pPr>
              <a:defRPr sz="240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6pPr>
            <a:lvl7pPr>
              <a:defRPr sz="240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7pPr>
            <a:lvl8pPr>
              <a:defRPr sz="240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8pPr>
            <a:lvl9pPr>
              <a:defRPr sz="240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3C4043"/>
                </a:solidFill>
                <a:latin typeface="Arial"/>
                <a:ea typeface="Arial"/>
                <a:cs typeface="Arial"/>
              </a:rPr>
              <a:t>Local state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A125FD-6CF3-4AB1-A2EF-117D35E24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47950"/>
            <a:ext cx="5810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3C4043"/>
                </a:solidFill>
                <a:latin typeface="Arial"/>
                <a:ea typeface="Arial"/>
                <a:cs typeface="Arial"/>
              </a:rPr>
              <a:t>Terraform stores state in a local file.</a:t>
            </a:r>
          </a:p>
          <a:p xmlns:a="http://schemas.openxmlformats.org/drawingml/2006/main">
            <a: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3C4043"/>
                </a:solidFill>
                <a:latin typeface="Arial"/>
                <a:ea typeface="Arial"/>
                <a:cs typeface="Arial"/>
              </a:rPr>
              <a:t>Useful for learning on one computer.</a:t>
            </a:r>
          </a:p>
          <a:p xmlns:a="http://schemas.openxmlformats.org/drawingml/2006/main">
            <a: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3C4043"/>
                </a:solidFill>
                <a:latin typeface="Arial"/>
                <a:ea typeface="Arial"/>
                <a:cs typeface="Arial"/>
              </a:rPr>
              <a:t>Sharing and backup need care.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F3C2E3-9F80-4B29-B8A8-2C7ADCBCA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95500"/>
            <a:ext cx="571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defPPr>
            <a:lvl1pPr>
              <a:defRPr sz="240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1pPr>
            <a:lvl2pPr>
              <a:defRPr sz="240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2pPr>
            <a:lvl3pPr>
              <a:defRPr sz="240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3pPr>
            <a:lvl4pPr>
              <a:defRPr sz="240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4pPr>
            <a:lvl5pPr>
              <a:defRPr sz="240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5pPr>
            <a:lvl6pPr>
              <a:defRPr sz="240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6pPr>
            <a:lvl7pPr>
              <a:defRPr sz="240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7pPr>
            <a:lvl8pPr>
              <a:defRPr sz="240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8pPr>
            <a:lvl9pPr>
              <a:defRPr sz="240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3C4043"/>
                </a:solidFill>
                <a:latin typeface="Arial"/>
                <a:ea typeface="Arial"/>
                <a:cs typeface="Arial"/>
              </a:rPr>
              <a:t>Remote state in Cloud Storage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C58B1F-CA47-40A3-9206-274B25EE0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647950"/>
            <a:ext cx="5715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3C4043"/>
                </a:solidFill>
                <a:latin typeface="Arial"/>
                <a:ea typeface="Arial"/>
                <a:cs typeface="Arial"/>
              </a:rPr>
              <a:t>A GCS backend stores state in a bucket.</a:t>
            </a:r>
          </a:p>
          <a:p xmlns:a="http://schemas.openxmlformats.org/drawingml/2006/main">
            <a: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3C4043"/>
                </a:solidFill>
                <a:latin typeface="Arial"/>
                <a:ea typeface="Arial"/>
                <a:cs typeface="Arial"/>
              </a:rPr>
              <a:t>A team can use the same state.</a:t>
            </a:r>
          </a:p>
          <a:p xmlns:a="http://schemas.openxmlformats.org/drawingml/2006/main">
            <a: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3C4043"/>
                </a:solidFill>
                <a:latin typeface="Arial"/>
                <a:ea typeface="Arial"/>
                <a:cs typeface="Arial"/>
              </a:rPr>
              <a:t>IAM controls who can access it.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8142D0-9E21-461F-9EBF-D76FD2F2E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67250"/>
            <a:ext cx="74295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3C4043"/>
                </a:solidFill>
                <a:latin typeface="Consolas"/>
                <a:ea typeface="Consolas"/>
                <a:cs typeface="Consolas"/>
              </a:defRPr>
            </a:defPPr>
            <a:lvl1pPr>
              <a:defRPr sz="2025" b="0">
                <a:solidFill>
                  <a:srgbClr val="3C4043"/>
                </a:solidFill>
                <a:latin typeface="Consolas"/>
                <a:ea typeface="Consolas"/>
                <a:cs typeface="Consolas"/>
              </a:defRPr>
            </a:lvl1pPr>
            <a:lvl2pPr>
              <a:defRPr sz="2025" b="0">
                <a:solidFill>
                  <a:srgbClr val="3C4043"/>
                </a:solidFill>
                <a:latin typeface="Consolas"/>
                <a:ea typeface="Consolas"/>
                <a:cs typeface="Consolas"/>
              </a:defRPr>
            </a:lvl2pPr>
            <a:lvl3pPr>
              <a:defRPr sz="2025" b="0">
                <a:solidFill>
                  <a:srgbClr val="3C4043"/>
                </a:solidFill>
                <a:latin typeface="Consolas"/>
                <a:ea typeface="Consolas"/>
                <a:cs typeface="Consolas"/>
              </a:defRPr>
            </a:lvl3pPr>
            <a:lvl4pPr>
              <a:defRPr sz="2025" b="0">
                <a:solidFill>
                  <a:srgbClr val="3C4043"/>
                </a:solidFill>
                <a:latin typeface="Consolas"/>
                <a:ea typeface="Consolas"/>
                <a:cs typeface="Consolas"/>
              </a:defRPr>
            </a:lvl4pPr>
            <a:lvl5pPr>
              <a:defRPr sz="2025" b="0">
                <a:solidFill>
                  <a:srgbClr val="3C4043"/>
                </a:solidFill>
                <a:latin typeface="Consolas"/>
                <a:ea typeface="Consolas"/>
                <a:cs typeface="Consolas"/>
              </a:defRPr>
            </a:lvl5pPr>
            <a:lvl6pPr>
              <a:defRPr sz="2025" b="0">
                <a:solidFill>
                  <a:srgbClr val="3C4043"/>
                </a:solidFill>
                <a:latin typeface="Consolas"/>
                <a:ea typeface="Consolas"/>
                <a:cs typeface="Consolas"/>
              </a:defRPr>
            </a:lvl6pPr>
            <a:lvl7pPr>
              <a:defRPr sz="2025" b="0">
                <a:solidFill>
                  <a:srgbClr val="3C4043"/>
                </a:solidFill>
                <a:latin typeface="Consolas"/>
                <a:ea typeface="Consolas"/>
                <a:cs typeface="Consolas"/>
              </a:defRPr>
            </a:lvl7pPr>
            <a:lvl8pPr>
              <a:defRPr sz="2025" b="0">
                <a:solidFill>
                  <a:srgbClr val="3C4043"/>
                </a:solidFill>
                <a:latin typeface="Consolas"/>
                <a:ea typeface="Consolas"/>
                <a:cs typeface="Consolas"/>
              </a:defRPr>
            </a:lvl8pPr>
            <a:lvl9pPr>
              <a:defRPr sz="2025" b="0">
                <a:solidFill>
                  <a:srgbClr val="3C4043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3C4043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3C4043"/>
                </a:solidFill>
                <a:latin typeface="Consolas"/>
                <a:ea typeface="Consolas"/>
                <a:cs typeface="Consolas"/>
              </a:rPr>
              <a:t>terraform {</a:t>
            </a:r>
          </a:p>
          <a:p xmlns:a="http://schemas.openxmlformats.org/drawingml/2006/main">
            <a:pPr>
              <a:defRPr sz="2025" b="0">
                <a:solidFill>
                  <a:srgbClr val="3C4043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3C4043"/>
                </a:solidFill>
                <a:latin typeface="Consolas"/>
                <a:ea typeface="Consolas"/>
                <a:cs typeface="Consolas"/>
              </a:rPr>
              <a:t>  backend "gcs" {</a:t>
            </a:r>
          </a:p>
          <a:p xmlns:a="http://schemas.openxmlformats.org/drawingml/2006/main">
            <a:pPr>
              <a:defRPr sz="2025" b="0">
                <a:solidFill>
                  <a:srgbClr val="3C4043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3C4043"/>
                </a:solidFill>
                <a:latin typeface="Consolas"/>
                <a:ea typeface="Consolas"/>
                <a:cs typeface="Consolas"/>
              </a:rPr>
              <a:t>    bucket = "example-terraform-state"</a:t>
            </a:r>
          </a:p>
          <a:p xmlns:a="http://schemas.openxmlformats.org/drawingml/2006/main">
            <a:pPr>
              <a:defRPr sz="2025" b="0">
                <a:solidFill>
                  <a:srgbClr val="3C4043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3C4043"/>
                </a:solidFill>
                <a:latin typeface="Consolas"/>
                <a:ea typeface="Consolas"/>
                <a:cs typeface="Consolas"/>
              </a:rPr>
              <a:t>    prefix = "csg221/network"</a:t>
            </a:r>
          </a:p>
          <a:p xmlns:a="http://schemas.openxmlformats.org/drawingml/2006/main">
            <a:pPr>
              <a:defRPr sz="2025" b="0">
                <a:solidFill>
                  <a:srgbClr val="3C4043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3C4043"/>
                </a:solidFill>
                <a:latin typeface="Consolas"/>
                <a:ea typeface="Consolas"/>
                <a:cs typeface="Consolas"/>
              </a:rPr>
              <a:t>  }</a:t>
            </a:r>
          </a:p>
          <a:p xmlns:a="http://schemas.openxmlformats.org/drawingml/2006/main">
            <a:pPr>
              <a:defRPr sz="2025" b="0">
                <a:solidFill>
                  <a:srgbClr val="3C4043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3C4043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A35C8E-FF2A-4A6D-B57B-425D56928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810125"/>
            <a:ext cx="4095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3C4043"/>
                </a:solidFill>
                <a:latin typeface="Arial"/>
                <a:ea typeface="Arial"/>
                <a:cs typeface="Arial"/>
              </a:rPr>
              <a:t>The bucket must already exist.</a:t>
            </a:r>
          </a:p>
          <a:p xmlns:a="http://schemas.openxmlformats.org/drawingml/2006/main">
            <a:pPr>
              <a:defRPr sz="2025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3C4043"/>
                </a:solidFill>
                <a:latin typeface="Arial"/>
                <a:ea typeface="Arial"/>
                <a:cs typeface="Arial"/>
              </a:rPr>
              <a:t>State can contain sensitive values.</a:t>
            </a:r>
          </a:p>
          <a:p xmlns:a="http://schemas.openxmlformats.org/drawingml/2006/main">
            <a:pPr>
              <a:defRPr sz="2025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3C4043"/>
                </a:solidFill>
                <a:latin typeface="Arial"/>
                <a:ea typeface="Arial"/>
                <a:cs typeface="Arial"/>
              </a:rPr>
              <a:t>Restrict access and enable versioning.</a:t>
            </a:r>
          </a:p>
        </p:txBody>
      </p:sp>
    </p:spTree>
    <p:extLst>
      <p:ext uri="{BB962C8B-B14F-4D97-AF65-F5344CB8AC3E}">
        <p14:creationId xmlns:p14="http://schemas.microsoft.com/office/powerpoint/2010/main" val="195636958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C2D7EF-5D8C-419F-80A9-5335351BE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2000"/>
            <a:ext cx="12192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>
              <a:defRPr sz="36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>
              <a:defRPr sz="36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>
              <a:defRPr sz="36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>
              <a:defRPr sz="36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>
              <a:defRPr sz="36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>
              <a:defRPr sz="36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>
              <a:defRPr sz="36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>
              <a:defRPr sz="36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>
              <a:defRPr sz="36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State locking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2E7354-7652-47A8-B515-31AF856A1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91375"/>
            <a:ext cx="571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AA0A6"/>
                </a:solidFill>
                <a:latin typeface="Arial"/>
                <a:ea typeface="Arial"/>
                <a:cs typeface="Arial"/>
              </a:rPr>
              <a:t>CSG221  /  Unit VI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EDA843-7C88-4BF6-8D6D-DA0C0EFA0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7191375"/>
            <a:ext cx="266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AA0A6"/>
                </a:solidFill>
                <a:latin typeface="Arial"/>
                <a:ea typeface="Arial"/>
                <a:cs typeface="Arial"/>
              </a:rPr>
              <a:t>Terraform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28533B-960B-46CA-87E9-30E094370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314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3C4043"/>
                </a:solidFill>
                <a:latin typeface="Arial"/>
                <a:ea typeface="Arial"/>
                <a:cs typeface="Arial"/>
              </a:rPr>
              <a:t>The risk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5B7833-60E1-4F5C-A829-7D17F1B38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095500"/>
            <a:ext cx="857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3C4043"/>
                </a:solidFill>
                <a:latin typeface="Arial"/>
                <a:ea typeface="Arial"/>
                <a:cs typeface="Arial"/>
              </a:rPr>
              <a:t>Two people update the same state at the same time.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A61820-D152-4037-B813-B905B364A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62300"/>
            <a:ext cx="314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3C4043"/>
                </a:solidFill>
                <a:latin typeface="Arial"/>
                <a:ea typeface="Arial"/>
                <a:cs typeface="Arial"/>
              </a:rPr>
              <a:t>The lock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8D59A7-0DB8-437A-9C0F-C5363FB58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162300"/>
            <a:ext cx="857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3C4043"/>
                </a:solidFill>
                <a:latin typeface="Arial"/>
                <a:ea typeface="Arial"/>
                <a:cs typeface="Arial"/>
              </a:rPr>
              <a:t>A supported backend allows one state-changing operation at a time.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EAFD9E-C3EF-4A03-A2BF-FF5361FF0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29100"/>
            <a:ext cx="314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3C4043"/>
                </a:solidFill>
                <a:latin typeface="Arial"/>
                <a:ea typeface="Arial"/>
                <a:cs typeface="Arial"/>
              </a:rPr>
              <a:t>GCS backend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99A79A-487F-4740-89DB-F67E95FA2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229100"/>
            <a:ext cx="857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3C4043"/>
                </a:solidFill>
                <a:latin typeface="Arial"/>
                <a:ea typeface="Arial"/>
                <a:cs typeface="Arial"/>
              </a:rPr>
              <a:t>Terraform’s GCS backend supports state locking.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0CA1C2-7D17-48E6-8591-E1C0A4DE9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95900"/>
            <a:ext cx="314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3C4043"/>
                </a:solidFill>
                <a:latin typeface="Arial"/>
                <a:ea typeface="Arial"/>
                <a:cs typeface="Arial"/>
              </a:rPr>
              <a:t>The benefit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68626F-320E-4AE0-9C8E-98C2E4936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295900"/>
            <a:ext cx="857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3C4043"/>
                </a:solidFill>
                <a:latin typeface="Arial"/>
                <a:ea typeface="Arial"/>
                <a:cs typeface="Arial"/>
              </a:rPr>
              <a:t>Reduces conflicting state writes during team deployments.</a:t>
            </a:r>
          </a:p>
        </p:txBody>
      </p:sp>
    </p:spTree>
    <p:extLst>
      <p:ext uri="{BB962C8B-B14F-4D97-AF65-F5344CB8AC3E}">
        <p14:creationId xmlns:p14="http://schemas.microsoft.com/office/powerpoint/2010/main" val="133425209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2C3977-ABBD-4B03-A3D7-6D84A354C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2000"/>
            <a:ext cx="12192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>
              <a:defRPr sz="36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>
              <a:defRPr sz="36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>
              <a:defRPr sz="36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>
              <a:defRPr sz="36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>
              <a:defRPr sz="36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>
              <a:defRPr sz="36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>
              <a:defRPr sz="36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>
              <a:defRPr sz="36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>
              <a:defRPr sz="36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Example: two people share remote state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A87853-D430-49F9-94E3-66D03DC6A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91375"/>
            <a:ext cx="571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AA0A6"/>
                </a:solidFill>
                <a:latin typeface="Arial"/>
                <a:ea typeface="Arial"/>
                <a:cs typeface="Arial"/>
              </a:rPr>
              <a:t>CSG221  /  Unit VI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2D2DEC-8894-4C20-82E2-74C420414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7191375"/>
            <a:ext cx="266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AA0A6"/>
                </a:solidFill>
                <a:latin typeface="Arial"/>
                <a:ea typeface="Arial"/>
                <a:cs typeface="Arial"/>
              </a:rPr>
              <a:t>Terraform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7748C4-DE71-40EB-80E2-42DD2DC1C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90750"/>
            <a:ext cx="5429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>
              <a:defRPr sz="27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>
              <a:defRPr sz="27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>
              <a:defRPr sz="27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>
              <a:defRPr sz="27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>
              <a:defRPr sz="27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>
              <a:defRPr sz="27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>
              <a:defRPr sz="27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>
              <a:defRPr sz="27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>
              <a:defRPr sz="27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7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Asha starts an apply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C7E132-9DB0-4E28-B2BF-5562BAD20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52750"/>
            <a:ext cx="55245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3C4043"/>
                </a:solidFill>
                <a:latin typeface="Arial"/>
                <a:ea typeface="Arial"/>
                <a:cs typeface="Arial"/>
              </a:rPr>
              <a:t>Terraform acquires the backend lock while it changes the shared infrastructure and state.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D2C38A-1661-49EA-8558-E2B3401A8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190750"/>
            <a:ext cx="5429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>
              <a:defRPr sz="27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>
              <a:defRPr sz="27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>
              <a:defRPr sz="27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>
              <a:defRPr sz="27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>
              <a:defRPr sz="27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>
              <a:defRPr sz="27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>
              <a:defRPr sz="27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>
              <a:defRPr sz="27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>
              <a:defRPr sz="27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7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Ravi starts another apply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9E1D3C-1DBB-48AE-8FBC-BD0B0E068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952750"/>
            <a:ext cx="55245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3C4043"/>
                </a:solidFill>
                <a:latin typeface="Arial"/>
                <a:ea typeface="Arial"/>
                <a:cs typeface="Arial"/>
              </a:rPr>
              <a:t>Terraform cannot acquire the same lock. Ravi waits or retries after Asha finishes.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7E53D8-EE90-4F9D-8E45-354A15EB7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91125"/>
            <a:ext cx="11906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4285F4"/>
                </a:solidFill>
                <a:latin typeface="Arial"/>
                <a:ea typeface="Arial"/>
                <a:cs typeface="Arial"/>
              </a:defRPr>
            </a:defPPr>
            <a:lvl1pPr>
              <a:defRPr sz="2550" b="0">
                <a:solidFill>
                  <a:srgbClr val="4285F4"/>
                </a:solidFill>
                <a:latin typeface="Arial"/>
                <a:ea typeface="Arial"/>
                <a:cs typeface="Arial"/>
              </a:defRPr>
            </a:lvl1pPr>
            <a:lvl2pPr>
              <a:defRPr sz="2550" b="0">
                <a:solidFill>
                  <a:srgbClr val="4285F4"/>
                </a:solidFill>
                <a:latin typeface="Arial"/>
                <a:ea typeface="Arial"/>
                <a:cs typeface="Arial"/>
              </a:defRPr>
            </a:lvl2pPr>
            <a:lvl3pPr>
              <a:defRPr sz="2550" b="0">
                <a:solidFill>
                  <a:srgbClr val="4285F4"/>
                </a:solidFill>
                <a:latin typeface="Arial"/>
                <a:ea typeface="Arial"/>
                <a:cs typeface="Arial"/>
              </a:defRPr>
            </a:lvl3pPr>
            <a:lvl4pPr>
              <a:defRPr sz="2550" b="0">
                <a:solidFill>
                  <a:srgbClr val="4285F4"/>
                </a:solidFill>
                <a:latin typeface="Arial"/>
                <a:ea typeface="Arial"/>
                <a:cs typeface="Arial"/>
              </a:defRPr>
            </a:lvl4pPr>
            <a:lvl5pPr>
              <a:defRPr sz="2550" b="0">
                <a:solidFill>
                  <a:srgbClr val="4285F4"/>
                </a:solidFill>
                <a:latin typeface="Arial"/>
                <a:ea typeface="Arial"/>
                <a:cs typeface="Arial"/>
              </a:defRPr>
            </a:lvl5pPr>
            <a:lvl6pPr>
              <a:defRPr sz="2550" b="0">
                <a:solidFill>
                  <a:srgbClr val="4285F4"/>
                </a:solidFill>
                <a:latin typeface="Arial"/>
                <a:ea typeface="Arial"/>
                <a:cs typeface="Arial"/>
              </a:defRPr>
            </a:lvl6pPr>
            <a:lvl7pPr>
              <a:defRPr sz="2550" b="0">
                <a:solidFill>
                  <a:srgbClr val="4285F4"/>
                </a:solidFill>
                <a:latin typeface="Arial"/>
                <a:ea typeface="Arial"/>
                <a:cs typeface="Arial"/>
              </a:defRPr>
            </a:lvl7pPr>
            <a:lvl8pPr>
              <a:defRPr sz="2550" b="0">
                <a:solidFill>
                  <a:srgbClr val="4285F4"/>
                </a:solidFill>
                <a:latin typeface="Arial"/>
                <a:ea typeface="Arial"/>
                <a:cs typeface="Arial"/>
              </a:defRPr>
            </a:lvl8pPr>
            <a:lvl9pPr>
              <a:defRPr sz="2550" b="0">
                <a:solidFill>
                  <a:srgbClr val="4285F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4285F4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4285F4"/>
                </a:solidFill>
                <a:latin typeface="Arial"/>
                <a:ea typeface="Arial"/>
                <a:cs typeface="Arial"/>
              </a:rPr>
              <a:t>After completion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7D7554-4177-4D4A-B816-54436A29D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2001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3C4043"/>
                </a:solidFill>
                <a:latin typeface="Arial"/>
                <a:ea typeface="Arial"/>
                <a:cs typeface="Arial"/>
              </a:rPr>
              <a:t>Terraform releases the lock. Ravi runs a fresh plan against the updated state.</a:t>
            </a:r>
          </a:p>
        </p:txBody>
      </p:sp>
    </p:spTree>
    <p:extLst>
      <p:ext uri="{BB962C8B-B14F-4D97-AF65-F5344CB8AC3E}">
        <p14:creationId xmlns:p14="http://schemas.microsoft.com/office/powerpoint/2010/main" val="114274585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0DF688-5EDC-4451-BF99-BFA242F4D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2000"/>
            <a:ext cx="12192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>
              <a:defRPr sz="36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>
              <a:defRPr sz="36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>
              <a:defRPr sz="36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>
              <a:defRPr sz="36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>
              <a:defRPr sz="36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>
              <a:defRPr sz="36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>
              <a:defRPr sz="36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>
              <a:defRPr sz="36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>
              <a:defRPr sz="36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Terraform workspaces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BDAEC6-DD85-4151-BDB6-8F10C71B1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91375"/>
            <a:ext cx="571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AA0A6"/>
                </a:solidFill>
                <a:latin typeface="Arial"/>
                <a:ea typeface="Arial"/>
                <a:cs typeface="Arial"/>
              </a:rPr>
              <a:t>CSG221  /  Unit VI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E976EC-4499-4DB5-8BA7-73CF53702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7191375"/>
            <a:ext cx="266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AA0A6"/>
                </a:solidFill>
                <a:latin typeface="Arial"/>
                <a:ea typeface="Arial"/>
                <a:cs typeface="Arial"/>
              </a:rPr>
              <a:t>Terraform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640702-268A-4071-9C40-F01ECF9AC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314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3C4043"/>
                </a:solidFill>
                <a:latin typeface="Arial"/>
                <a:ea typeface="Arial"/>
                <a:cs typeface="Arial"/>
              </a:rPr>
              <a:t>Purpose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AFAC9D-709B-48C9-B5CD-053C4820B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095500"/>
            <a:ext cx="857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3C4043"/>
                </a:solidFill>
                <a:latin typeface="Arial"/>
                <a:ea typeface="Arial"/>
                <a:cs typeface="Arial"/>
              </a:rPr>
              <a:t>Keep separate state instances for one configuration.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21F1EC-A0C7-40D5-A06D-FF3D9B4F1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62300"/>
            <a:ext cx="314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3C4043"/>
                </a:solidFill>
                <a:latin typeface="Arial"/>
                <a:ea typeface="Arial"/>
                <a:cs typeface="Arial"/>
              </a:rPr>
              <a:t>Example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AFD604-37DE-4228-AEA2-D7C832274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162300"/>
            <a:ext cx="857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3C4043"/>
                </a:solidFill>
                <a:latin typeface="Arial"/>
                <a:ea typeface="Arial"/>
                <a:cs typeface="Arial"/>
              </a:rPr>
              <a:t>Use dev and test workspaces, with inputs or names that distinguish their resources.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0045A1-1A57-45C1-A561-B40640F5E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29100"/>
            <a:ext cx="314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3C4043"/>
                </a:solidFill>
                <a:latin typeface="Arial"/>
                <a:ea typeface="Arial"/>
                <a:cs typeface="Arial"/>
              </a:rPr>
              <a:t>Selection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F77712-CC01-4698-BB8F-8C08F02B4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229100"/>
            <a:ext cx="857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3C4043"/>
                </a:solidFill>
                <a:latin typeface="Arial"/>
                <a:ea typeface="Arial"/>
                <a:cs typeface="Arial"/>
              </a:rPr>
              <a:t>terraform workspace new dev</a:t>
            </a:r>
          </a:p>
          <a:p xmlns:a="http://schemas.openxmlformats.org/drawingml/2006/main">
            <a: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3C4043"/>
                </a:solidFill>
                <a:latin typeface="Arial"/>
                <a:ea typeface="Arial"/>
                <a:cs typeface="Arial"/>
              </a:rPr>
              <a:t>terraform workspace select dev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7A5C81-8A10-4A54-A45D-D9B45FAAF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95900"/>
            <a:ext cx="314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3C4043"/>
                </a:solidFill>
                <a:latin typeface="Arial"/>
                <a:ea typeface="Arial"/>
                <a:cs typeface="Arial"/>
              </a:rPr>
              <a:t>Boundary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1B6603-BCCB-4AA0-A1E5-F679B7186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295900"/>
            <a:ext cx="857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3C4043"/>
                </a:solidFill>
                <a:latin typeface="Arial"/>
                <a:ea typeface="Arial"/>
                <a:cs typeface="Arial"/>
              </a:rPr>
              <a:t>A workspace alone does not isolate credentials, permissions or projects.</a:t>
            </a:r>
          </a:p>
        </p:txBody>
      </p:sp>
    </p:spTree>
    <p:extLst>
      <p:ext uri="{BB962C8B-B14F-4D97-AF65-F5344CB8AC3E}">
        <p14:creationId xmlns:p14="http://schemas.microsoft.com/office/powerpoint/2010/main" val="139360248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1F51BA-E4C8-4837-B931-AD3D0538A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2000"/>
            <a:ext cx="12192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>
              <a:defRPr sz="36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>
              <a:defRPr sz="36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>
              <a:defRPr sz="36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>
              <a:defRPr sz="36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>
              <a:defRPr sz="36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>
              <a:defRPr sz="36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>
              <a:defRPr sz="36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>
              <a:defRPr sz="36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>
              <a:defRPr sz="36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BigQuery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15852C-26C2-44A8-BE0B-AABD6B694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91375"/>
            <a:ext cx="571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AA0A6"/>
                </a:solidFill>
                <a:latin typeface="Arial"/>
                <a:ea typeface="Arial"/>
                <a:cs typeface="Arial"/>
              </a:rPr>
              <a:t>CSG221  /  Unit VI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9B49B9-84B8-41CE-AD65-07BEAA998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7191375"/>
            <a:ext cx="266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AA0A6"/>
                </a:solidFill>
                <a:latin typeface="Arial"/>
                <a:ea typeface="Arial"/>
                <a:cs typeface="Arial"/>
              </a:rPr>
              <a:t>Managed Services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7D9C6E-D5A5-4DCF-9D7D-26153386D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314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3C4043"/>
                </a:solidFill>
                <a:latin typeface="Arial"/>
                <a:ea typeface="Arial"/>
                <a:cs typeface="Arial"/>
              </a:rPr>
              <a:t>Columnar storage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14BACB-BB75-4239-B598-86CDEBFD6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095500"/>
            <a:ext cx="857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3C4043"/>
                </a:solidFill>
                <a:latin typeface="Arial"/>
                <a:ea typeface="Arial"/>
                <a:cs typeface="Arial"/>
              </a:rPr>
              <a:t>Stores data by columns so queries can read only the columns they need.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7CF9B1-A5A1-496B-B0D9-4EA8507E7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62300"/>
            <a:ext cx="314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3C4043"/>
                </a:solidFill>
                <a:latin typeface="Arial"/>
                <a:ea typeface="Arial"/>
                <a:cs typeface="Arial"/>
              </a:rPr>
              <a:t>Separate compute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D035F4-5210-40B4-92C1-7E4DB8AF4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162300"/>
            <a:ext cx="857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3C4043"/>
                </a:solidFill>
                <a:latin typeface="Arial"/>
                <a:ea typeface="Arial"/>
                <a:cs typeface="Arial"/>
              </a:rPr>
              <a:t>Storage and query processing scale independently.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063440-AE30-4C6E-8046-4724B47A6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29100"/>
            <a:ext cx="314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3C4043"/>
                </a:solidFill>
                <a:latin typeface="Arial"/>
                <a:ea typeface="Arial"/>
                <a:cs typeface="Arial"/>
              </a:rPr>
              <a:t>Serverless execution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084B6D-9A5D-443D-B87A-CE4AC14EB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229100"/>
            <a:ext cx="857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3C4043"/>
                </a:solidFill>
                <a:latin typeface="Arial"/>
                <a:ea typeface="Arial"/>
                <a:cs typeface="Arial"/>
              </a:rPr>
              <a:t>Google manages the underlying query infrastructure.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47F53A-B236-4CBA-84CA-3ACE03B60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95900"/>
            <a:ext cx="314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3C4043"/>
                </a:solidFill>
                <a:latin typeface="Arial"/>
                <a:ea typeface="Arial"/>
                <a:cs typeface="Arial"/>
              </a:rPr>
              <a:t>Parallel processing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085E72-FACB-4085-9FDE-08722A00A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295900"/>
            <a:ext cx="857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3C4043"/>
                </a:solidFill>
                <a:latin typeface="Arial"/>
                <a:ea typeface="Arial"/>
                <a:cs typeface="Arial"/>
              </a:rPr>
              <a:t>The execution engine divides query work across workers.</a:t>
            </a:r>
          </a:p>
        </p:txBody>
      </p:sp>
    </p:spTree>
    <p:extLst>
      <p:ext uri="{BB962C8B-B14F-4D97-AF65-F5344CB8AC3E}">
        <p14:creationId xmlns:p14="http://schemas.microsoft.com/office/powerpoint/2010/main" val="51474817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F759CF-3246-48CA-9B46-BD0A2B3AB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2000"/>
            <a:ext cx="12192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>
              <a:defRPr sz="36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>
              <a:defRPr sz="36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>
              <a:defRPr sz="36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>
              <a:defRPr sz="36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>
              <a:defRPr sz="36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>
              <a:defRPr sz="36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>
              <a:defRPr sz="36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>
              <a:defRPr sz="36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>
              <a:defRPr sz="36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BigQuery slots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567F95-E9C5-40BA-B2F2-70C5C7400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91375"/>
            <a:ext cx="571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AA0A6"/>
                </a:solidFill>
                <a:latin typeface="Arial"/>
                <a:ea typeface="Arial"/>
                <a:cs typeface="Arial"/>
              </a:rPr>
              <a:t>CSG221  /  Unit VI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7DFB6D-1A98-46C5-AD66-6D7ADD761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7191375"/>
            <a:ext cx="266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AA0A6"/>
                </a:solidFill>
                <a:latin typeface="Arial"/>
                <a:ea typeface="Arial"/>
                <a:cs typeface="Arial"/>
              </a:rPr>
              <a:t>Managed Services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09197A-ECA4-4786-BB71-D2AF1537D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590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defPPr>
            <a:lvl1pPr>
              <a:defRPr sz="240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1pPr>
            <a:lvl2pPr>
              <a:defRPr sz="240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2pPr>
            <a:lvl3pPr>
              <a:defRPr sz="240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3pPr>
            <a:lvl4pPr>
              <a:defRPr sz="240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4pPr>
            <a:lvl5pPr>
              <a:defRPr sz="240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5pPr>
            <a:lvl6pPr>
              <a:defRPr sz="240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6pPr>
            <a:lvl7pPr>
              <a:defRPr sz="240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7pPr>
            <a:lvl8pPr>
              <a:defRPr sz="240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8pPr>
            <a:lvl9pPr>
              <a:defRPr sz="240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3C4043"/>
                </a:solidFill>
                <a:latin typeface="Arial"/>
                <a:ea typeface="Arial"/>
                <a:cs typeface="Arial"/>
              </a:rPr>
              <a:t>A unit of compute capacity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AB50FE-F72D-44FC-94FA-6C4E54BF8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47950"/>
            <a:ext cx="5905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3C4043"/>
                </a:solidFill>
                <a:latin typeface="Arial"/>
                <a:ea typeface="Arial"/>
                <a:cs typeface="Arial"/>
              </a:rPr>
              <a:t>A slot is a virtual compute unit that BigQuery uses to execute SQL. A query can use many slots in parallel.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DBA57A-2E44-42DD-8213-7FA2753D2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95500"/>
            <a:ext cx="571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defPPr>
            <a:lvl1pPr>
              <a:defRPr sz="240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1pPr>
            <a:lvl2pPr>
              <a:defRPr sz="240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2pPr>
            <a:lvl3pPr>
              <a:defRPr sz="240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3pPr>
            <a:lvl4pPr>
              <a:defRPr sz="240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4pPr>
            <a:lvl5pPr>
              <a:defRPr sz="240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5pPr>
            <a:lvl6pPr>
              <a:defRPr sz="240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6pPr>
            <a:lvl7pPr>
              <a:defRPr sz="240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7pPr>
            <a:lvl8pPr>
              <a:defRPr sz="240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8pPr>
            <a:lvl9pPr>
              <a:defRPr sz="240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3C4043"/>
                </a:solidFill>
                <a:latin typeface="Arial"/>
                <a:ea typeface="Arial"/>
                <a:cs typeface="Arial"/>
              </a:rPr>
              <a:t>How queries use slots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772FFD-D226-4CD2-BA14-40093ADCC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647950"/>
            <a:ext cx="5715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3C4043"/>
                </a:solidFill>
                <a:latin typeface="Arial"/>
                <a:ea typeface="Arial"/>
                <a:cs typeface="Arial"/>
              </a:rPr>
              <a:t>BigQuery schedules work across available slots. Query complexity and competing work affect demand.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5E9A77-A8AF-4909-B103-5ECC89229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05375"/>
            <a:ext cx="11430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defPPr>
            <a:lvl1pPr>
              <a:defRPr sz="240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1pPr>
            <a:lvl2pPr>
              <a:defRPr sz="240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2pPr>
            <a:lvl3pPr>
              <a:defRPr sz="240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3pPr>
            <a:lvl4pPr>
              <a:defRPr sz="240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4pPr>
            <a:lvl5pPr>
              <a:defRPr sz="240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5pPr>
            <a:lvl6pPr>
              <a:defRPr sz="240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6pPr>
            <a:lvl7pPr>
              <a:defRPr sz="240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7pPr>
            <a:lvl8pPr>
              <a:defRPr sz="240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8pPr>
            <a:lvl9pPr>
              <a:defRPr sz="240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3C4043"/>
                </a:solidFill>
                <a:latin typeface="Arial"/>
                <a:ea typeface="Arial"/>
                <a:cs typeface="Arial"/>
              </a:rPr>
              <a:t>Simple distinction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165226-6337-4DCD-9377-EC0480F98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76875"/>
            <a:ext cx="12001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3C4043"/>
                </a:solidFill>
                <a:latin typeface="Arial"/>
                <a:ea typeface="Arial"/>
                <a:cs typeface="Arial"/>
              </a:rPr>
              <a:t>Columnar storage affects what data a query reads.</a:t>
            </a:r>
          </a:p>
          <a:p xmlns:a="http://schemas.openxmlformats.org/drawingml/2006/main">
            <a: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3C4043"/>
                </a:solidFill>
                <a:latin typeface="Arial"/>
                <a:ea typeface="Arial"/>
                <a:cs typeface="Arial"/>
              </a:rPr>
              <a:t>Slots provide the compute capacity that processes the query.</a:t>
            </a:r>
          </a:p>
        </p:txBody>
      </p:sp>
    </p:spTree>
    <p:extLst>
      <p:ext uri="{BB962C8B-B14F-4D97-AF65-F5344CB8AC3E}">
        <p14:creationId xmlns:p14="http://schemas.microsoft.com/office/powerpoint/2010/main" val="162000239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8119AB-07C0-45CF-A792-F35A964E4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2000"/>
            <a:ext cx="12192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>
              <a:defRPr sz="36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>
              <a:defRPr sz="36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>
              <a:defRPr sz="36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>
              <a:defRPr sz="36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>
              <a:defRPr sz="36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>
              <a:defRPr sz="36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>
              <a:defRPr sz="36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>
              <a:defRPr sz="36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>
              <a:defRPr sz="36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Example: read only the required columns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AE40E9-80C5-4000-A7F3-988CE1021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91375"/>
            <a:ext cx="571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AA0A6"/>
                </a:solidFill>
                <a:latin typeface="Arial"/>
                <a:ea typeface="Arial"/>
                <a:cs typeface="Arial"/>
              </a:rPr>
              <a:t>CSG221  /  Unit VI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DC2665-1F3A-41EF-84AD-FA781DD96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7191375"/>
            <a:ext cx="266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AA0A6"/>
                </a:solidFill>
                <a:latin typeface="Arial"/>
                <a:ea typeface="Arial"/>
                <a:cs typeface="Arial"/>
              </a:rPr>
              <a:t>Managed Services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8E9694-AD37-4F19-88D9-8415C942D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12001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defPPr>
            <a:lvl1pPr>
              <a:defRPr sz="25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1pPr>
            <a:lvl2pPr>
              <a:defRPr sz="25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2pPr>
            <a:lvl3pPr>
              <a:defRPr sz="25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3pPr>
            <a:lvl4pPr>
              <a:defRPr sz="25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4pPr>
            <a:lvl5pPr>
              <a:defRPr sz="25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5pPr>
            <a:lvl6pPr>
              <a:defRPr sz="25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6pPr>
            <a:lvl7pPr>
              <a:defRPr sz="25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7pPr>
            <a:lvl8pPr>
              <a:defRPr sz="25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8pPr>
            <a:lvl9pPr>
              <a:defRPr sz="25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3C4043"/>
                </a:solidFill>
                <a:latin typeface="Arial"/>
                <a:ea typeface="Arial"/>
                <a:cs typeface="Arial"/>
              </a:rPr>
              <a:t>An orders table has many columns. This report needs only two.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C77240-C559-4241-9CC6-B94714402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12001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0">
                <a:solidFill>
                  <a:srgbClr val="3C4043"/>
                </a:solidFill>
                <a:latin typeface="Consolas"/>
                <a:ea typeface="Consolas"/>
                <a:cs typeface="Consolas"/>
              </a:defRPr>
            </a:defPPr>
            <a:lvl1pPr>
              <a:defRPr sz="2850" b="0">
                <a:solidFill>
                  <a:srgbClr val="3C4043"/>
                </a:solidFill>
                <a:latin typeface="Consolas"/>
                <a:ea typeface="Consolas"/>
                <a:cs typeface="Consolas"/>
              </a:defRPr>
            </a:lvl1pPr>
            <a:lvl2pPr>
              <a:defRPr sz="2850" b="0">
                <a:solidFill>
                  <a:srgbClr val="3C4043"/>
                </a:solidFill>
                <a:latin typeface="Consolas"/>
                <a:ea typeface="Consolas"/>
                <a:cs typeface="Consolas"/>
              </a:defRPr>
            </a:lvl2pPr>
            <a:lvl3pPr>
              <a:defRPr sz="2850" b="0">
                <a:solidFill>
                  <a:srgbClr val="3C4043"/>
                </a:solidFill>
                <a:latin typeface="Consolas"/>
                <a:ea typeface="Consolas"/>
                <a:cs typeface="Consolas"/>
              </a:defRPr>
            </a:lvl3pPr>
            <a:lvl4pPr>
              <a:defRPr sz="2850" b="0">
                <a:solidFill>
                  <a:srgbClr val="3C4043"/>
                </a:solidFill>
                <a:latin typeface="Consolas"/>
                <a:ea typeface="Consolas"/>
                <a:cs typeface="Consolas"/>
              </a:defRPr>
            </a:lvl4pPr>
            <a:lvl5pPr>
              <a:defRPr sz="2850" b="0">
                <a:solidFill>
                  <a:srgbClr val="3C4043"/>
                </a:solidFill>
                <a:latin typeface="Consolas"/>
                <a:ea typeface="Consolas"/>
                <a:cs typeface="Consolas"/>
              </a:defRPr>
            </a:lvl5pPr>
            <a:lvl6pPr>
              <a:defRPr sz="2850" b="0">
                <a:solidFill>
                  <a:srgbClr val="3C4043"/>
                </a:solidFill>
                <a:latin typeface="Consolas"/>
                <a:ea typeface="Consolas"/>
                <a:cs typeface="Consolas"/>
              </a:defRPr>
            </a:lvl6pPr>
            <a:lvl7pPr>
              <a:defRPr sz="2850" b="0">
                <a:solidFill>
                  <a:srgbClr val="3C4043"/>
                </a:solidFill>
                <a:latin typeface="Consolas"/>
                <a:ea typeface="Consolas"/>
                <a:cs typeface="Consolas"/>
              </a:defRPr>
            </a:lvl7pPr>
            <a:lvl8pPr>
              <a:defRPr sz="2850" b="0">
                <a:solidFill>
                  <a:srgbClr val="3C4043"/>
                </a:solidFill>
                <a:latin typeface="Consolas"/>
                <a:ea typeface="Consolas"/>
                <a:cs typeface="Consolas"/>
              </a:defRPr>
            </a:lvl8pPr>
            <a:lvl9pPr>
              <a:defRPr sz="2850" b="0">
                <a:solidFill>
                  <a:srgbClr val="3C4043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3C4043"/>
                </a:solidFill>
                <a:latin typeface="Consolas"/>
                <a:ea typeface="Consolas"/>
                <a:cs typeface="Consolas"/>
              </a:defRPr>
            </a:pPr>
            <a:r>
              <a:rPr sz="2850" b="0">
                <a:solidFill>
                  <a:srgbClr val="3C4043"/>
                </a:solidFill>
                <a:latin typeface="Consolas"/>
                <a:ea typeface="Consolas"/>
                <a:cs typeface="Consolas"/>
              </a:rPr>
              <a:t>SELECT customer_id, total_amount</a:t>
            </a:r>
          </a:p>
          <a:p xmlns:a="http://schemas.openxmlformats.org/drawingml/2006/main">
            <a:pPr>
              <a:defRPr sz="2850" b="0">
                <a:solidFill>
                  <a:srgbClr val="3C4043"/>
                </a:solidFill>
                <a:latin typeface="Consolas"/>
                <a:ea typeface="Consolas"/>
                <a:cs typeface="Consolas"/>
              </a:defRPr>
            </a:pPr>
            <a:r>
              <a:rPr sz="2850" b="0">
                <a:solidFill>
                  <a:srgbClr val="3C4043"/>
                </a:solidFill>
                <a:latin typeface="Consolas"/>
                <a:ea typeface="Consolas"/>
                <a:cs typeface="Consolas"/>
              </a:rPr>
              <a:t>FROM `demo.orders`;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179A64-FFB0-4538-B530-54B034C4F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34000"/>
            <a:ext cx="5429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>
              <a:defRPr sz="24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>
              <a:defRPr sz="24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>
              <a:defRPr sz="24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>
              <a:defRPr sz="24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>
              <a:defRPr sz="24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>
              <a:defRPr sz="24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>
              <a:defRPr sz="24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>
              <a:defRPr sz="24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>
              <a:defRPr sz="24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Columnar storage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7ACA67-85C5-40EF-BEBD-4915A6B2F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53125"/>
            <a:ext cx="5429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3C4043"/>
                </a:solidFill>
                <a:latin typeface="Arial"/>
                <a:ea typeface="Arial"/>
                <a:cs typeface="Arial"/>
              </a:rPr>
              <a:t>BigQuery can skip columns that this query does not use.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C23A21-B760-4E9C-AD50-2FCF92478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334000"/>
            <a:ext cx="5429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>
              <a:defRPr sz="24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>
              <a:defRPr sz="24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>
              <a:defRPr sz="24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>
              <a:defRPr sz="24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>
              <a:defRPr sz="24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>
              <a:defRPr sz="24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>
              <a:defRPr sz="24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>
              <a:defRPr sz="24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>
              <a:defRPr sz="24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Query execution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09676F-66ED-465C-ADBA-492CA60E5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953125"/>
            <a:ext cx="5429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3C4043"/>
                </a:solidFill>
                <a:latin typeface="Arial"/>
                <a:ea typeface="Arial"/>
                <a:cs typeface="Arial"/>
              </a:rPr>
              <a:t>Slots supply compute to read and process the required data.</a:t>
            </a:r>
          </a:p>
        </p:txBody>
      </p:sp>
    </p:spTree>
    <p:extLst>
      <p:ext uri="{BB962C8B-B14F-4D97-AF65-F5344CB8AC3E}">
        <p14:creationId xmlns:p14="http://schemas.microsoft.com/office/powerpoint/2010/main" val="210678144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933D6E-6609-4ECF-BB87-BD1A83E6A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2000"/>
            <a:ext cx="12192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>
              <a:defRPr sz="36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>
              <a:defRPr sz="36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>
              <a:defRPr sz="36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>
              <a:defRPr sz="36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>
              <a:defRPr sz="36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>
              <a:defRPr sz="36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>
              <a:defRPr sz="36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>
              <a:defRPr sz="36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>
              <a:defRPr sz="36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Partitioned and clustered tables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59BE74-E04E-4A8F-822E-E83C38838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91375"/>
            <a:ext cx="571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AA0A6"/>
                </a:solidFill>
                <a:latin typeface="Arial"/>
                <a:ea typeface="Arial"/>
                <a:cs typeface="Arial"/>
              </a:rPr>
              <a:t>CSG221  /  Unit VI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47BD67-D755-4592-8AD4-6128A92FE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7191375"/>
            <a:ext cx="266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AA0A6"/>
                </a:solidFill>
                <a:latin typeface="Arial"/>
                <a:ea typeface="Arial"/>
                <a:cs typeface="Arial"/>
              </a:rPr>
              <a:t>Managed Services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D67A8A-4420-4BD8-B919-587AB9A04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590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defPPr>
            <a:lvl1pPr>
              <a:defRPr sz="240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1pPr>
            <a:lvl2pPr>
              <a:defRPr sz="240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2pPr>
            <a:lvl3pPr>
              <a:defRPr sz="240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3pPr>
            <a:lvl4pPr>
              <a:defRPr sz="240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4pPr>
            <a:lvl5pPr>
              <a:defRPr sz="240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5pPr>
            <a:lvl6pPr>
              <a:defRPr sz="240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6pPr>
            <a:lvl7pPr>
              <a:defRPr sz="240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7pPr>
            <a:lvl8pPr>
              <a:defRPr sz="240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8pPr>
            <a:lvl9pPr>
              <a:defRPr sz="240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3C4043"/>
                </a:solidFill>
                <a:latin typeface="Arial"/>
                <a:ea typeface="Arial"/>
                <a:cs typeface="Arial"/>
              </a:rPr>
              <a:t>Partitioning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254870-C33F-4A02-956C-319C7BEA5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47950"/>
            <a:ext cx="5905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3C4043"/>
                </a:solidFill>
                <a:latin typeface="Arial"/>
                <a:ea typeface="Arial"/>
                <a:cs typeface="Arial"/>
              </a:rPr>
              <a:t>Divides a table by a partition key, such as an order date. A suitable filter lets a query skip unrelated partitions.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D27D54-70A6-477B-9E43-1AEA27019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95500"/>
            <a:ext cx="571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defPPr>
            <a:lvl1pPr>
              <a:defRPr sz="240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1pPr>
            <a:lvl2pPr>
              <a:defRPr sz="240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2pPr>
            <a:lvl3pPr>
              <a:defRPr sz="240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3pPr>
            <a:lvl4pPr>
              <a:defRPr sz="240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4pPr>
            <a:lvl5pPr>
              <a:defRPr sz="240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5pPr>
            <a:lvl6pPr>
              <a:defRPr sz="240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6pPr>
            <a:lvl7pPr>
              <a:defRPr sz="240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7pPr>
            <a:lvl8pPr>
              <a:defRPr sz="240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8pPr>
            <a:lvl9pPr>
              <a:defRPr sz="240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3C4043"/>
                </a:solidFill>
                <a:latin typeface="Arial"/>
                <a:ea typeface="Arial"/>
                <a:cs typeface="Arial"/>
              </a:rPr>
              <a:t>Clustering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782F03-4BA8-4AD8-9EA0-9FE0CD034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647950"/>
            <a:ext cx="5715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3C4043"/>
                </a:solidFill>
                <a:latin typeface="Arial"/>
                <a:ea typeface="Arial"/>
                <a:cs typeface="Arial"/>
              </a:rPr>
              <a:t>Organizes storage blocks using selected columns, such as customer_id. Suitable filters let a query skip unrelated blocks.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E14F64-0843-46A8-A782-62CFBDF98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53000"/>
            <a:ext cx="11430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defPPr>
            <a:lvl1pPr>
              <a:defRPr sz="240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1pPr>
            <a:lvl2pPr>
              <a:defRPr sz="240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2pPr>
            <a:lvl3pPr>
              <a:defRPr sz="240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3pPr>
            <a:lvl4pPr>
              <a:defRPr sz="240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4pPr>
            <a:lvl5pPr>
              <a:defRPr sz="240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5pPr>
            <a:lvl6pPr>
              <a:defRPr sz="240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6pPr>
            <a:lvl7pPr>
              <a:defRPr sz="240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7pPr>
            <a:lvl8pPr>
              <a:defRPr sz="240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8pPr>
            <a:lvl9pPr>
              <a:defRPr sz="240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3C4043"/>
                </a:solidFill>
                <a:latin typeface="Arial"/>
                <a:ea typeface="Arial"/>
                <a:cs typeface="Arial"/>
              </a:rPr>
              <a:t>Example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CD0572-4FF7-4EB5-9ACC-3F03C7743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24500"/>
            <a:ext cx="12001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3C4043"/>
                </a:solidFill>
                <a:latin typeface="Arial"/>
                <a:ea typeface="Arial"/>
                <a:cs typeface="Arial"/>
              </a:rPr>
              <a:t>An orders table can partition by order_date and cluster by customer_id.</a:t>
            </a:r>
          </a:p>
          <a:p xmlns:a="http://schemas.openxmlformats.org/drawingml/2006/main">
            <a: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3C4043"/>
                </a:solidFill>
                <a:latin typeface="Arial"/>
                <a:ea typeface="Arial"/>
                <a:cs typeface="Arial"/>
              </a:rPr>
              <a:t>A query for one day and one customer can benefit from both.</a:t>
            </a:r>
          </a:p>
        </p:txBody>
      </p:sp>
    </p:spTree>
    <p:extLst>
      <p:ext uri="{BB962C8B-B14F-4D97-AF65-F5344CB8AC3E}">
        <p14:creationId xmlns:p14="http://schemas.microsoft.com/office/powerpoint/2010/main" val="77694986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553B52-5AA1-40BF-8BCE-29AFAA49B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2000"/>
            <a:ext cx="12192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>
              <a:defRPr sz="36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>
              <a:defRPr sz="36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>
              <a:defRPr sz="36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>
              <a:defRPr sz="36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>
              <a:defRPr sz="36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>
              <a:defRPr sz="36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>
              <a:defRPr sz="36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>
              <a:defRPr sz="36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>
              <a:defRPr sz="36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Example: filter a partitioned, clustered table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05BC85-2981-4C2B-B99E-4AD0CCC77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91375"/>
            <a:ext cx="571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AA0A6"/>
                </a:solidFill>
                <a:latin typeface="Arial"/>
                <a:ea typeface="Arial"/>
                <a:cs typeface="Arial"/>
              </a:rPr>
              <a:t>CSG221  /  Unit VI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7590FD-D17C-4106-A9AD-730BEEA7D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7191375"/>
            <a:ext cx="266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AA0A6"/>
                </a:solidFill>
                <a:latin typeface="Arial"/>
                <a:ea typeface="Arial"/>
                <a:cs typeface="Arial"/>
              </a:rPr>
              <a:t>Managed Services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9248EE-0765-44F7-B9F0-3F69BE2AA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12001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defPPr>
            <a:lvl1pPr>
              <a:defRPr sz="240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1pPr>
            <a:lvl2pPr>
              <a:defRPr sz="240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2pPr>
            <a:lvl3pPr>
              <a:defRPr sz="240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3pPr>
            <a:lvl4pPr>
              <a:defRPr sz="240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4pPr>
            <a:lvl5pPr>
              <a:defRPr sz="240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5pPr>
            <a:lvl6pPr>
              <a:defRPr sz="240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6pPr>
            <a:lvl7pPr>
              <a:defRPr sz="240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7pPr>
            <a:lvl8pPr>
              <a:defRPr sz="240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8pPr>
            <a:lvl9pPr>
              <a:defRPr sz="240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3C4043"/>
                </a:solidFill>
                <a:latin typeface="Arial"/>
                <a:ea typeface="Arial"/>
                <a:cs typeface="Arial"/>
              </a:rPr>
              <a:t>Table design: partition by order_date, cluster by customer_id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5830BE-E88A-45FF-BCEF-3F774E5DD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12001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3C4043"/>
                </a:solidFill>
                <a:latin typeface="Consolas"/>
                <a:ea typeface="Consolas"/>
                <a:cs typeface="Consolas"/>
              </a:defRPr>
            </a:defPPr>
            <a:lvl1pPr>
              <a:defRPr sz="2550" b="0">
                <a:solidFill>
                  <a:srgbClr val="3C4043"/>
                </a:solidFill>
                <a:latin typeface="Consolas"/>
                <a:ea typeface="Consolas"/>
                <a:cs typeface="Consolas"/>
              </a:defRPr>
            </a:lvl1pPr>
            <a:lvl2pPr>
              <a:defRPr sz="2550" b="0">
                <a:solidFill>
                  <a:srgbClr val="3C4043"/>
                </a:solidFill>
                <a:latin typeface="Consolas"/>
                <a:ea typeface="Consolas"/>
                <a:cs typeface="Consolas"/>
              </a:defRPr>
            </a:lvl2pPr>
            <a:lvl3pPr>
              <a:defRPr sz="2550" b="0">
                <a:solidFill>
                  <a:srgbClr val="3C4043"/>
                </a:solidFill>
                <a:latin typeface="Consolas"/>
                <a:ea typeface="Consolas"/>
                <a:cs typeface="Consolas"/>
              </a:defRPr>
            </a:lvl3pPr>
            <a:lvl4pPr>
              <a:defRPr sz="2550" b="0">
                <a:solidFill>
                  <a:srgbClr val="3C4043"/>
                </a:solidFill>
                <a:latin typeface="Consolas"/>
                <a:ea typeface="Consolas"/>
                <a:cs typeface="Consolas"/>
              </a:defRPr>
            </a:lvl4pPr>
            <a:lvl5pPr>
              <a:defRPr sz="2550" b="0">
                <a:solidFill>
                  <a:srgbClr val="3C4043"/>
                </a:solidFill>
                <a:latin typeface="Consolas"/>
                <a:ea typeface="Consolas"/>
                <a:cs typeface="Consolas"/>
              </a:defRPr>
            </a:lvl5pPr>
            <a:lvl6pPr>
              <a:defRPr sz="2550" b="0">
                <a:solidFill>
                  <a:srgbClr val="3C4043"/>
                </a:solidFill>
                <a:latin typeface="Consolas"/>
                <a:ea typeface="Consolas"/>
                <a:cs typeface="Consolas"/>
              </a:defRPr>
            </a:lvl6pPr>
            <a:lvl7pPr>
              <a:defRPr sz="2550" b="0">
                <a:solidFill>
                  <a:srgbClr val="3C4043"/>
                </a:solidFill>
                <a:latin typeface="Consolas"/>
                <a:ea typeface="Consolas"/>
                <a:cs typeface="Consolas"/>
              </a:defRPr>
            </a:lvl7pPr>
            <a:lvl8pPr>
              <a:defRPr sz="2550" b="0">
                <a:solidFill>
                  <a:srgbClr val="3C4043"/>
                </a:solidFill>
                <a:latin typeface="Consolas"/>
                <a:ea typeface="Consolas"/>
                <a:cs typeface="Consolas"/>
              </a:defRPr>
            </a:lvl8pPr>
            <a:lvl9pPr>
              <a:defRPr sz="2550" b="0">
                <a:solidFill>
                  <a:srgbClr val="3C4043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3C4043"/>
                </a:solidFill>
                <a:latin typeface="Consolas"/>
                <a:ea typeface="Consolas"/>
                <a:cs typeface="Consolas"/>
              </a:defRPr>
            </a:pPr>
            <a:r>
              <a:rPr sz="2550" b="0">
                <a:solidFill>
                  <a:srgbClr val="3C4043"/>
                </a:solidFill>
                <a:latin typeface="Consolas"/>
                <a:ea typeface="Consolas"/>
                <a:cs typeface="Consolas"/>
              </a:rPr>
              <a:t>SELECT order_id, total_amount</a:t>
            </a:r>
          </a:p>
          <a:p xmlns:a="http://schemas.openxmlformats.org/drawingml/2006/main">
            <a:pPr>
              <a:defRPr sz="2550" b="0">
                <a:solidFill>
                  <a:srgbClr val="3C4043"/>
                </a:solidFill>
                <a:latin typeface="Consolas"/>
                <a:ea typeface="Consolas"/>
                <a:cs typeface="Consolas"/>
              </a:defRPr>
            </a:pPr>
            <a:r>
              <a:rPr sz="2550" b="0">
                <a:solidFill>
                  <a:srgbClr val="3C4043"/>
                </a:solidFill>
                <a:latin typeface="Consolas"/>
                <a:ea typeface="Consolas"/>
                <a:cs typeface="Consolas"/>
              </a:rPr>
              <a:t>FROM `demo.orders`</a:t>
            </a:r>
          </a:p>
          <a:p xmlns:a="http://schemas.openxmlformats.org/drawingml/2006/main">
            <a:pPr>
              <a:defRPr sz="2550" b="0">
                <a:solidFill>
                  <a:srgbClr val="3C4043"/>
                </a:solidFill>
                <a:latin typeface="Consolas"/>
                <a:ea typeface="Consolas"/>
                <a:cs typeface="Consolas"/>
              </a:defRPr>
            </a:pPr>
            <a:r>
              <a:rPr sz="2550" b="0">
                <a:solidFill>
                  <a:srgbClr val="3C4043"/>
                </a:solidFill>
                <a:latin typeface="Consolas"/>
                <a:ea typeface="Consolas"/>
                <a:cs typeface="Consolas"/>
              </a:rPr>
              <a:t>WHERE order_date = DATE '2026-10-01'</a:t>
            </a:r>
          </a:p>
          <a:p xmlns:a="http://schemas.openxmlformats.org/drawingml/2006/main">
            <a:pPr>
              <a:defRPr sz="2550" b="0">
                <a:solidFill>
                  <a:srgbClr val="3C4043"/>
                </a:solidFill>
                <a:latin typeface="Consolas"/>
                <a:ea typeface="Consolas"/>
                <a:cs typeface="Consolas"/>
              </a:defRPr>
            </a:pPr>
            <a:r>
              <a:rPr sz="2550" b="0">
                <a:solidFill>
                  <a:srgbClr val="3C4043"/>
                </a:solidFill>
                <a:latin typeface="Consolas"/>
                <a:ea typeface="Consolas"/>
                <a:cs typeface="Consolas"/>
              </a:rPr>
              <a:t>  AND customer_id = 42;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95E460-AA23-456F-B12D-D0CA90652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72125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4285F4"/>
                </a:solidFill>
                <a:latin typeface="Arial"/>
                <a:ea typeface="Arial"/>
                <a:cs typeface="Arial"/>
              </a:defRPr>
            </a:defPPr>
            <a:lvl1pPr>
              <a:defRPr sz="2400" b="0">
                <a:solidFill>
                  <a:srgbClr val="4285F4"/>
                </a:solidFill>
                <a:latin typeface="Arial"/>
                <a:ea typeface="Arial"/>
                <a:cs typeface="Arial"/>
              </a:defRPr>
            </a:lvl1pPr>
            <a:lvl2pPr>
              <a:defRPr sz="2400" b="0">
                <a:solidFill>
                  <a:srgbClr val="4285F4"/>
                </a:solidFill>
                <a:latin typeface="Arial"/>
                <a:ea typeface="Arial"/>
                <a:cs typeface="Arial"/>
              </a:defRPr>
            </a:lvl2pPr>
            <a:lvl3pPr>
              <a:defRPr sz="2400" b="0">
                <a:solidFill>
                  <a:srgbClr val="4285F4"/>
                </a:solidFill>
                <a:latin typeface="Arial"/>
                <a:ea typeface="Arial"/>
                <a:cs typeface="Arial"/>
              </a:defRPr>
            </a:lvl3pPr>
            <a:lvl4pPr>
              <a:defRPr sz="2400" b="0">
                <a:solidFill>
                  <a:srgbClr val="4285F4"/>
                </a:solidFill>
                <a:latin typeface="Arial"/>
                <a:ea typeface="Arial"/>
                <a:cs typeface="Arial"/>
              </a:defRPr>
            </a:lvl4pPr>
            <a:lvl5pPr>
              <a:defRPr sz="2400" b="0">
                <a:solidFill>
                  <a:srgbClr val="4285F4"/>
                </a:solidFill>
                <a:latin typeface="Arial"/>
                <a:ea typeface="Arial"/>
                <a:cs typeface="Arial"/>
              </a:defRPr>
            </a:lvl5pPr>
            <a:lvl6pPr>
              <a:defRPr sz="2400" b="0">
                <a:solidFill>
                  <a:srgbClr val="4285F4"/>
                </a:solidFill>
                <a:latin typeface="Arial"/>
                <a:ea typeface="Arial"/>
                <a:cs typeface="Arial"/>
              </a:defRPr>
            </a:lvl6pPr>
            <a:lvl7pPr>
              <a:defRPr sz="2400" b="0">
                <a:solidFill>
                  <a:srgbClr val="4285F4"/>
                </a:solidFill>
                <a:latin typeface="Arial"/>
                <a:ea typeface="Arial"/>
                <a:cs typeface="Arial"/>
              </a:defRPr>
            </a:lvl7pPr>
            <a:lvl8pPr>
              <a:defRPr sz="2400" b="0">
                <a:solidFill>
                  <a:srgbClr val="4285F4"/>
                </a:solidFill>
                <a:latin typeface="Arial"/>
                <a:ea typeface="Arial"/>
                <a:cs typeface="Arial"/>
              </a:defRPr>
            </a:lvl8pPr>
            <a:lvl9pPr>
              <a:defRPr sz="2400" b="0">
                <a:solidFill>
                  <a:srgbClr val="4285F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4285F4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4285F4"/>
                </a:solidFill>
                <a:latin typeface="Arial"/>
                <a:ea typeface="Arial"/>
                <a:cs typeface="Arial"/>
              </a:rPr>
              <a:t>Date filter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A6F1DA-BA6D-429F-8B85-59B8238C1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572125"/>
            <a:ext cx="857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3C4043"/>
                </a:solidFill>
                <a:latin typeface="Arial"/>
                <a:ea typeface="Arial"/>
                <a:cs typeface="Arial"/>
              </a:rPr>
              <a:t>Skips unrelated date partitions.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A0F06C-7A3F-4D83-BC9E-B41CE0523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86500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4285F4"/>
                </a:solidFill>
                <a:latin typeface="Arial"/>
                <a:ea typeface="Arial"/>
                <a:cs typeface="Arial"/>
              </a:defRPr>
            </a:defPPr>
            <a:lvl1pPr>
              <a:defRPr sz="2400" b="0">
                <a:solidFill>
                  <a:srgbClr val="4285F4"/>
                </a:solidFill>
                <a:latin typeface="Arial"/>
                <a:ea typeface="Arial"/>
                <a:cs typeface="Arial"/>
              </a:defRPr>
            </a:lvl1pPr>
            <a:lvl2pPr>
              <a:defRPr sz="2400" b="0">
                <a:solidFill>
                  <a:srgbClr val="4285F4"/>
                </a:solidFill>
                <a:latin typeface="Arial"/>
                <a:ea typeface="Arial"/>
                <a:cs typeface="Arial"/>
              </a:defRPr>
            </a:lvl2pPr>
            <a:lvl3pPr>
              <a:defRPr sz="2400" b="0">
                <a:solidFill>
                  <a:srgbClr val="4285F4"/>
                </a:solidFill>
                <a:latin typeface="Arial"/>
                <a:ea typeface="Arial"/>
                <a:cs typeface="Arial"/>
              </a:defRPr>
            </a:lvl3pPr>
            <a:lvl4pPr>
              <a:defRPr sz="2400" b="0">
                <a:solidFill>
                  <a:srgbClr val="4285F4"/>
                </a:solidFill>
                <a:latin typeface="Arial"/>
                <a:ea typeface="Arial"/>
                <a:cs typeface="Arial"/>
              </a:defRPr>
            </a:lvl4pPr>
            <a:lvl5pPr>
              <a:defRPr sz="2400" b="0">
                <a:solidFill>
                  <a:srgbClr val="4285F4"/>
                </a:solidFill>
                <a:latin typeface="Arial"/>
                <a:ea typeface="Arial"/>
                <a:cs typeface="Arial"/>
              </a:defRPr>
            </a:lvl5pPr>
            <a:lvl6pPr>
              <a:defRPr sz="2400" b="0">
                <a:solidFill>
                  <a:srgbClr val="4285F4"/>
                </a:solidFill>
                <a:latin typeface="Arial"/>
                <a:ea typeface="Arial"/>
                <a:cs typeface="Arial"/>
              </a:defRPr>
            </a:lvl6pPr>
            <a:lvl7pPr>
              <a:defRPr sz="2400" b="0">
                <a:solidFill>
                  <a:srgbClr val="4285F4"/>
                </a:solidFill>
                <a:latin typeface="Arial"/>
                <a:ea typeface="Arial"/>
                <a:cs typeface="Arial"/>
              </a:defRPr>
            </a:lvl7pPr>
            <a:lvl8pPr>
              <a:defRPr sz="2400" b="0">
                <a:solidFill>
                  <a:srgbClr val="4285F4"/>
                </a:solidFill>
                <a:latin typeface="Arial"/>
                <a:ea typeface="Arial"/>
                <a:cs typeface="Arial"/>
              </a:defRPr>
            </a:lvl8pPr>
            <a:lvl9pPr>
              <a:defRPr sz="2400" b="0">
                <a:solidFill>
                  <a:srgbClr val="4285F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4285F4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4285F4"/>
                </a:solidFill>
                <a:latin typeface="Arial"/>
                <a:ea typeface="Arial"/>
                <a:cs typeface="Arial"/>
              </a:rPr>
              <a:t>Customer filter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81B42D-94AB-4943-ACAF-9B1687ED1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6286500"/>
            <a:ext cx="857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3C4043"/>
                </a:solidFill>
                <a:latin typeface="Arial"/>
                <a:ea typeface="Arial"/>
                <a:cs typeface="Arial"/>
              </a:rPr>
              <a:t>Can skip unrelated blocks within the selected partition.</a:t>
            </a:r>
          </a:p>
        </p:txBody>
      </p:sp>
    </p:spTree>
    <p:extLst>
      <p:ext uri="{BB962C8B-B14F-4D97-AF65-F5344CB8AC3E}">
        <p14:creationId xmlns:p14="http://schemas.microsoft.com/office/powerpoint/2010/main" val="192655852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F9B5CF-C559-4FB5-95F1-1CAE0CE9C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2000"/>
            <a:ext cx="12192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>
              <a:defRPr sz="36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>
              <a:defRPr sz="36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>
              <a:defRPr sz="36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>
              <a:defRPr sz="36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>
              <a:defRPr sz="36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>
              <a:defRPr sz="36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>
              <a:defRPr sz="36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>
              <a:defRPr sz="36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>
              <a:defRPr sz="36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BigQuery ML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7D4D2E-4BB7-41F7-82F9-FAB0EDBA8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91375"/>
            <a:ext cx="571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AA0A6"/>
                </a:solidFill>
                <a:latin typeface="Arial"/>
                <a:ea typeface="Arial"/>
                <a:cs typeface="Arial"/>
              </a:rPr>
              <a:t>CSG221  /  Unit VI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BD0706-076A-427B-8390-1C3919406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7191375"/>
            <a:ext cx="266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AA0A6"/>
                </a:solidFill>
                <a:latin typeface="Arial"/>
                <a:ea typeface="Arial"/>
                <a:cs typeface="Arial"/>
              </a:rPr>
              <a:t>Managed Services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295D14-EC36-4AD4-BB8D-E376641B6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314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3C4043"/>
                </a:solidFill>
                <a:latin typeface="Arial"/>
                <a:ea typeface="Arial"/>
                <a:cs typeface="Arial"/>
              </a:rPr>
              <a:t>Purpose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8A5375-3759-49F9-AD3C-3B43AE14F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095500"/>
            <a:ext cx="857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3C4043"/>
                </a:solidFill>
                <a:latin typeface="Arial"/>
                <a:ea typeface="Arial"/>
                <a:cs typeface="Arial"/>
              </a:rPr>
              <a:t>Build supported ML models using SQL and data in BigQuery.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982989-AB0A-482D-8060-6038D3DC5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62300"/>
            <a:ext cx="314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3C4043"/>
                </a:solidFill>
                <a:latin typeface="Arial"/>
                <a:ea typeface="Arial"/>
                <a:cs typeface="Arial"/>
              </a:rPr>
              <a:t>Training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7D85A7-995F-4D07-B60B-240E8F8C0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162300"/>
            <a:ext cx="857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3C4043"/>
                </a:solidFill>
                <a:latin typeface="Arial"/>
                <a:ea typeface="Arial"/>
                <a:cs typeface="Arial"/>
              </a:rPr>
              <a:t>CREATE MODEL learns patterns from a training table.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F38AE3-3660-414A-BE6A-E9CB438A1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29100"/>
            <a:ext cx="314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3C4043"/>
                </a:solidFill>
                <a:latin typeface="Arial"/>
                <a:ea typeface="Arial"/>
                <a:cs typeface="Arial"/>
              </a:rPr>
              <a:t>Evaluation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E780A5-44C1-4CF6-A523-0B52DBCE7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229100"/>
            <a:ext cx="857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3C4043"/>
                </a:solidFill>
                <a:latin typeface="Arial"/>
                <a:ea typeface="Arial"/>
                <a:cs typeface="Arial"/>
              </a:rPr>
              <a:t>ML.EVALUATE checks a model with suitable evaluation data.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0E8ED4-0BAA-41A0-B61E-082898FE2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95900"/>
            <a:ext cx="314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3C4043"/>
                </a:solidFill>
                <a:latin typeface="Arial"/>
                <a:ea typeface="Arial"/>
                <a:cs typeface="Arial"/>
              </a:rPr>
              <a:t>Prediction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1C4FD6-A057-464A-B60F-E1918B6C0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295900"/>
            <a:ext cx="857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3C4043"/>
                </a:solidFill>
                <a:latin typeface="Arial"/>
                <a:ea typeface="Arial"/>
                <a:cs typeface="Arial"/>
              </a:rPr>
              <a:t>ML.PREDICT applies a trained model to new input rows.</a:t>
            </a:r>
          </a:p>
        </p:txBody>
      </p:sp>
    </p:spTree>
    <p:extLst>
      <p:ext uri="{BB962C8B-B14F-4D97-AF65-F5344CB8AC3E}">
        <p14:creationId xmlns:p14="http://schemas.microsoft.com/office/powerpoint/2010/main" val="155212902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A9E783-D8FE-4268-A785-56216C851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2000"/>
            <a:ext cx="12192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>
              <a:defRPr sz="36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>
              <a:defRPr sz="36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>
              <a:defRPr sz="36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>
              <a:defRPr sz="36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>
              <a:defRPr sz="36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>
              <a:defRPr sz="36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>
              <a:defRPr sz="36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>
              <a:defRPr sz="36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>
              <a:defRPr sz="36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 brief BigQuery ML example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AF7E08-504B-4D2A-A5FA-5EC4489CC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91375"/>
            <a:ext cx="571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AA0A6"/>
                </a:solidFill>
                <a:latin typeface="Arial"/>
                <a:ea typeface="Arial"/>
                <a:cs typeface="Arial"/>
              </a:rPr>
              <a:t>CSG221  /  Unit VI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232FEE-5ED1-421C-9D45-6CABDA5B4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7191375"/>
            <a:ext cx="266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AA0A6"/>
                </a:solidFill>
                <a:latin typeface="Arial"/>
                <a:ea typeface="Arial"/>
                <a:cs typeface="Arial"/>
              </a:rPr>
              <a:t>Managed Services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E28506-527B-4489-8665-498B4D66D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8382000" cy="442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3C4043"/>
                </a:solidFill>
                <a:latin typeface="Consolas"/>
                <a:ea typeface="Consolas"/>
                <a:cs typeface="Consolas"/>
              </a:defRPr>
            </a:defPPr>
            <a:lvl1pPr>
              <a:defRPr sz="2100" b="0">
                <a:solidFill>
                  <a:srgbClr val="3C4043"/>
                </a:solidFill>
                <a:latin typeface="Consolas"/>
                <a:ea typeface="Consolas"/>
                <a:cs typeface="Consolas"/>
              </a:defRPr>
            </a:lvl1pPr>
            <a:lvl2pPr>
              <a:defRPr sz="2100" b="0">
                <a:solidFill>
                  <a:srgbClr val="3C4043"/>
                </a:solidFill>
                <a:latin typeface="Consolas"/>
                <a:ea typeface="Consolas"/>
                <a:cs typeface="Consolas"/>
              </a:defRPr>
            </a:lvl2pPr>
            <a:lvl3pPr>
              <a:defRPr sz="2100" b="0">
                <a:solidFill>
                  <a:srgbClr val="3C4043"/>
                </a:solidFill>
                <a:latin typeface="Consolas"/>
                <a:ea typeface="Consolas"/>
                <a:cs typeface="Consolas"/>
              </a:defRPr>
            </a:lvl3pPr>
            <a:lvl4pPr>
              <a:defRPr sz="2100" b="0">
                <a:solidFill>
                  <a:srgbClr val="3C4043"/>
                </a:solidFill>
                <a:latin typeface="Consolas"/>
                <a:ea typeface="Consolas"/>
                <a:cs typeface="Consolas"/>
              </a:defRPr>
            </a:lvl4pPr>
            <a:lvl5pPr>
              <a:defRPr sz="2100" b="0">
                <a:solidFill>
                  <a:srgbClr val="3C4043"/>
                </a:solidFill>
                <a:latin typeface="Consolas"/>
                <a:ea typeface="Consolas"/>
                <a:cs typeface="Consolas"/>
              </a:defRPr>
            </a:lvl5pPr>
            <a:lvl6pPr>
              <a:defRPr sz="2100" b="0">
                <a:solidFill>
                  <a:srgbClr val="3C4043"/>
                </a:solidFill>
                <a:latin typeface="Consolas"/>
                <a:ea typeface="Consolas"/>
                <a:cs typeface="Consolas"/>
              </a:defRPr>
            </a:lvl6pPr>
            <a:lvl7pPr>
              <a:defRPr sz="2100" b="0">
                <a:solidFill>
                  <a:srgbClr val="3C4043"/>
                </a:solidFill>
                <a:latin typeface="Consolas"/>
                <a:ea typeface="Consolas"/>
                <a:cs typeface="Consolas"/>
              </a:defRPr>
            </a:lvl7pPr>
            <a:lvl8pPr>
              <a:defRPr sz="2100" b="0">
                <a:solidFill>
                  <a:srgbClr val="3C4043"/>
                </a:solidFill>
                <a:latin typeface="Consolas"/>
                <a:ea typeface="Consolas"/>
                <a:cs typeface="Consolas"/>
              </a:defRPr>
            </a:lvl8pPr>
            <a:lvl9pPr>
              <a:defRPr sz="2100" b="0">
                <a:solidFill>
                  <a:srgbClr val="3C4043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3C4043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3C4043"/>
                </a:solidFill>
                <a:latin typeface="Consolas"/>
                <a:ea typeface="Consolas"/>
                <a:cs typeface="Consolas"/>
              </a:rPr>
              <a:t>CREATE MODEL `demo.sales_model`</a:t>
            </a:r>
          </a:p>
          <a:p xmlns:a="http://schemas.openxmlformats.org/drawingml/2006/main">
            <a:pPr>
              <a:defRPr sz="2100" b="0">
                <a:solidFill>
                  <a:srgbClr val="3C4043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3C4043"/>
                </a:solidFill>
                <a:latin typeface="Consolas"/>
                <a:ea typeface="Consolas"/>
                <a:cs typeface="Consolas"/>
              </a:rPr>
              <a:t>OPTIONS(</a:t>
            </a:r>
          </a:p>
          <a:p xmlns:a="http://schemas.openxmlformats.org/drawingml/2006/main">
            <a:pPr>
              <a:defRPr sz="2100" b="0">
                <a:solidFill>
                  <a:srgbClr val="3C4043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3C4043"/>
                </a:solidFill>
                <a:latin typeface="Consolas"/>
                <a:ea typeface="Consolas"/>
                <a:cs typeface="Consolas"/>
              </a:rPr>
              <a:t>  model_type = 'linear_reg',</a:t>
            </a:r>
          </a:p>
          <a:p xmlns:a="http://schemas.openxmlformats.org/drawingml/2006/main">
            <a:pPr>
              <a:defRPr sz="2100" b="0">
                <a:solidFill>
                  <a:srgbClr val="3C4043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3C4043"/>
                </a:solidFill>
                <a:latin typeface="Consolas"/>
                <a:ea typeface="Consolas"/>
                <a:cs typeface="Consolas"/>
              </a:rPr>
              <a:t>  input_label_cols = ['sales']</a:t>
            </a:r>
          </a:p>
          <a:p xmlns:a="http://schemas.openxmlformats.org/drawingml/2006/main">
            <a:pPr>
              <a:defRPr sz="2100" b="0">
                <a:solidFill>
                  <a:srgbClr val="3C4043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3C4043"/>
                </a:solidFill>
                <a:latin typeface="Consolas"/>
                <a:ea typeface="Consolas"/>
                <a:cs typeface="Consolas"/>
              </a:rPr>
              <a:t>) AS</a:t>
            </a:r>
          </a:p>
          <a:p xmlns:a="http://schemas.openxmlformats.org/drawingml/2006/main">
            <a:pPr>
              <a:defRPr sz="2100" b="0">
                <a:solidFill>
                  <a:srgbClr val="3C4043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3C4043"/>
                </a:solidFill>
                <a:latin typeface="Consolas"/>
                <a:ea typeface="Consolas"/>
                <a:cs typeface="Consolas"/>
              </a:rPr>
              <a:t>SELECT ad_spend, sales</a:t>
            </a:r>
          </a:p>
          <a:p xmlns:a="http://schemas.openxmlformats.org/drawingml/2006/main">
            <a:pPr>
              <a:defRPr sz="2100" b="0">
                <a:solidFill>
                  <a:srgbClr val="3C4043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3C4043"/>
                </a:solidFill>
                <a:latin typeface="Consolas"/>
                <a:ea typeface="Consolas"/>
                <a:cs typeface="Consolas"/>
              </a:rPr>
              <a:t>FROM `demo.training_sales`;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3C4043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3C4043"/>
                </a:solidFill>
                <a:latin typeface="Consolas"/>
                <a:ea typeface="Consolas"/>
                <a:cs typeface="Consolas"/>
              </a:rPr>
              <a:t>SELECT *</a:t>
            </a:r>
          </a:p>
          <a:p xmlns:a="http://schemas.openxmlformats.org/drawingml/2006/main">
            <a:pPr>
              <a:defRPr sz="2100" b="0">
                <a:solidFill>
                  <a:srgbClr val="3C4043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3C4043"/>
                </a:solidFill>
                <a:latin typeface="Consolas"/>
                <a:ea typeface="Consolas"/>
                <a:cs typeface="Consolas"/>
              </a:rPr>
              <a:t>FROM ML.PREDICT(</a:t>
            </a:r>
          </a:p>
          <a:p xmlns:a="http://schemas.openxmlformats.org/drawingml/2006/main">
            <a:pPr>
              <a:defRPr sz="2100" b="0">
                <a:solidFill>
                  <a:srgbClr val="3C4043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3C4043"/>
                </a:solidFill>
                <a:latin typeface="Consolas"/>
                <a:ea typeface="Consolas"/>
                <a:cs typeface="Consolas"/>
              </a:rPr>
              <a:t>  MODEL `demo.sales_model`,</a:t>
            </a:r>
          </a:p>
          <a:p xmlns:a="http://schemas.openxmlformats.org/drawingml/2006/main">
            <a:pPr>
              <a:defRPr sz="2100" b="0">
                <a:solidFill>
                  <a:srgbClr val="3C4043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3C4043"/>
                </a:solidFill>
                <a:latin typeface="Consolas"/>
                <a:ea typeface="Consolas"/>
                <a:cs typeface="Consolas"/>
              </a:rPr>
              <a:t>  (SELECT 500.0 AS ad_spend)</a:t>
            </a:r>
          </a:p>
          <a:p xmlns:a="http://schemas.openxmlformats.org/drawingml/2006/main">
            <a:pPr>
              <a:defRPr sz="2100" b="0">
                <a:solidFill>
                  <a:srgbClr val="3C4043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3C4043"/>
                </a:solidFill>
                <a:latin typeface="Consolas"/>
                <a:ea typeface="Consolas"/>
                <a:cs typeface="Consolas"/>
              </a:rPr>
              <a:t>);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375AF7-D6AA-4A27-8960-2AD3CDCF2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238375"/>
            <a:ext cx="333375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3C4043"/>
                </a:solidFill>
                <a:latin typeface="Arial"/>
                <a:ea typeface="Arial"/>
                <a:cs typeface="Arial"/>
              </a:rPr>
              <a:t>Training</a:t>
            </a:r>
          </a:p>
          <a:p xmlns:a="http://schemas.openxmlformats.org/drawingml/2006/main">
            <a:pPr>
              <a:defRPr sz="2025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3C4043"/>
                </a:solidFill>
                <a:latin typeface="Arial"/>
                <a:ea typeface="Arial"/>
                <a:cs typeface="Arial"/>
              </a:rPr>
              <a:t>Learn a relationship between</a:t>
            </a:r>
          </a:p>
          <a:p xmlns:a="http://schemas.openxmlformats.org/drawingml/2006/main">
            <a:pPr>
              <a:defRPr sz="2025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3C4043"/>
                </a:solidFill>
                <a:latin typeface="Arial"/>
                <a:ea typeface="Arial"/>
                <a:cs typeface="Arial"/>
              </a:rPr>
              <a:t>ad spend and sales.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3C4043"/>
                </a:solidFill>
                <a:latin typeface="Arial"/>
                <a:ea typeface="Arial"/>
                <a:cs typeface="Arial"/>
              </a:rPr>
              <a:t>Prediction</a:t>
            </a:r>
          </a:p>
          <a:p xmlns:a="http://schemas.openxmlformats.org/drawingml/2006/main">
            <a:pPr>
              <a:defRPr sz="2025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3C4043"/>
                </a:solidFill>
                <a:latin typeface="Arial"/>
                <a:ea typeface="Arial"/>
                <a:cs typeface="Arial"/>
              </a:rPr>
              <a:t>Estimate sales for a new</a:t>
            </a:r>
          </a:p>
          <a:p xmlns:a="http://schemas.openxmlformats.org/drawingml/2006/main">
            <a:pPr>
              <a:defRPr sz="2025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3C4043"/>
                </a:solidFill>
                <a:latin typeface="Arial"/>
                <a:ea typeface="Arial"/>
                <a:cs typeface="Arial"/>
              </a:rPr>
              <a:t>ad-spend value.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B1C6EE-237D-4851-8BE8-05F24B71D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572250"/>
            <a:ext cx="12001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3C4043"/>
                </a:solidFill>
                <a:latin typeface="Arial"/>
                <a:ea typeface="Arial"/>
                <a:cs typeface="Arial"/>
              </a:rPr>
              <a:t>The trained model stays available in BigQuery for SQL predictions.</a:t>
            </a:r>
          </a:p>
        </p:txBody>
      </p:sp>
    </p:spTree>
    <p:extLst>
      <p:ext uri="{BB962C8B-B14F-4D97-AF65-F5344CB8AC3E}">
        <p14:creationId xmlns:p14="http://schemas.microsoft.com/office/powerpoint/2010/main" val="1601380577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15E5A7-91EE-4C33-8352-5843F9BED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2000"/>
            <a:ext cx="12192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>
              <a:defRPr sz="36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>
              <a:defRPr sz="36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>
              <a:defRPr sz="36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>
              <a:defRPr sz="36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>
              <a:defRPr sz="36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>
              <a:defRPr sz="36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>
              <a:defRPr sz="36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>
              <a:defRPr sz="36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>
              <a:defRPr sz="36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Example: evaluate before using predictions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EF376D-7394-44A7-B29E-B82C604DC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91375"/>
            <a:ext cx="571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AA0A6"/>
                </a:solidFill>
                <a:latin typeface="Arial"/>
                <a:ea typeface="Arial"/>
                <a:cs typeface="Arial"/>
              </a:rPr>
              <a:t>CSG221  /  Unit VI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05167D-67BE-4940-8CDF-E513630FD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7191375"/>
            <a:ext cx="266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9AA0A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AA0A6"/>
                </a:solidFill>
                <a:latin typeface="Arial"/>
                <a:ea typeface="Arial"/>
                <a:cs typeface="Arial"/>
              </a:rPr>
              <a:t>Managed Services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D4B0AD-7153-4B30-9110-28484F836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90750"/>
            <a:ext cx="80962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3C4043"/>
                </a:solidFill>
                <a:latin typeface="Consolas"/>
                <a:ea typeface="Consolas"/>
                <a:cs typeface="Consolas"/>
              </a:defRPr>
            </a:defPPr>
            <a:lvl1pPr>
              <a:defRPr sz="2250" b="0">
                <a:solidFill>
                  <a:srgbClr val="3C4043"/>
                </a:solidFill>
                <a:latin typeface="Consolas"/>
                <a:ea typeface="Consolas"/>
                <a:cs typeface="Consolas"/>
              </a:defRPr>
            </a:lvl1pPr>
            <a:lvl2pPr>
              <a:defRPr sz="2250" b="0">
                <a:solidFill>
                  <a:srgbClr val="3C4043"/>
                </a:solidFill>
                <a:latin typeface="Consolas"/>
                <a:ea typeface="Consolas"/>
                <a:cs typeface="Consolas"/>
              </a:defRPr>
            </a:lvl2pPr>
            <a:lvl3pPr>
              <a:defRPr sz="2250" b="0">
                <a:solidFill>
                  <a:srgbClr val="3C4043"/>
                </a:solidFill>
                <a:latin typeface="Consolas"/>
                <a:ea typeface="Consolas"/>
                <a:cs typeface="Consolas"/>
              </a:defRPr>
            </a:lvl3pPr>
            <a:lvl4pPr>
              <a:defRPr sz="2250" b="0">
                <a:solidFill>
                  <a:srgbClr val="3C4043"/>
                </a:solidFill>
                <a:latin typeface="Consolas"/>
                <a:ea typeface="Consolas"/>
                <a:cs typeface="Consolas"/>
              </a:defRPr>
            </a:lvl4pPr>
            <a:lvl5pPr>
              <a:defRPr sz="2250" b="0">
                <a:solidFill>
                  <a:srgbClr val="3C4043"/>
                </a:solidFill>
                <a:latin typeface="Consolas"/>
                <a:ea typeface="Consolas"/>
                <a:cs typeface="Consolas"/>
              </a:defRPr>
            </a:lvl5pPr>
            <a:lvl6pPr>
              <a:defRPr sz="2250" b="0">
                <a:solidFill>
                  <a:srgbClr val="3C4043"/>
                </a:solidFill>
                <a:latin typeface="Consolas"/>
                <a:ea typeface="Consolas"/>
                <a:cs typeface="Consolas"/>
              </a:defRPr>
            </a:lvl6pPr>
            <a:lvl7pPr>
              <a:defRPr sz="2250" b="0">
                <a:solidFill>
                  <a:srgbClr val="3C4043"/>
                </a:solidFill>
                <a:latin typeface="Consolas"/>
                <a:ea typeface="Consolas"/>
                <a:cs typeface="Consolas"/>
              </a:defRPr>
            </a:lvl7pPr>
            <a:lvl8pPr>
              <a:defRPr sz="2250" b="0">
                <a:solidFill>
                  <a:srgbClr val="3C4043"/>
                </a:solidFill>
                <a:latin typeface="Consolas"/>
                <a:ea typeface="Consolas"/>
                <a:cs typeface="Consolas"/>
              </a:defRPr>
            </a:lvl8pPr>
            <a:lvl9pPr>
              <a:defRPr sz="2250" b="0">
                <a:solidFill>
                  <a:srgbClr val="3C4043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3C4043"/>
                </a:solidFill>
                <a:latin typeface="Consolas"/>
                <a:ea typeface="Consolas"/>
                <a:cs typeface="Consolas"/>
              </a:defRPr>
            </a:pPr>
            <a:r>
              <a:rPr sz="2250" b="0">
                <a:solidFill>
                  <a:srgbClr val="3C4043"/>
                </a:solidFill>
                <a:latin typeface="Consolas"/>
                <a:ea typeface="Consolas"/>
                <a:cs typeface="Consolas"/>
              </a:rPr>
              <a:t>SELECT *</a:t>
            </a:r>
          </a:p>
          <a:p xmlns:a="http://schemas.openxmlformats.org/drawingml/2006/main">
            <a:pPr>
              <a:defRPr sz="2250" b="0">
                <a:solidFill>
                  <a:srgbClr val="3C4043"/>
                </a:solidFill>
                <a:latin typeface="Consolas"/>
                <a:ea typeface="Consolas"/>
                <a:cs typeface="Consolas"/>
              </a:defRPr>
            </a:pPr>
            <a:r>
              <a:rPr sz="2250" b="0">
                <a:solidFill>
                  <a:srgbClr val="3C4043"/>
                </a:solidFill>
                <a:latin typeface="Consolas"/>
                <a:ea typeface="Consolas"/>
                <a:cs typeface="Consolas"/>
              </a:rPr>
              <a:t>FROM ML.EVALUATE(</a:t>
            </a:r>
          </a:p>
          <a:p xmlns:a="http://schemas.openxmlformats.org/drawingml/2006/main">
            <a:pPr>
              <a:defRPr sz="2250" b="0">
                <a:solidFill>
                  <a:srgbClr val="3C4043"/>
                </a:solidFill>
                <a:latin typeface="Consolas"/>
                <a:ea typeface="Consolas"/>
                <a:cs typeface="Consolas"/>
              </a:defRPr>
            </a:pPr>
            <a:r>
              <a:rPr sz="2250" b="0">
                <a:solidFill>
                  <a:srgbClr val="3C4043"/>
                </a:solidFill>
                <a:latin typeface="Consolas"/>
                <a:ea typeface="Consolas"/>
                <a:cs typeface="Consolas"/>
              </a:rPr>
              <a:t>  MODEL `demo.sales_model`,</a:t>
            </a:r>
          </a:p>
          <a:p xmlns:a="http://schemas.openxmlformats.org/drawingml/2006/main">
            <a:pPr>
              <a:defRPr sz="2250" b="0">
                <a:solidFill>
                  <a:srgbClr val="3C4043"/>
                </a:solidFill>
                <a:latin typeface="Consolas"/>
                <a:ea typeface="Consolas"/>
                <a:cs typeface="Consolas"/>
              </a:defRPr>
            </a:pPr>
            <a:r>
              <a:rPr sz="2250" b="0">
                <a:solidFill>
                  <a:srgbClr val="3C4043"/>
                </a:solidFill>
                <a:latin typeface="Consolas"/>
                <a:ea typeface="Consolas"/>
                <a:cs typeface="Consolas"/>
              </a:rPr>
              <a:t>  (SELECT ad_spend, sales</a:t>
            </a:r>
          </a:p>
          <a:p xmlns:a="http://schemas.openxmlformats.org/drawingml/2006/main">
            <a:pPr>
              <a:defRPr sz="2250" b="0">
                <a:solidFill>
                  <a:srgbClr val="3C4043"/>
                </a:solidFill>
                <a:latin typeface="Consolas"/>
                <a:ea typeface="Consolas"/>
                <a:cs typeface="Consolas"/>
              </a:defRPr>
            </a:pPr>
            <a:r>
              <a:rPr sz="2250" b="0">
                <a:solidFill>
                  <a:srgbClr val="3C4043"/>
                </a:solidFill>
                <a:latin typeface="Consolas"/>
                <a:ea typeface="Consolas"/>
                <a:cs typeface="Consolas"/>
              </a:rPr>
              <a:t>   FROM `demo.test_sales`)</a:t>
            </a:r>
          </a:p>
          <a:p xmlns:a="http://schemas.openxmlformats.org/drawingml/2006/main">
            <a:pPr>
              <a:defRPr sz="2250" b="0">
                <a:solidFill>
                  <a:srgbClr val="3C4043"/>
                </a:solidFill>
                <a:latin typeface="Consolas"/>
                <a:ea typeface="Consolas"/>
                <a:cs typeface="Consolas"/>
              </a:defRPr>
            </a:pPr>
            <a:r>
              <a:rPr sz="2250" b="0">
                <a:solidFill>
                  <a:srgbClr val="3C4043"/>
                </a:solidFill>
                <a:latin typeface="Consolas"/>
                <a:ea typeface="Consolas"/>
                <a:cs typeface="Consolas"/>
              </a:rPr>
              <a:t>);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8E6B0D-AF4B-4C00-B7C2-AC850B992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190750"/>
            <a:ext cx="3524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>
              <a:defRPr sz="25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>
              <a:defRPr sz="25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>
              <a:defRPr sz="25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>
              <a:defRPr sz="25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>
              <a:defRPr sz="25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>
              <a:defRPr sz="25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>
              <a:defRPr sz="25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>
              <a:defRPr sz="25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>
              <a:defRPr sz="25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Held-out test 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29E44C-49EB-4C6F-B990-FC54817DF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286125"/>
            <a:ext cx="3524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3C4043"/>
                </a:solidFill>
                <a:latin typeface="Arial"/>
                <a:ea typeface="Arial"/>
                <a:cs typeface="Arial"/>
              </a:rPr>
              <a:t>Use rows separate from training to check how well the model predicts unseen data.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075819-3793-4DDD-A7AF-894F3D93D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24500"/>
            <a:ext cx="11430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4285F4"/>
                </a:solidFill>
                <a:latin typeface="Arial"/>
                <a:ea typeface="Arial"/>
                <a:cs typeface="Arial"/>
              </a:defRPr>
            </a:defPPr>
            <a:lvl1pPr>
              <a:defRPr sz="2550" b="0">
                <a:solidFill>
                  <a:srgbClr val="4285F4"/>
                </a:solidFill>
                <a:latin typeface="Arial"/>
                <a:ea typeface="Arial"/>
                <a:cs typeface="Arial"/>
              </a:defRPr>
            </a:lvl1pPr>
            <a:lvl2pPr>
              <a:defRPr sz="2550" b="0">
                <a:solidFill>
                  <a:srgbClr val="4285F4"/>
                </a:solidFill>
                <a:latin typeface="Arial"/>
                <a:ea typeface="Arial"/>
                <a:cs typeface="Arial"/>
              </a:defRPr>
            </a:lvl2pPr>
            <a:lvl3pPr>
              <a:defRPr sz="2550" b="0">
                <a:solidFill>
                  <a:srgbClr val="4285F4"/>
                </a:solidFill>
                <a:latin typeface="Arial"/>
                <a:ea typeface="Arial"/>
                <a:cs typeface="Arial"/>
              </a:defRPr>
            </a:lvl3pPr>
            <a:lvl4pPr>
              <a:defRPr sz="2550" b="0">
                <a:solidFill>
                  <a:srgbClr val="4285F4"/>
                </a:solidFill>
                <a:latin typeface="Arial"/>
                <a:ea typeface="Arial"/>
                <a:cs typeface="Arial"/>
              </a:defRPr>
            </a:lvl4pPr>
            <a:lvl5pPr>
              <a:defRPr sz="2550" b="0">
                <a:solidFill>
                  <a:srgbClr val="4285F4"/>
                </a:solidFill>
                <a:latin typeface="Arial"/>
                <a:ea typeface="Arial"/>
                <a:cs typeface="Arial"/>
              </a:defRPr>
            </a:lvl5pPr>
            <a:lvl6pPr>
              <a:defRPr sz="2550" b="0">
                <a:solidFill>
                  <a:srgbClr val="4285F4"/>
                </a:solidFill>
                <a:latin typeface="Arial"/>
                <a:ea typeface="Arial"/>
                <a:cs typeface="Arial"/>
              </a:defRPr>
            </a:lvl6pPr>
            <a:lvl7pPr>
              <a:defRPr sz="2550" b="0">
                <a:solidFill>
                  <a:srgbClr val="4285F4"/>
                </a:solidFill>
                <a:latin typeface="Arial"/>
                <a:ea typeface="Arial"/>
                <a:cs typeface="Arial"/>
              </a:defRPr>
            </a:lvl7pPr>
            <a:lvl8pPr>
              <a:defRPr sz="2550" b="0">
                <a:solidFill>
                  <a:srgbClr val="4285F4"/>
                </a:solidFill>
                <a:latin typeface="Arial"/>
                <a:ea typeface="Arial"/>
                <a:cs typeface="Arial"/>
              </a:defRPr>
            </a:lvl8pPr>
            <a:lvl9pPr>
              <a:defRPr sz="2550" b="0">
                <a:solidFill>
                  <a:srgbClr val="4285F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4285F4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4285F4"/>
                </a:solidFill>
                <a:latin typeface="Arial"/>
                <a:ea typeface="Arial"/>
                <a:cs typeface="Arial"/>
              </a:rPr>
              <a:t>Interpreting the result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C3CACF-872A-464C-8769-09825FB49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43625"/>
            <a:ext cx="12096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3C4043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3C4043"/>
                </a:solidFill>
                <a:latin typeface="Arial"/>
                <a:ea typeface="Arial"/>
                <a:cs typeface="Arial"/>
              </a:rPr>
              <a:t>For regression, error metrics compare predicted sales with actual sales. Lower error is generally better when comparing models on the same test data.</a:t>
            </a:r>
          </a:p>
        </p:txBody>
      </p:sp>
    </p:spTree>
    <p:extLst>
      <p:ext uri="{BB962C8B-B14F-4D97-AF65-F5344CB8AC3E}">
        <p14:creationId xmlns:p14="http://schemas.microsoft.com/office/powerpoint/2010/main" val="108972941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2026-10-27T09:30:12.6850000Z</dcterms:created>
  <dcterms:modified xsi:type="dcterms:W3CDTF">2026-10-27T09:30:12.6850000Z</dcterms:modified>
</coreProperties>
</file>